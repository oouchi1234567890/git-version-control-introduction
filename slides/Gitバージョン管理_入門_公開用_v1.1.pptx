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PG2sbd166yEy8Vh/GRJNKw==" hashData="9j7Uq/kHooL0OFMp6PQ7Lfm7qZI5Ygzr1nVTqarbA7SYrKou3Eji7nZXFceG6ZTO3hNWsxa50wj1mi74VFBuR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99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HG丸ｺﾞｼｯｸM-PRO"/>
        <a:buNone/>
        <a:defRPr sz="1400" b="0" i="0" u="none" cap="none" spc="0">
          <a:solidFill>
            <a:srgbClr val="000000"/>
          </a:solidFill>
          <a:latin typeface="HG丸ｺﾞｼｯｸM-PRO"/>
          <a:ea typeface="HG丸ｺﾞｼｯｸM-PRO"/>
          <a:cs typeface="HG丸ｺﾞｼｯｸM-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3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16;p3"/>
          <p:cNvCxnSpPr/>
          <p:nvPr/>
        </p:nvCxnSpPr>
        <p:spPr>
          <a:xfrm rot="10800000" flipH="1">
            <a:off x="8869680" y="5440680"/>
            <a:ext cx="502920" cy="411480"/>
          </a:xfrm>
          <a:prstGeom prst="straightConnector1">
            <a:avLst/>
          </a:prstGeom>
          <a:ln w="2540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17;p3"/>
          <p:cNvCxnSpPr/>
          <p:nvPr/>
        </p:nvCxnSpPr>
        <p:spPr>
          <a:xfrm rot="10800000" flipH="1">
            <a:off x="9372600" y="5029200"/>
            <a:ext cx="502920" cy="411480"/>
          </a:xfrm>
          <a:prstGeom prst="straightConnector1">
            <a:avLst/>
          </a:prstGeom>
          <a:ln w="2540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18;p3"/>
          <p:cNvCxnSpPr/>
          <p:nvPr/>
        </p:nvCxnSpPr>
        <p:spPr>
          <a:xfrm>
            <a:off x="9372600" y="5440680"/>
            <a:ext cx="1005840" cy="411480"/>
          </a:xfrm>
          <a:prstGeom prst="straightConnector1">
            <a:avLst/>
          </a:prstGeom>
          <a:ln w="2540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19;p3"/>
          <p:cNvCxnSpPr/>
          <p:nvPr/>
        </p:nvCxnSpPr>
        <p:spPr>
          <a:xfrm rot="10800000" flipH="1">
            <a:off x="9875520" y="5852160"/>
            <a:ext cx="502920" cy="411480"/>
          </a:xfrm>
          <a:prstGeom prst="straightConnector1">
            <a:avLst/>
          </a:prstGeom>
          <a:ln w="2540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20;p3"/>
          <p:cNvCxnSpPr/>
          <p:nvPr/>
        </p:nvCxnSpPr>
        <p:spPr>
          <a:xfrm rot="10800000" flipH="1">
            <a:off x="10378440" y="5440680"/>
            <a:ext cx="502920" cy="411480"/>
          </a:xfrm>
          <a:prstGeom prst="straightConnector1">
            <a:avLst/>
          </a:prstGeom>
          <a:ln w="2540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3">
            <a:extLst>
              <a:ext uri="{FF2B5EF4-FFF2-40B4-BE49-F238E27FC236}">
                <a16:creationId xmlns="" xmlns:a16="http://schemas.microsoft.com/office/drawing/2014/main" id="{0E91CC0D-2CA5-4FF7-8539-221F85ED62E0}"/>
              </a:ext>
            </a:extLst>
          </p:cNvPr>
          <p:cNvSpPr>
            <a:spLocks noGrp="1"/>
          </p:cNvSpPr>
          <p:nvPr/>
        </p:nvSpPr>
        <p:spPr>
          <a:xfrm>
            <a:off x="8814816" y="5797296"/>
            <a:ext cx="109728" cy="109728"/>
          </a:xfrm>
          <a:prstGeom prst="ellipse">
            <a:avLst/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>
            <a:extLst>
              <a:ext uri="{FF2B5EF4-FFF2-40B4-BE49-F238E27FC236}">
                <a16:creationId xmlns="" xmlns:a16="http://schemas.microsoft.com/office/drawing/2014/main" id="{810DBCE8-B3CD-4281-8F84-EC7A6B4A5936}"/>
              </a:ext>
            </a:extLst>
          </p:cNvPr>
          <p:cNvSpPr>
            <a:spLocks noGrp="1"/>
          </p:cNvSpPr>
          <p:nvPr/>
        </p:nvSpPr>
        <p:spPr>
          <a:xfrm>
            <a:off x="9317736" y="5385816"/>
            <a:ext cx="109728" cy="109728"/>
          </a:xfrm>
          <a:prstGeom prst="ellipse">
            <a:avLst/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>
            <a:extLst>
              <a:ext uri="{FF2B5EF4-FFF2-40B4-BE49-F238E27FC236}">
                <a16:creationId xmlns="" xmlns:a16="http://schemas.microsoft.com/office/drawing/2014/main" id="{17D87739-DE83-486E-8406-81CA1CBC97C6}"/>
              </a:ext>
            </a:extLst>
          </p:cNvPr>
          <p:cNvSpPr>
            <a:spLocks noGrp="1"/>
          </p:cNvSpPr>
          <p:nvPr/>
        </p:nvSpPr>
        <p:spPr>
          <a:xfrm>
            <a:off x="9820656" y="4974336"/>
            <a:ext cx="109728" cy="109728"/>
          </a:xfrm>
          <a:prstGeom prst="ellipse">
            <a:avLst/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>
            <a:extLst>
              <a:ext uri="{FF2B5EF4-FFF2-40B4-BE49-F238E27FC236}">
                <a16:creationId xmlns="" xmlns:a16="http://schemas.microsoft.com/office/drawing/2014/main" id="{548B120F-B3AF-40C9-9471-EF3F9D3CD104}"/>
              </a:ext>
            </a:extLst>
          </p:cNvPr>
          <p:cNvSpPr>
            <a:spLocks noGrp="1"/>
          </p:cNvSpPr>
          <p:nvPr/>
        </p:nvSpPr>
        <p:spPr>
          <a:xfrm>
            <a:off x="9820656" y="6208776"/>
            <a:ext cx="109728" cy="109728"/>
          </a:xfrm>
          <a:prstGeom prst="ellipse">
            <a:avLst/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="" xmlns:a16="http://schemas.microsoft.com/office/drawing/2014/main" id="{EEF2A060-0FBC-4FF7-AC17-81D79AAF6568}"/>
              </a:ext>
            </a:extLst>
          </p:cNvPr>
          <p:cNvSpPr>
            <a:spLocks noGrp="1"/>
          </p:cNvSpPr>
          <p:nvPr/>
        </p:nvSpPr>
        <p:spPr>
          <a:xfrm>
            <a:off x="10323576" y="5797296"/>
            <a:ext cx="109728" cy="109728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>
            <a:extLst>
              <a:ext uri="{FF2B5EF4-FFF2-40B4-BE49-F238E27FC236}">
                <a16:creationId xmlns="" xmlns:a16="http://schemas.microsoft.com/office/drawing/2014/main" id="{E5EC4122-338F-48CB-8374-BCAEA2216785}"/>
              </a:ext>
            </a:extLst>
          </p:cNvPr>
          <p:cNvSpPr>
            <a:spLocks noGrp="1"/>
          </p:cNvSpPr>
          <p:nvPr/>
        </p:nvSpPr>
        <p:spPr>
          <a:xfrm>
            <a:off x="10826496" y="5385816"/>
            <a:ext cx="109728" cy="109728"/>
          </a:xfrm>
          <a:prstGeom prst="ellipse">
            <a:avLst/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27;p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82296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28" name="Google Shape;28;p3">
            <a:extLst>
              <a:ext uri="{FF2B5EF4-FFF2-40B4-BE49-F238E27FC236}">
                <a16:creationId xmlns="" xmlns:a16="http://schemas.microsoft.com/office/drawing/2014/main" id="{F5BE8457-2018-41B9-9307-EFAA14D8AA25}"/>
              </a:ext>
            </a:extLst>
          </p:cNvPr>
          <p:cNvSpPr>
            <a:spLocks noGrp="1"/>
          </p:cNvSpPr>
          <p:nvPr/>
        </p:nvSpPr>
        <p:spPr>
          <a:xfrm>
            <a:off x="621792" y="1600200"/>
            <a:ext cx="7315200" cy="418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LOCAL DEVELOPMENT TRAINING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9" name="Google Shape;29;p3">
            <a:extLst>
              <a:ext uri="{FF2B5EF4-FFF2-40B4-BE49-F238E27FC236}">
                <a16:creationId xmlns="" xmlns:a16="http://schemas.microsoft.com/office/drawing/2014/main" id="{3C86ECFD-E5C4-401A-9528-C504729CF29C}"/>
              </a:ext>
            </a:extLst>
          </p:cNvPr>
          <p:cNvSpPr>
            <a:spLocks noGrp="1"/>
          </p:cNvSpPr>
          <p:nvPr/>
        </p:nvSpPr>
        <p:spPr>
          <a:xfrm>
            <a:off x="594360" y="201168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HG丸ｺﾞｼｯｸM-PRO"/>
              <a:buNone/>
            </a:pPr>
            <a:r>
              <a:rPr sz="4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Gitバージョン管理 入門</a:t>
            </a:r>
            <a:endParaRPr sz="4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" name="Google Shape;30;p3">
            <a:extLst>
              <a:ext uri="{FF2B5EF4-FFF2-40B4-BE49-F238E27FC236}">
                <a16:creationId xmlns="" xmlns:a16="http://schemas.microsoft.com/office/drawing/2014/main" id="{ED8CE93A-D63E-40CC-82D7-43A5E14EAD13}"/>
              </a:ext>
            </a:extLst>
          </p:cNvPr>
          <p:cNvSpPr>
            <a:spLocks noGrp="1"/>
          </p:cNvSpPr>
          <p:nvPr/>
        </p:nvSpPr>
        <p:spPr>
          <a:xfrm>
            <a:off x="621792" y="342900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700"/>
              <a:buFont typeface="HG丸ｺﾞｼｯｸM-PRO"/>
              <a:buNone/>
            </a:pPr>
            <a:r>
              <a:rPr sz="17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ローカル環境でのバージョン管理の基礎から、日々の基本操作まで</a:t>
            </a:r>
            <a:endParaRPr sz="17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50" name="Google Shape;31;p3"/>
          <p:cNvCxnSpPr/>
          <p:nvPr/>
        </p:nvCxnSpPr>
        <p:spPr>
          <a:xfrm>
            <a:off x="621792" y="5989320"/>
            <a:ext cx="1280160" cy="0"/>
          </a:xfrm>
          <a:prstGeom prst="straightConnector1">
            <a:avLst/>
          </a:prstGeom>
          <a:ln w="31750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3">
            <a:extLst>
              <a:ext uri="{FF2B5EF4-FFF2-40B4-BE49-F238E27FC236}">
                <a16:creationId xmlns="" xmlns:a16="http://schemas.microsoft.com/office/drawing/2014/main" id="{30828656-E357-4104-ACA4-55387C63F8E9}"/>
              </a:ext>
            </a:extLst>
          </p:cNvPr>
          <p:cNvSpPr>
            <a:spLocks noGrp="1"/>
          </p:cNvSpPr>
          <p:nvPr/>
        </p:nvSpPr>
        <p:spPr>
          <a:xfrm>
            <a:off x="621792" y="6080760"/>
            <a:ext cx="5486400" cy="3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研修資料（公開版）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3" name="Google Shape;33;p3">
            <a:extLst>
              <a:ext uri="{FF2B5EF4-FFF2-40B4-BE49-F238E27FC236}">
                <a16:creationId xmlns="" xmlns:a16="http://schemas.microsoft.com/office/drawing/2014/main" id="{F9E0CE3D-8AF0-46E8-9AFF-DD62A8D9A9EA}"/>
              </a:ext>
            </a:extLst>
          </p:cNvPr>
          <p:cNvSpPr>
            <a:spLocks noGrp="1"/>
          </p:cNvSpPr>
          <p:nvPr/>
        </p:nvSpPr>
        <p:spPr>
          <a:xfrm>
            <a:off x="621792" y="6327648"/>
            <a:ext cx="5486400" cy="3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2026年9月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20" name="license-notice"/>
          <p:cNvSpPr>
            <a:spLocks noGrp="1"/>
          </p:cNvSpPr>
          <p:nvPr/>
        </p:nvSpPr>
        <p:spPr>
          <a:xfrm>
            <a:off x="6400800" y="6217920"/>
            <a:ext cx="516940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Copyright © 2026 Shinsuke Oouchi. All rights reserved.</a:t>
            </a:r>
          </a:p>
          <a:p>
            <a:pPr marL="0" marR="0" lvl="0" indent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0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公開閲覧・非営利学習ライセンス Version 1.1（詳細は最終ページ）</a:t>
            </a:r>
          </a:p>
        </p:txBody>
      </p:sp>
    </p:spTree>
    <p:extLst>
      <p:ext uri="{BB962C8B-B14F-4D97-AF65-F5344CB8AC3E}">
        <p14:creationId xmlns:p14="http://schemas.microsoft.com/office/powerpoint/2010/main" val="89867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>
            <a:extLst>
              <a:ext uri="{FF2B5EF4-FFF2-40B4-BE49-F238E27FC236}">
                <a16:creationId xmlns="" xmlns:a16="http://schemas.microsoft.com/office/drawing/2014/main" id="{E6A286F2-A663-48A9-B25F-55BDB46C2727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AGENDA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0" name="Google Shape;40;p4">
            <a:extLst>
              <a:ext uri="{FF2B5EF4-FFF2-40B4-BE49-F238E27FC236}">
                <a16:creationId xmlns="" xmlns:a16="http://schemas.microsoft.com/office/drawing/2014/main" id="{3E625D6F-8A6C-4313-9953-A1A82B04B977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本日の内容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1" name="Google Shape;41;p4">
            <a:extLst>
              <a:ext uri="{FF2B5EF4-FFF2-40B4-BE49-F238E27FC236}">
                <a16:creationId xmlns="" xmlns:a16="http://schemas.microsoft.com/office/drawing/2014/main" id="{54A68BFB-A9B9-42F5-BC4A-C5E1526309C2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>
            <a:extLst>
              <a:ext uri="{FF2B5EF4-FFF2-40B4-BE49-F238E27FC236}">
                <a16:creationId xmlns="" xmlns:a16="http://schemas.microsoft.com/office/drawing/2014/main" id="{FB3D096A-71EA-4504-8564-2AEEB5168F34}"/>
              </a:ext>
            </a:extLst>
          </p:cNvPr>
          <p:cNvSpPr>
            <a:spLocks noGrp="1"/>
          </p:cNvSpPr>
          <p:nvPr/>
        </p:nvSpPr>
        <p:spPr>
          <a:xfrm>
            <a:off x="749808" y="1783080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01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3" name="Google Shape;43;p4">
            <a:extLst>
              <a:ext uri="{FF2B5EF4-FFF2-40B4-BE49-F238E27FC236}">
                <a16:creationId xmlns="" xmlns:a16="http://schemas.microsoft.com/office/drawing/2014/main" id="{BEEA3A96-969B-42BB-A6CF-6E699BFAA0F8}"/>
              </a:ext>
            </a:extLst>
          </p:cNvPr>
          <p:cNvSpPr>
            <a:spLocks noGrp="1"/>
          </p:cNvSpPr>
          <p:nvPr/>
        </p:nvSpPr>
        <p:spPr>
          <a:xfrm>
            <a:off x="1463040" y="1783080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GitとGitHubについて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4" name="Google Shape;44;p4">
            <a:extLst>
              <a:ext uri="{FF2B5EF4-FFF2-40B4-BE49-F238E27FC236}">
                <a16:creationId xmlns="" xmlns:a16="http://schemas.microsoft.com/office/drawing/2014/main" id="{9BB7563D-05CE-41DD-B42F-1207438A365D}"/>
              </a:ext>
            </a:extLst>
          </p:cNvPr>
          <p:cNvSpPr>
            <a:spLocks noGrp="1"/>
          </p:cNvSpPr>
          <p:nvPr/>
        </p:nvSpPr>
        <p:spPr>
          <a:xfrm>
            <a:off x="548640" y="267919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>
            <a:extLst>
              <a:ext uri="{FF2B5EF4-FFF2-40B4-BE49-F238E27FC236}">
                <a16:creationId xmlns="" xmlns:a16="http://schemas.microsoft.com/office/drawing/2014/main" id="{1C7A361F-4248-45ED-B268-E6F9B162EDAE}"/>
              </a:ext>
            </a:extLst>
          </p:cNvPr>
          <p:cNvSpPr>
            <a:spLocks noGrp="1"/>
          </p:cNvSpPr>
          <p:nvPr/>
        </p:nvSpPr>
        <p:spPr>
          <a:xfrm>
            <a:off x="749808" y="2679192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02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6" name="Google Shape;46;p4">
            <a:extLst>
              <a:ext uri="{FF2B5EF4-FFF2-40B4-BE49-F238E27FC236}">
                <a16:creationId xmlns="" xmlns:a16="http://schemas.microsoft.com/office/drawing/2014/main" id="{9444C075-27EE-474B-BA92-E533FFAD3F60}"/>
              </a:ext>
            </a:extLst>
          </p:cNvPr>
          <p:cNvSpPr>
            <a:spLocks noGrp="1"/>
          </p:cNvSpPr>
          <p:nvPr/>
        </p:nvSpPr>
        <p:spPr>
          <a:xfrm>
            <a:off x="1463040" y="2679192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バージョン管理の基礎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7" name="Google Shape;47;p4">
            <a:extLst>
              <a:ext uri="{FF2B5EF4-FFF2-40B4-BE49-F238E27FC236}">
                <a16:creationId xmlns="" xmlns:a16="http://schemas.microsoft.com/office/drawing/2014/main" id="{710E0387-3C29-4397-8BF0-02844BA24EEA}"/>
              </a:ext>
            </a:extLst>
          </p:cNvPr>
          <p:cNvSpPr>
            <a:spLocks noGrp="1"/>
          </p:cNvSpPr>
          <p:nvPr/>
        </p:nvSpPr>
        <p:spPr>
          <a:xfrm>
            <a:off x="548640" y="3575304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>
            <a:extLst>
              <a:ext uri="{FF2B5EF4-FFF2-40B4-BE49-F238E27FC236}">
                <a16:creationId xmlns="" xmlns:a16="http://schemas.microsoft.com/office/drawing/2014/main" id="{2C3922C6-C86D-4757-8D76-D02F19169E5E}"/>
              </a:ext>
            </a:extLst>
          </p:cNvPr>
          <p:cNvSpPr>
            <a:spLocks noGrp="1"/>
          </p:cNvSpPr>
          <p:nvPr/>
        </p:nvSpPr>
        <p:spPr>
          <a:xfrm>
            <a:off x="749808" y="3575304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03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9" name="Google Shape;49;p4">
            <a:extLst>
              <a:ext uri="{FF2B5EF4-FFF2-40B4-BE49-F238E27FC236}">
                <a16:creationId xmlns="" xmlns:a16="http://schemas.microsoft.com/office/drawing/2014/main" id="{AFB038AE-E720-4AD8-ADED-B7AC7B7AB92D}"/>
              </a:ext>
            </a:extLst>
          </p:cNvPr>
          <p:cNvSpPr>
            <a:spLocks noGrp="1"/>
          </p:cNvSpPr>
          <p:nvPr/>
        </p:nvSpPr>
        <p:spPr>
          <a:xfrm>
            <a:off x="1463040" y="3575304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集中型と分散型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0" name="Google Shape;50;p4">
            <a:extLst>
              <a:ext uri="{FF2B5EF4-FFF2-40B4-BE49-F238E27FC236}">
                <a16:creationId xmlns="" xmlns:a16="http://schemas.microsoft.com/office/drawing/2014/main" id="{656F8358-7F69-4A80-97A0-08AEE7F0B197}"/>
              </a:ext>
            </a:extLst>
          </p:cNvPr>
          <p:cNvSpPr>
            <a:spLocks noGrp="1"/>
          </p:cNvSpPr>
          <p:nvPr/>
        </p:nvSpPr>
        <p:spPr>
          <a:xfrm>
            <a:off x="548640" y="4471416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>
            <a:extLst>
              <a:ext uri="{FF2B5EF4-FFF2-40B4-BE49-F238E27FC236}">
                <a16:creationId xmlns="" xmlns:a16="http://schemas.microsoft.com/office/drawing/2014/main" id="{AD29AC6E-9949-4505-AC7A-752AF825B90E}"/>
              </a:ext>
            </a:extLst>
          </p:cNvPr>
          <p:cNvSpPr>
            <a:spLocks noGrp="1"/>
          </p:cNvSpPr>
          <p:nvPr/>
        </p:nvSpPr>
        <p:spPr>
          <a:xfrm>
            <a:off x="749808" y="4471416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04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2" name="Google Shape;52;p4">
            <a:extLst>
              <a:ext uri="{FF2B5EF4-FFF2-40B4-BE49-F238E27FC236}">
                <a16:creationId xmlns="" xmlns:a16="http://schemas.microsoft.com/office/drawing/2014/main" id="{96F13F78-B830-4DD7-B3E9-05BB710B4395}"/>
              </a:ext>
            </a:extLst>
          </p:cNvPr>
          <p:cNvSpPr>
            <a:spLocks noGrp="1"/>
          </p:cNvSpPr>
          <p:nvPr/>
        </p:nvSpPr>
        <p:spPr>
          <a:xfrm>
            <a:off x="1463040" y="4471416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Gitの基礎知識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3" name="Google Shape;53;p4">
            <a:extLst>
              <a:ext uri="{FF2B5EF4-FFF2-40B4-BE49-F238E27FC236}">
                <a16:creationId xmlns="" xmlns:a16="http://schemas.microsoft.com/office/drawing/2014/main" id="{D93A3F73-798E-4EB0-AFC9-CE5E6FCA2E26}"/>
              </a:ext>
            </a:extLst>
          </p:cNvPr>
          <p:cNvSpPr>
            <a:spLocks noGrp="1"/>
          </p:cNvSpPr>
          <p:nvPr/>
        </p:nvSpPr>
        <p:spPr>
          <a:xfrm>
            <a:off x="6080760" y="178308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>
            <a:extLst>
              <a:ext uri="{FF2B5EF4-FFF2-40B4-BE49-F238E27FC236}">
                <a16:creationId xmlns="" xmlns:a16="http://schemas.microsoft.com/office/drawing/2014/main" id="{A5C0BC9F-47AE-445D-B5ED-9556DB96B8E1}"/>
              </a:ext>
            </a:extLst>
          </p:cNvPr>
          <p:cNvSpPr>
            <a:spLocks noGrp="1"/>
          </p:cNvSpPr>
          <p:nvPr/>
        </p:nvSpPr>
        <p:spPr>
          <a:xfrm>
            <a:off x="6281928" y="1783080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06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5" name="Google Shape;55;p4">
            <a:extLst>
              <a:ext uri="{FF2B5EF4-FFF2-40B4-BE49-F238E27FC236}">
                <a16:creationId xmlns="" xmlns:a16="http://schemas.microsoft.com/office/drawing/2014/main" id="{5A6F6339-8CE5-42A6-884F-980800155407}"/>
              </a:ext>
            </a:extLst>
          </p:cNvPr>
          <p:cNvSpPr>
            <a:spLocks noGrp="1"/>
          </p:cNvSpPr>
          <p:nvPr/>
        </p:nvSpPr>
        <p:spPr>
          <a:xfrm>
            <a:off x="6995160" y="1783080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リモートとの連携（push / clone / pull / checkout / diff）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6" name="Google Shape;56;p4">
            <a:extLst>
              <a:ext uri="{FF2B5EF4-FFF2-40B4-BE49-F238E27FC236}">
                <a16:creationId xmlns="" xmlns:a16="http://schemas.microsoft.com/office/drawing/2014/main" id="{31FFADD7-78FE-4C6D-A135-30164C06D72A}"/>
              </a:ext>
            </a:extLst>
          </p:cNvPr>
          <p:cNvSpPr>
            <a:spLocks noGrp="1"/>
          </p:cNvSpPr>
          <p:nvPr/>
        </p:nvSpPr>
        <p:spPr>
          <a:xfrm>
            <a:off x="6080760" y="267919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>
            <a:extLst>
              <a:ext uri="{FF2B5EF4-FFF2-40B4-BE49-F238E27FC236}">
                <a16:creationId xmlns="" xmlns:a16="http://schemas.microsoft.com/office/drawing/2014/main" id="{C4F1C5FD-FEB6-493E-B38A-3949D24BD319}"/>
              </a:ext>
            </a:extLst>
          </p:cNvPr>
          <p:cNvSpPr>
            <a:spLocks noGrp="1"/>
          </p:cNvSpPr>
          <p:nvPr/>
        </p:nvSpPr>
        <p:spPr>
          <a:xfrm>
            <a:off x="6281928" y="2679192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07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8" name="Google Shape;58;p4">
            <a:extLst>
              <a:ext uri="{FF2B5EF4-FFF2-40B4-BE49-F238E27FC236}">
                <a16:creationId xmlns="" xmlns:a16="http://schemas.microsoft.com/office/drawing/2014/main" id="{47CFD2A2-45C4-40B7-8D47-984C293E665E}"/>
              </a:ext>
            </a:extLst>
          </p:cNvPr>
          <p:cNvSpPr>
            <a:spLocks noGrp="1"/>
          </p:cNvSpPr>
          <p:nvPr/>
        </p:nvSpPr>
        <p:spPr>
          <a:xfrm>
            <a:off x="6995160" y="2679192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ブランチ・マージ・リベース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9" name="Google Shape;59;p4">
            <a:extLst>
              <a:ext uri="{FF2B5EF4-FFF2-40B4-BE49-F238E27FC236}">
                <a16:creationId xmlns="" xmlns:a16="http://schemas.microsoft.com/office/drawing/2014/main" id="{07A32DFC-775D-4F16-B4FA-FBD55DEAB79B}"/>
              </a:ext>
            </a:extLst>
          </p:cNvPr>
          <p:cNvSpPr>
            <a:spLocks noGrp="1"/>
          </p:cNvSpPr>
          <p:nvPr/>
        </p:nvSpPr>
        <p:spPr>
          <a:xfrm>
            <a:off x="6080760" y="3575304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>
            <a:extLst>
              <a:ext uri="{FF2B5EF4-FFF2-40B4-BE49-F238E27FC236}">
                <a16:creationId xmlns="" xmlns:a16="http://schemas.microsoft.com/office/drawing/2014/main" id="{1FA1085C-0E64-4D0A-A34E-99803BA0826E}"/>
              </a:ext>
            </a:extLst>
          </p:cNvPr>
          <p:cNvSpPr>
            <a:spLocks noGrp="1"/>
          </p:cNvSpPr>
          <p:nvPr/>
        </p:nvSpPr>
        <p:spPr>
          <a:xfrm>
            <a:off x="6281928" y="3575304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08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1" name="Google Shape;61;p4">
            <a:extLst>
              <a:ext uri="{FF2B5EF4-FFF2-40B4-BE49-F238E27FC236}">
                <a16:creationId xmlns="" xmlns:a16="http://schemas.microsoft.com/office/drawing/2014/main" id="{E86EDA40-6F2E-45A1-8411-19B8C82A3DE5}"/>
              </a:ext>
            </a:extLst>
          </p:cNvPr>
          <p:cNvSpPr>
            <a:spLocks noGrp="1"/>
          </p:cNvSpPr>
          <p:nvPr/>
        </p:nvSpPr>
        <p:spPr>
          <a:xfrm>
            <a:off x="6995160" y="3575304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コンフリクトへの対処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2" name="Google Shape;62;p4">
            <a:extLst>
              <a:ext uri="{FF2B5EF4-FFF2-40B4-BE49-F238E27FC236}">
                <a16:creationId xmlns="" xmlns:a16="http://schemas.microsoft.com/office/drawing/2014/main" id="{3773AAAB-94A0-4F3B-802E-A16DCDB08E14}"/>
              </a:ext>
            </a:extLst>
          </p:cNvPr>
          <p:cNvSpPr>
            <a:spLocks noGrp="1"/>
          </p:cNvSpPr>
          <p:nvPr/>
        </p:nvSpPr>
        <p:spPr>
          <a:xfrm>
            <a:off x="6080760" y="4471416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>
            <a:extLst>
              <a:ext uri="{FF2B5EF4-FFF2-40B4-BE49-F238E27FC236}">
                <a16:creationId xmlns="" xmlns:a16="http://schemas.microsoft.com/office/drawing/2014/main" id="{19755115-01B4-4925-BE2D-112566805F94}"/>
              </a:ext>
            </a:extLst>
          </p:cNvPr>
          <p:cNvSpPr>
            <a:spLocks noGrp="1"/>
          </p:cNvSpPr>
          <p:nvPr/>
        </p:nvSpPr>
        <p:spPr>
          <a:xfrm>
            <a:off x="6281928" y="4471416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09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4" name="Google Shape;64;p4">
            <a:extLst>
              <a:ext uri="{FF2B5EF4-FFF2-40B4-BE49-F238E27FC236}">
                <a16:creationId xmlns="" xmlns:a16="http://schemas.microsoft.com/office/drawing/2014/main" id="{D0443A93-70FC-4016-8543-1F4142647FD1}"/>
              </a:ext>
            </a:extLst>
          </p:cNvPr>
          <p:cNvSpPr>
            <a:spLocks noGrp="1"/>
          </p:cNvSpPr>
          <p:nvPr/>
        </p:nvSpPr>
        <p:spPr>
          <a:xfrm>
            <a:off x="6995160" y="4471416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Gitツール／クライアント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5" name="Google Shape;65;p4"/>
          <p:cNvSpPr>
            <a:spLocks noGrp="1"/>
          </p:cNvSpPr>
          <p:nvPr/>
        </p:nvSpPr>
        <p:spPr>
          <a:xfrm>
            <a:off x="548640" y="536752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>
            <a:spLocks noGrp="1"/>
          </p:cNvSpPr>
          <p:nvPr/>
        </p:nvSpPr>
        <p:spPr>
          <a:xfrm>
            <a:off x="749808" y="5367528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05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7" name="Google Shape;67;p4"/>
          <p:cNvSpPr>
            <a:spLocks noGrp="1"/>
          </p:cNvSpPr>
          <p:nvPr/>
        </p:nvSpPr>
        <p:spPr>
          <a:xfrm>
            <a:off x="1463040" y="5367528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ワーキングツリー・インデックス・コミット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8" name="Google Shape;68;p4"/>
          <p:cNvSpPr>
            <a:spLocks noGrp="1"/>
          </p:cNvSpPr>
          <p:nvPr/>
        </p:nvSpPr>
        <p:spPr>
          <a:xfrm>
            <a:off x="6080760" y="536752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>
            <a:spLocks noGrp="1"/>
          </p:cNvSpPr>
          <p:nvPr/>
        </p:nvSpPr>
        <p:spPr>
          <a:xfrm>
            <a:off x="6281928" y="5367528"/>
            <a:ext cx="6858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2400"/>
              <a:buFont typeface="HG丸ｺﾞｼｯｸM-PRO"/>
              <a:buNone/>
            </a:pPr>
            <a:r>
              <a:rPr sz="24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10</a:t>
            </a:r>
            <a:endParaRPr sz="2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0" name="Google Shape;70;p4"/>
          <p:cNvSpPr>
            <a:spLocks noGrp="1"/>
          </p:cNvSpPr>
          <p:nvPr/>
        </p:nvSpPr>
        <p:spPr>
          <a:xfrm>
            <a:off x="6995160" y="5367528"/>
            <a:ext cx="3977640" cy="8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ローカル環境での実践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36312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>
            <a:extLst>
              <a:ext uri="{FF2B5EF4-FFF2-40B4-BE49-F238E27FC236}">
                <a16:creationId xmlns="" xmlns:a16="http://schemas.microsoft.com/office/drawing/2014/main" id="{212C732E-04DC-4C99-9069-433877E72CC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1" name="Google Shape;71;p5">
            <a:extLst>
              <a:ext uri="{FF2B5EF4-FFF2-40B4-BE49-F238E27FC236}">
                <a16:creationId xmlns="" xmlns:a16="http://schemas.microsoft.com/office/drawing/2014/main" id="{B10947B0-379A-4E26-90CC-24178E8C5CD4}"/>
              </a:ext>
            </a:extLst>
          </p:cNvPr>
          <p:cNvSpPr>
            <a:spLocks noGrp="1"/>
          </p:cNvSpPr>
          <p:nvPr/>
        </p:nvSpPr>
        <p:spPr>
          <a:xfrm>
            <a:off x="594360" y="21488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01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79" name="Google Shape;72;p5"/>
          <p:cNvCxnSpPr/>
          <p:nvPr/>
        </p:nvCxnSpPr>
        <p:spPr>
          <a:xfrm>
            <a:off x="640080" y="37033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5">
            <a:extLst>
              <a:ext uri="{FF2B5EF4-FFF2-40B4-BE49-F238E27FC236}">
                <a16:creationId xmlns="" xmlns:a16="http://schemas.microsoft.com/office/drawing/2014/main" id="{3D6312C2-B6FF-4DC5-8B23-C65A53B6822D}"/>
              </a:ext>
            </a:extLst>
          </p:cNvPr>
          <p:cNvSpPr>
            <a:spLocks noGrp="1"/>
          </p:cNvSpPr>
          <p:nvPr/>
        </p:nvSpPr>
        <p:spPr>
          <a:xfrm>
            <a:off x="621792" y="38862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GitとGitHubについて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="" xmlns:a16="http://schemas.microsoft.com/office/drawing/2014/main" id="{6AB72A10-2013-4FDA-BE94-548F00F68F53}"/>
              </a:ext>
            </a:extLst>
          </p:cNvPr>
          <p:cNvSpPr>
            <a:spLocks noGrp="1"/>
          </p:cNvSpPr>
          <p:nvPr/>
        </p:nvSpPr>
        <p:spPr>
          <a:xfrm>
            <a:off x="640080" y="48006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なぜファイルの変更履歴を管理する必要があるのか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" name="Google Shape;75;p5">
            <a:extLst>
              <a:ext uri="{FF2B5EF4-FFF2-40B4-BE49-F238E27FC236}">
                <a16:creationId xmlns="" xmlns:a16="http://schemas.microsoft.com/office/drawing/2014/main" id="{873D1D80-8EFE-4020-88AA-604642F2200B}"/>
              </a:ext>
            </a:extLst>
          </p:cNvPr>
          <p:cNvSpPr>
            <a:spLocks noGrp="1"/>
          </p:cNvSpPr>
          <p:nvPr/>
        </p:nvSpPr>
        <p:spPr>
          <a:xfrm>
            <a:off x="9189720" y="23317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76;p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811780"/>
            <a:ext cx="960120" cy="960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9735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>
            <a:extLst>
              <a:ext uri="{FF2B5EF4-FFF2-40B4-BE49-F238E27FC236}">
                <a16:creationId xmlns="" xmlns:a16="http://schemas.microsoft.com/office/drawing/2014/main" id="{AEE8DF1D-2CC8-4AB1-B29A-E203E8EFF223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83" name="Google Shape;83;p6">
            <a:extLst>
              <a:ext uri="{FF2B5EF4-FFF2-40B4-BE49-F238E27FC236}">
                <a16:creationId xmlns="" xmlns:a16="http://schemas.microsoft.com/office/drawing/2014/main" id="{F123999E-C660-471F-ABDD-AFCCDA13249C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</a:t>
            </a: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itとGitHubとは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90" name="Google Shape;90;p6">
            <a:extLst>
              <a:ext uri="{FF2B5EF4-FFF2-40B4-BE49-F238E27FC236}">
                <a16:creationId xmlns="" xmlns:a16="http://schemas.microsoft.com/office/drawing/2014/main" id="{DCFE023B-5598-4018-AA03-4485DA605E86}"/>
              </a:ext>
            </a:extLst>
          </p:cNvPr>
          <p:cNvSpPr>
            <a:spLocks noGrp="1"/>
          </p:cNvSpPr>
          <p:nvPr/>
        </p:nvSpPr>
        <p:spPr>
          <a:xfrm>
            <a:off x="8412480" y="2377440"/>
            <a:ext cx="2880360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。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91" name="Google Shape;91;p6">
            <a:extLst>
              <a:ext uri="{FF2B5EF4-FFF2-40B4-BE49-F238E27FC236}">
                <a16:creationId xmlns="" xmlns:a16="http://schemas.microsoft.com/office/drawing/2014/main" id="{A86B6C21-F686-48E3-B0FF-253B65024CAF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1 — GitとGitHubについて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="" xmlns:a16="http://schemas.microsoft.com/office/drawing/2014/main" id="{98B3A6BA-76B7-4E3B-8E1F-32ECE55DFD82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4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graphicFrame>
        <p:nvGraphicFramePr>
          <p:cNvPr id="99" name="表 13"/>
          <p:cNvGraphicFramePr/>
          <p:nvPr/>
        </p:nvGraphicFramePr>
        <p:xfrm>
          <a:off x="548640" y="1926499"/>
          <a:ext cx="11049000" cy="3067050"/>
        </p:xfrm>
        <a:graphic>
          <a:graphicData uri="http://schemas.openxmlformats.org/drawingml/2006/table">
            <a:tbl>
              <a:tblPr/>
              <a:tblGrid>
                <a:gridCol w="1638300"/>
                <a:gridCol w="4705350"/>
                <a:gridCol w="4705350"/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比較項目</a:t>
                      </a:r>
                      <a:endParaRPr sz="1650" b="1">
                        <a:solidFill>
                          <a:srgbClr val="FFFFFF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171450" marR="133350" marT="114300" marB="114300" anchor="ctr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B08F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Git</a:t>
                      </a:r>
                      <a:endParaRPr sz="2250" b="1">
                        <a:solidFill>
                          <a:srgbClr val="FFB08F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171450" marR="133350" marT="114300" marB="114300" anchor="ctr">
                    <a:solidFill>
                      <a:srgbClr val="17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GitHub</a:t>
                      </a:r>
                      <a:endParaRPr sz="2250" b="1">
                        <a:solidFill>
                          <a:srgbClr val="FFFFFF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171450" marR="133350" marT="114300" marB="114300" anchor="ctr">
                    <a:solidFill>
                      <a:srgbClr val="1726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役割</a:t>
                      </a:r>
                      <a:endParaRPr sz="1650">
                        <a:solidFill>
                          <a:srgbClr val="17263A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171450" marR="133350" marT="114300" marB="1143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ファイルの変更履歴を管理する</a:t>
                      </a:r>
                    </a:p>
                  </a:txBody>
                  <a:tcPr marL="171450" marR="133350" marT="114300" marB="1143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Gitのプロジェクトを保管・共有する</a:t>
                      </a:r>
                    </a:p>
                  </a:txBody>
                  <a:tcPr marL="171450" marR="133350" marT="114300" marB="114300" anchor="ctr">
                    <a:solidFill>
                      <a:srgbClr val="F3F6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使う場所</a:t>
                      </a:r>
                    </a:p>
                  </a:txBody>
                  <a:tcPr marL="1714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自分のPCなどにインストール</a:t>
                      </a:r>
                    </a:p>
                  </a:txBody>
                  <a:tcPr marL="1714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主にインターネット上で利用</a:t>
                      </a:r>
                    </a:p>
                  </a:txBody>
                  <a:tcPr marL="171450" marR="133350" marT="114300" marB="1143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できること</a:t>
                      </a:r>
                    </a:p>
                  </a:txBody>
                  <a:tcPr marL="171450" marR="133350" marT="114300" marB="1143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変更を記録・比較し、過去の状態に戻す</a:t>
                      </a:r>
                      <a:endParaRPr sz="1650">
                        <a:solidFill>
                          <a:srgbClr val="17263A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171450" marR="133350" marT="114300" marB="1143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変更のレビューや課題の管理</a:t>
                      </a:r>
                    </a:p>
                  </a:txBody>
                  <a:tcPr marL="171450" marR="133350" marT="114300" marB="114300" anchor="ctr">
                    <a:solidFill>
                      <a:srgbClr val="F3F6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利用条件</a:t>
                      </a:r>
                    </a:p>
                  </a:txBody>
                  <a:tcPr marL="1714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履歴の記録はオフラインでも可能</a:t>
                      </a:r>
                      <a:endParaRPr sz="1650">
                        <a:solidFill>
                          <a:srgbClr val="17263A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1714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263A"/>
                          </a:solidFill>
                          <a:latin typeface="HG丸ｺﾞｼｯｸM-PRO"/>
                          <a:ea typeface="HG丸ｺﾞｼｯｸM-PRO"/>
                          <a:cs typeface="HG丸ｺﾞｼｯｸM-PRO"/>
                        </a:rPr>
                        <a:t>オンラインでの共有には通信が必要</a:t>
                      </a:r>
                      <a:endParaRPr sz="1650">
                        <a:solidFill>
                          <a:srgbClr val="17263A"/>
                        </a:solidFill>
                        <a:latin typeface="Yu Gothic"/>
                        <a:ea typeface="Yu Gothic"/>
                        <a:cs typeface="Yu Gothic"/>
                      </a:endParaRPr>
                    </a:p>
                  </a:txBody>
                  <a:tcPr marL="1714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正方形/長方形 14">
            <a:extLst>
              <a:ext uri="{FF2B5EF4-FFF2-40B4-BE49-F238E27FC236}">
                <a16:creationId xmlns="" xmlns:a16="http://schemas.microsoft.com/office/drawing/2014/main" id="{E7DE575F-4621-4815-B8BD-DFE509BCEDA3}"/>
              </a:ext>
            </a:extLst>
          </p:cNvPr>
          <p:cNvSpPr>
            <a:spLocks noGrp="1"/>
          </p:cNvSpPr>
          <p:nvPr/>
        </p:nvSpPr>
        <p:spPr>
          <a:xfrm>
            <a:off x="456895" y="1452124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726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63A"/>
                </a:solidFill>
                <a:latin typeface="HG丸ｺﾞｼｯｸM-PRO"/>
                <a:ea typeface="HG丸ｺﾞｼｯｸM-PRO"/>
                <a:cs typeface="HG丸ｺﾞｼｯｸM-PRO"/>
              </a:rPr>
              <a:t>Gitは「履歴を管理するソフト」、GitHubは「共有・共同作業のサービス」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="" xmlns:a16="http://schemas.microsoft.com/office/drawing/2014/main" id="{2F2D0FDB-9B1A-43F9-9358-5C8BD30D7E5E}"/>
              </a:ext>
            </a:extLst>
          </p:cNvPr>
          <p:cNvSpPr>
            <a:spLocks noGrp="1"/>
          </p:cNvSpPr>
          <p:nvPr/>
        </p:nvSpPr>
        <p:spPr>
          <a:xfrm>
            <a:off x="571500" y="529399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726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63A"/>
                </a:solidFill>
                <a:latin typeface="HG丸ｺﾞｼｯｸM-PRO"/>
                <a:ea typeface="HG丸ｺﾞｼｯｸM-PRO"/>
                <a:cs typeface="HG丸ｺﾞｼｯｸM-PRO"/>
              </a:rPr>
              <a:t>Gitで変更を記録（commit）し、GitHubに送信（push）して共有する。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="" xmlns:a16="http://schemas.microsoft.com/office/drawing/2014/main" id="{1541404E-981D-460C-90D3-119AAFCCF406}"/>
              </a:ext>
            </a:extLst>
          </p:cNvPr>
          <p:cNvSpPr>
            <a:spLocks noGrp="1"/>
          </p:cNvSpPr>
          <p:nvPr/>
        </p:nvSpPr>
        <p:spPr>
          <a:xfrm>
            <a:off x="571500" y="5770874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536477"/>
                </a:solidFill>
                <a:latin typeface="Yu Gothic"/>
                <a:ea typeface="Yu Gothic"/>
                <a:cs typeface="Yu Gothic"/>
              </a:defRPr>
            </a:pPr>
            <a:r>
              <a:rPr sz="1600" b="0">
                <a:solidFill>
                  <a:srgbClr val="536477"/>
                </a:solidFill>
                <a:latin typeface="HG丸ｺﾞｼｯｸM-PRO"/>
                <a:ea typeface="HG丸ｺﾞｼｯｸM-PRO"/>
                <a:cs typeface="HG丸ｺﾞｼｯｸM-PRO"/>
              </a:rPr>
              <a:t>Gitは単独でも使えます。GitHubはGitを活用するサービスの一つです。</a:t>
            </a:r>
          </a:p>
        </p:txBody>
      </p:sp>
    </p:spTree>
    <p:extLst>
      <p:ext uri="{BB962C8B-B14F-4D97-AF65-F5344CB8AC3E}">
        <p14:creationId xmlns:p14="http://schemas.microsoft.com/office/powerpoint/2010/main" val="3167136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>
            <a:extLst>
              <a:ext uri="{FF2B5EF4-FFF2-40B4-BE49-F238E27FC236}">
                <a16:creationId xmlns="" xmlns:a16="http://schemas.microsoft.com/office/drawing/2014/main" id="{FF44DE7C-E34D-4E80-9206-B3A0A740210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1" name="Google Shape;71;p5">
            <a:extLst>
              <a:ext uri="{FF2B5EF4-FFF2-40B4-BE49-F238E27FC236}">
                <a16:creationId xmlns="" xmlns:a16="http://schemas.microsoft.com/office/drawing/2014/main" id="{26D542E6-4EDE-49E5-96E0-89D0A19933FB}"/>
              </a:ext>
            </a:extLst>
          </p:cNvPr>
          <p:cNvSpPr>
            <a:spLocks noGrp="1"/>
          </p:cNvSpPr>
          <p:nvPr/>
        </p:nvSpPr>
        <p:spPr>
          <a:xfrm>
            <a:off x="594360" y="21488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</a:t>
            </a:r>
            <a:r>
              <a:rPr sz="9000" b="1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2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79" name="Google Shape;72;p5"/>
          <p:cNvCxnSpPr/>
          <p:nvPr/>
        </p:nvCxnSpPr>
        <p:spPr>
          <a:xfrm>
            <a:off x="640080" y="37033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5">
            <a:extLst>
              <a:ext uri="{FF2B5EF4-FFF2-40B4-BE49-F238E27FC236}">
                <a16:creationId xmlns="" xmlns:a16="http://schemas.microsoft.com/office/drawing/2014/main" id="{17936276-1582-4728-B772-B424ABCD50FD}"/>
              </a:ext>
            </a:extLst>
          </p:cNvPr>
          <p:cNvSpPr>
            <a:spLocks noGrp="1"/>
          </p:cNvSpPr>
          <p:nvPr/>
        </p:nvSpPr>
        <p:spPr>
          <a:xfrm>
            <a:off x="621792" y="38862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バージョン管理の基礎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="" xmlns:a16="http://schemas.microsoft.com/office/drawing/2014/main" id="{B934178F-407E-4657-9766-AC8C47B4A442}"/>
              </a:ext>
            </a:extLst>
          </p:cNvPr>
          <p:cNvSpPr>
            <a:spLocks noGrp="1"/>
          </p:cNvSpPr>
          <p:nvPr/>
        </p:nvSpPr>
        <p:spPr>
          <a:xfrm>
            <a:off x="640080" y="48006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なぜファイルの変更履歴を管理する必要があるのか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" name="Google Shape;75;p5">
            <a:extLst>
              <a:ext uri="{FF2B5EF4-FFF2-40B4-BE49-F238E27FC236}">
                <a16:creationId xmlns="" xmlns:a16="http://schemas.microsoft.com/office/drawing/2014/main" id="{4AD9C858-5AA6-4356-B86A-F06C101E991D}"/>
              </a:ext>
            </a:extLst>
          </p:cNvPr>
          <p:cNvSpPr>
            <a:spLocks noGrp="1"/>
          </p:cNvSpPr>
          <p:nvPr/>
        </p:nvSpPr>
        <p:spPr>
          <a:xfrm>
            <a:off x="9189720" y="23317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76;p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811780"/>
            <a:ext cx="960120" cy="960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860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>
            <a:extLst>
              <a:ext uri="{FF2B5EF4-FFF2-40B4-BE49-F238E27FC236}">
                <a16:creationId xmlns="" xmlns:a16="http://schemas.microsoft.com/office/drawing/2014/main" id="{18EE7CE0-D1E8-49EA-9E4C-6A8DF8A19F01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83" name="Google Shape;83;p6">
            <a:extLst>
              <a:ext uri="{FF2B5EF4-FFF2-40B4-BE49-F238E27FC236}">
                <a16:creationId xmlns="" xmlns:a16="http://schemas.microsoft.com/office/drawing/2014/main" id="{591D7ED9-6E4E-46ED-9C71-70EF06CBA250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84" name="Google Shape;84;p6">
            <a:extLst>
              <a:ext uri="{FF2B5EF4-FFF2-40B4-BE49-F238E27FC236}">
                <a16:creationId xmlns="" xmlns:a16="http://schemas.microsoft.com/office/drawing/2014/main" id="{B409C168-1E92-4E07-8D32-842B7DBBF178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960120" cy="960120"/>
          </a:xfrm>
          <a:prstGeom prst="ellipse">
            <a:avLst/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85;p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89" y="2013509"/>
            <a:ext cx="499262" cy="499262"/>
          </a:xfrm>
          <a:prstGeom prst="rect">
            <a:avLst/>
          </a:prstGeom>
          <a:ln>
            <a:noFill/>
          </a:ln>
        </p:spPr>
      </p:pic>
      <p:sp>
        <p:nvSpPr>
          <p:cNvPr id="86" name="Google Shape;86;p6">
            <a:extLst>
              <a:ext uri="{FF2B5EF4-FFF2-40B4-BE49-F238E27FC236}">
                <a16:creationId xmlns="" xmlns:a16="http://schemas.microsoft.com/office/drawing/2014/main" id="{B4CC0CAB-AEE2-4C36-A1F4-5E30F0D9E4A8}"/>
              </a:ext>
            </a:extLst>
          </p:cNvPr>
          <p:cNvSpPr>
            <a:spLocks noGrp="1"/>
          </p:cNvSpPr>
          <p:nvPr/>
        </p:nvSpPr>
        <p:spPr>
          <a:xfrm>
            <a:off x="1828800" y="1783080"/>
            <a:ext cx="5943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ファイルの変更履歴を時系列で記録・管理する仕組み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「誰が」「いつ」「何を」「なぜ」変更したのかを追跡できる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過去の任意の時点の状態に戻したり、変更前後の差分を比較できる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複数人での共同作業や、個人での作業効率化・ミスの防止に役立つ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87" name="Google Shape;87;p6">
            <a:extLst>
              <a:ext uri="{FF2B5EF4-FFF2-40B4-BE49-F238E27FC236}">
                <a16:creationId xmlns="" xmlns:a16="http://schemas.microsoft.com/office/drawing/2014/main" id="{174E0131-6F06-4CC2-B16E-5FD4DDC433DE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>
            <a:extLst>
              <a:ext uri="{FF2B5EF4-FFF2-40B4-BE49-F238E27FC236}">
                <a16:creationId xmlns="" xmlns:a16="http://schemas.microsoft.com/office/drawing/2014/main" id="{46004DD5-1BD1-4BBA-A555-8F9595DF3465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>
            <a:extLst>
              <a:ext uri="{FF2B5EF4-FFF2-40B4-BE49-F238E27FC236}">
                <a16:creationId xmlns="" xmlns:a16="http://schemas.microsoft.com/office/drawing/2014/main" id="{4359ADCD-3B00-4A4F-B4A1-6480385860B3}"/>
              </a:ext>
            </a:extLst>
          </p:cNvPr>
          <p:cNvSpPr>
            <a:spLocks noGrp="1"/>
          </p:cNvSpPr>
          <p:nvPr/>
        </p:nvSpPr>
        <p:spPr>
          <a:xfrm>
            <a:off x="8412480" y="1938528"/>
            <a:ext cx="28803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1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身近な例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90" name="Google Shape;90;p6">
            <a:extLst>
              <a:ext uri="{FF2B5EF4-FFF2-40B4-BE49-F238E27FC236}">
                <a16:creationId xmlns="" xmlns:a16="http://schemas.microsoft.com/office/drawing/2014/main" id="{A4CC4EBC-0C71-45B8-8258-458CC9E22C2B}"/>
              </a:ext>
            </a:extLst>
          </p:cNvPr>
          <p:cNvSpPr>
            <a:spLocks noGrp="1"/>
          </p:cNvSpPr>
          <p:nvPr/>
        </p:nvSpPr>
        <p:spPr>
          <a:xfrm>
            <a:off x="8412480" y="2377440"/>
            <a:ext cx="2880360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Word や Excel の「変更履歴」「バージョン履歴」機能も、バージョン管理の考え方の一つです。Git はそれをプログラムのソースコードなど、あらゆるテキストファイルに対して本格的に行うためのツールです。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91" name="Google Shape;91;p6">
            <a:extLst>
              <a:ext uri="{FF2B5EF4-FFF2-40B4-BE49-F238E27FC236}">
                <a16:creationId xmlns="" xmlns:a16="http://schemas.microsoft.com/office/drawing/2014/main" id="{E9B1DC41-6676-41FB-A5A2-09A84D45EC74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2 — バージョン管理の基礎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92" name="Google Shape;92;p6">
            <a:extLst>
              <a:ext uri="{FF2B5EF4-FFF2-40B4-BE49-F238E27FC236}">
                <a16:creationId xmlns="" xmlns:a16="http://schemas.microsoft.com/office/drawing/2014/main" id="{E56DD390-3571-47FE-BC0D-FF9A5E8ADAD7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6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05957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>
            <a:extLst>
              <a:ext uri="{FF2B5EF4-FFF2-40B4-BE49-F238E27FC236}">
                <a16:creationId xmlns="" xmlns:a16="http://schemas.microsoft.com/office/drawing/2014/main" id="{F448B17B-66D8-486A-9619-CBAF9CFC1BCB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99" name="Google Shape;99;p7">
            <a:extLst>
              <a:ext uri="{FF2B5EF4-FFF2-40B4-BE49-F238E27FC236}">
                <a16:creationId xmlns="" xmlns:a16="http://schemas.microsoft.com/office/drawing/2014/main" id="{63486171-F884-4537-A075-0A3403FE502C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バージョン管理が必要な理由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00" name="Google Shape;100;p7">
            <a:extLst>
              <a:ext uri="{FF2B5EF4-FFF2-40B4-BE49-F238E27FC236}">
                <a16:creationId xmlns="" xmlns:a16="http://schemas.microsoft.com/office/drawing/2014/main" id="{A674E57C-515B-41A6-9E5F-7314EEE80678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960120" cy="960120"/>
          </a:xfrm>
          <a:prstGeom prst="ellipse">
            <a:avLst/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01;p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89" y="2013509"/>
            <a:ext cx="499262" cy="499262"/>
          </a:xfrm>
          <a:prstGeom prst="rect">
            <a:avLst/>
          </a:prstGeom>
          <a:ln>
            <a:noFill/>
          </a:ln>
        </p:spPr>
      </p:pic>
      <p:sp>
        <p:nvSpPr>
          <p:cNvPr id="102" name="Google Shape;102;p7">
            <a:extLst>
              <a:ext uri="{FF2B5EF4-FFF2-40B4-BE49-F238E27FC236}">
                <a16:creationId xmlns="" xmlns:a16="http://schemas.microsoft.com/office/drawing/2014/main" id="{BE970DC1-85EB-4393-8E80-A5EA34231B0E}"/>
              </a:ext>
            </a:extLst>
          </p:cNvPr>
          <p:cNvSpPr>
            <a:spLocks noGrp="1"/>
          </p:cNvSpPr>
          <p:nvPr/>
        </p:nvSpPr>
        <p:spPr>
          <a:xfrm>
            <a:off x="1828800" y="1783080"/>
            <a:ext cx="5943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ファイル名で管理すると限界がある（例：report_v1, report_v2_final, report_v2_final2 …）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どのファイルが最新か分からなくなり、二重管理や上書きミスが起きやすい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「なぜ変更したか」という理由や意図が残らない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誤って上書き・削除してしまっても、履歴があればいつでも復元できる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チーム開発では、複数人の変更を安全に一つにまとめる仕組みが不可欠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03" name="Google Shape;103;p7">
            <a:extLst>
              <a:ext uri="{FF2B5EF4-FFF2-40B4-BE49-F238E27FC236}">
                <a16:creationId xmlns="" xmlns:a16="http://schemas.microsoft.com/office/drawing/2014/main" id="{9B48AC63-A48E-4BDB-9C9C-53571B00C543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>
            <a:extLst>
              <a:ext uri="{FF2B5EF4-FFF2-40B4-BE49-F238E27FC236}">
                <a16:creationId xmlns="" xmlns:a16="http://schemas.microsoft.com/office/drawing/2014/main" id="{1F19C3FD-2ED6-4C1F-B7BB-96009541CCAE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>
            <a:extLst>
              <a:ext uri="{FF2B5EF4-FFF2-40B4-BE49-F238E27FC236}">
                <a16:creationId xmlns="" xmlns:a16="http://schemas.microsoft.com/office/drawing/2014/main" id="{3D1577D4-1ECA-4423-AFEF-23D52F3DDE32}"/>
              </a:ext>
            </a:extLst>
          </p:cNvPr>
          <p:cNvSpPr>
            <a:spLocks noGrp="1"/>
          </p:cNvSpPr>
          <p:nvPr/>
        </p:nvSpPr>
        <p:spPr>
          <a:xfrm>
            <a:off x="8412480" y="1938528"/>
            <a:ext cx="28803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1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ファイル管理の限界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06" name="Google Shape;106;p7">
            <a:extLst>
              <a:ext uri="{FF2B5EF4-FFF2-40B4-BE49-F238E27FC236}">
                <a16:creationId xmlns="" xmlns:a16="http://schemas.microsoft.com/office/drawing/2014/main" id="{4F1488C5-2AA6-4C82-9C6C-CB313DACBAA5}"/>
              </a:ext>
            </a:extLst>
          </p:cNvPr>
          <p:cNvSpPr>
            <a:spLocks noGrp="1"/>
          </p:cNvSpPr>
          <p:nvPr/>
        </p:nvSpPr>
        <p:spPr>
          <a:xfrm>
            <a:off x="8412480" y="2377440"/>
            <a:ext cx="2880360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ファイル名やフォルダで版数を管理する方法は、人数・変更回数が増えるほど破綻しやすくなります。バージョン管理システムはこの問題を根本的に解決します。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07" name="Google Shape;107;p7">
            <a:extLst>
              <a:ext uri="{FF2B5EF4-FFF2-40B4-BE49-F238E27FC236}">
                <a16:creationId xmlns="" xmlns:a16="http://schemas.microsoft.com/office/drawing/2014/main" id="{4685FEF6-A795-4A02-BE37-089C90C0B642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2 — バージョン管理の基礎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08" name="Google Shape;108;p7">
            <a:extLst>
              <a:ext uri="{FF2B5EF4-FFF2-40B4-BE49-F238E27FC236}">
                <a16:creationId xmlns="" xmlns:a16="http://schemas.microsoft.com/office/drawing/2014/main" id="{959F124A-64CA-45DF-96D0-3C230944C27D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7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31501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>
            <a:extLst>
              <a:ext uri="{FF2B5EF4-FFF2-40B4-BE49-F238E27FC236}">
                <a16:creationId xmlns="" xmlns:a16="http://schemas.microsoft.com/office/drawing/2014/main" id="{2DB6ED39-8C5B-4D64-977F-355AA28BC48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15" name="Google Shape;115;p8">
            <a:extLst>
              <a:ext uri="{FF2B5EF4-FFF2-40B4-BE49-F238E27FC236}">
                <a16:creationId xmlns="" xmlns:a16="http://schemas.microsoft.com/office/drawing/2014/main" id="{EC3568B6-71AA-4978-BAB7-C778EA5808ED}"/>
              </a:ext>
            </a:extLst>
          </p:cNvPr>
          <p:cNvSpPr>
            <a:spLocks noGrp="1"/>
          </p:cNvSpPr>
          <p:nvPr/>
        </p:nvSpPr>
        <p:spPr>
          <a:xfrm>
            <a:off x="594360" y="21488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03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123" name="Google Shape;116;p8"/>
          <p:cNvCxnSpPr/>
          <p:nvPr/>
        </p:nvCxnSpPr>
        <p:spPr>
          <a:xfrm>
            <a:off x="640080" y="37033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8">
            <a:extLst>
              <a:ext uri="{FF2B5EF4-FFF2-40B4-BE49-F238E27FC236}">
                <a16:creationId xmlns="" xmlns:a16="http://schemas.microsoft.com/office/drawing/2014/main" id="{BA6637BB-5C6D-4F57-A53E-DB59D8E12964}"/>
              </a:ext>
            </a:extLst>
          </p:cNvPr>
          <p:cNvSpPr>
            <a:spLocks noGrp="1"/>
          </p:cNvSpPr>
          <p:nvPr/>
        </p:nvSpPr>
        <p:spPr>
          <a:xfrm>
            <a:off x="621792" y="38862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集中型と分散型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18" name="Google Shape;118;p8">
            <a:extLst>
              <a:ext uri="{FF2B5EF4-FFF2-40B4-BE49-F238E27FC236}">
                <a16:creationId xmlns="" xmlns:a16="http://schemas.microsoft.com/office/drawing/2014/main" id="{0AFE5EF7-6930-4CC6-A31A-40E7B14535A3}"/>
              </a:ext>
            </a:extLst>
          </p:cNvPr>
          <p:cNvSpPr>
            <a:spLocks noGrp="1"/>
          </p:cNvSpPr>
          <p:nvPr/>
        </p:nvSpPr>
        <p:spPr>
          <a:xfrm>
            <a:off x="640080" y="48006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バージョン管理システムの2つの方式とその違い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19" name="Google Shape;119;p8">
            <a:extLst>
              <a:ext uri="{FF2B5EF4-FFF2-40B4-BE49-F238E27FC236}">
                <a16:creationId xmlns="" xmlns:a16="http://schemas.microsoft.com/office/drawing/2014/main" id="{2415A0B2-3184-4F77-88D4-9B09C4CAB3E9}"/>
              </a:ext>
            </a:extLst>
          </p:cNvPr>
          <p:cNvSpPr>
            <a:spLocks noGrp="1"/>
          </p:cNvSpPr>
          <p:nvPr/>
        </p:nvSpPr>
        <p:spPr>
          <a:xfrm>
            <a:off x="9189720" y="23317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0;p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811780"/>
            <a:ext cx="960120" cy="960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109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>
            <a:extLst>
              <a:ext uri="{FF2B5EF4-FFF2-40B4-BE49-F238E27FC236}">
                <a16:creationId xmlns="" xmlns:a16="http://schemas.microsoft.com/office/drawing/2014/main" id="{77A3EC23-1B6D-4154-8ED6-2A53B4CCEF49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集中型と分散型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27" name="Google Shape;127;p9">
            <a:extLst>
              <a:ext uri="{FF2B5EF4-FFF2-40B4-BE49-F238E27FC236}">
                <a16:creationId xmlns="" xmlns:a16="http://schemas.microsoft.com/office/drawing/2014/main" id="{A157A562-3FA1-4CAA-8580-3D05A34DFFA4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集中型バージョン管理システム（CVCS）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28" name="Google Shape;128;p9">
            <a:extLst>
              <a:ext uri="{FF2B5EF4-FFF2-40B4-BE49-F238E27FC236}">
                <a16:creationId xmlns="" xmlns:a16="http://schemas.microsoft.com/office/drawing/2014/main" id="{E1FB08DA-7684-410C-B0AD-2E98BA60D931}"/>
              </a:ext>
            </a:extLst>
          </p:cNvPr>
          <p:cNvSpPr>
            <a:spLocks noGrp="1"/>
          </p:cNvSpPr>
          <p:nvPr/>
        </p:nvSpPr>
        <p:spPr>
          <a:xfrm>
            <a:off x="548640" y="1564715"/>
            <a:ext cx="5257800" cy="4964101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">
            <a:extLst>
              <a:ext uri="{FF2B5EF4-FFF2-40B4-BE49-F238E27FC236}">
                <a16:creationId xmlns="" xmlns:a16="http://schemas.microsoft.com/office/drawing/2014/main" id="{76A2B59B-D907-4ED1-8DC0-C4A728918B6B}"/>
              </a:ext>
            </a:extLst>
          </p:cNvPr>
          <p:cNvSpPr>
            <a:spLocks noGrp="1"/>
          </p:cNvSpPr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30;p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2267712"/>
            <a:ext cx="356616" cy="356616"/>
          </a:xfrm>
          <a:prstGeom prst="rect">
            <a:avLst/>
          </a:prstGeom>
          <a:ln>
            <a:noFill/>
          </a:ln>
        </p:spPr>
      </p:pic>
      <p:sp>
        <p:nvSpPr>
          <p:cNvPr id="131" name="Google Shape;131;p9">
            <a:extLst>
              <a:ext uri="{FF2B5EF4-FFF2-40B4-BE49-F238E27FC236}">
                <a16:creationId xmlns="" xmlns:a16="http://schemas.microsoft.com/office/drawing/2014/main" id="{B6A1E501-98E7-4F39-814A-D63FE61F0E87}"/>
              </a:ext>
            </a:extLst>
          </p:cNvPr>
          <p:cNvSpPr>
            <a:spLocks noGrp="1"/>
          </p:cNvSpPr>
          <p:nvPr/>
        </p:nvSpPr>
        <p:spPr>
          <a:xfrm>
            <a:off x="1691640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HG丸ｺﾞｼｯｸM-PRO"/>
              <a:buNone/>
            </a:pPr>
            <a:r>
              <a:rPr sz="18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集中型（Centralized）</a:t>
            </a:r>
            <a:endParaRPr sz="18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32" name="Google Shape;132;p9">
            <a:extLst>
              <a:ext uri="{FF2B5EF4-FFF2-40B4-BE49-F238E27FC236}">
                <a16:creationId xmlns="" xmlns:a16="http://schemas.microsoft.com/office/drawing/2014/main" id="{66B773F8-E37C-4A92-A1D4-2D1836B4CEE0}"/>
              </a:ext>
            </a:extLst>
          </p:cNvPr>
          <p:cNvSpPr>
            <a:spLocks noGrp="1"/>
          </p:cNvSpPr>
          <p:nvPr/>
        </p:nvSpPr>
        <p:spPr>
          <a:xfrm>
            <a:off x="868680" y="3017520"/>
            <a:ext cx="4617720" cy="33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1つの中央サーバーにすべての履歴を集約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利用者は中央サーバーへ接続して作業する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代表例：SVN（Subversion）、CVS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メリット：仕組みがシンプル、権限管理がしやすい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デメリット：サーバー障害時に作業できない／オフライン作業に制限がある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33" name="Google Shape;133;p9">
            <a:extLst>
              <a:ext uri="{FF2B5EF4-FFF2-40B4-BE49-F238E27FC236}">
                <a16:creationId xmlns="" xmlns:a16="http://schemas.microsoft.com/office/drawing/2014/main" id="{DB130F22-1B92-430C-9C11-C882EB0ADBA6}"/>
              </a:ext>
            </a:extLst>
          </p:cNvPr>
          <p:cNvSpPr>
            <a:spLocks noGrp="1"/>
          </p:cNvSpPr>
          <p:nvPr/>
        </p:nvSpPr>
        <p:spPr>
          <a:xfrm>
            <a:off x="6126480" y="1564715"/>
            <a:ext cx="5257800" cy="4952698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">
            <a:extLst>
              <a:ext uri="{FF2B5EF4-FFF2-40B4-BE49-F238E27FC236}">
                <a16:creationId xmlns="" xmlns:a16="http://schemas.microsoft.com/office/drawing/2014/main" id="{5C7B31A2-74B7-4ADC-B582-27700330B434}"/>
              </a:ext>
            </a:extLst>
          </p:cNvPr>
          <p:cNvSpPr>
            <a:spLocks noGrp="1"/>
          </p:cNvSpPr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35;p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1112" y="2267712"/>
            <a:ext cx="356616" cy="356616"/>
          </a:xfrm>
          <a:prstGeom prst="rect">
            <a:avLst/>
          </a:prstGeom>
          <a:ln>
            <a:noFill/>
          </a:ln>
        </p:spPr>
      </p:pic>
      <p:sp>
        <p:nvSpPr>
          <p:cNvPr id="136" name="Google Shape;136;p9">
            <a:extLst>
              <a:ext uri="{FF2B5EF4-FFF2-40B4-BE49-F238E27FC236}">
                <a16:creationId xmlns="" xmlns:a16="http://schemas.microsoft.com/office/drawing/2014/main" id="{B7B0079B-7F90-430B-8142-D79D2B32F9A1}"/>
              </a:ext>
            </a:extLst>
          </p:cNvPr>
          <p:cNvSpPr>
            <a:spLocks noGrp="1"/>
          </p:cNvSpPr>
          <p:nvPr/>
        </p:nvSpPr>
        <p:spPr>
          <a:xfrm>
            <a:off x="7269480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HG丸ｺﾞｼｯｸM-PRO"/>
              <a:buNone/>
            </a:pPr>
            <a:r>
              <a:rPr sz="18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分散型（Distributed）</a:t>
            </a:r>
            <a:endParaRPr sz="18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37" name="Google Shape;137;p9">
            <a:extLst>
              <a:ext uri="{FF2B5EF4-FFF2-40B4-BE49-F238E27FC236}">
                <a16:creationId xmlns="" xmlns:a16="http://schemas.microsoft.com/office/drawing/2014/main" id="{A48B5BDB-93FE-41BF-96F7-36734FE09DE5}"/>
              </a:ext>
            </a:extLst>
          </p:cNvPr>
          <p:cNvSpPr>
            <a:spLocks noGrp="1"/>
          </p:cNvSpPr>
          <p:nvPr/>
        </p:nvSpPr>
        <p:spPr>
          <a:xfrm>
            <a:off x="6446520" y="3017520"/>
            <a:ext cx="4617720" cy="33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 dirty="0" err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各利用者のPCにリポジトリの完全な複製を保持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 dirty="0" err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手元の環境だけで履歴の確認・コミットが可能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 dirty="0" err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代表例：GitHub、Mercurial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 dirty="0" err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メリット：オフライン作業でき</a:t>
            </a:r>
            <a:r>
              <a:rPr sz="1600" dirty="0" err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て</a:t>
            </a:r>
            <a:r>
              <a:rPr sz="1600" b="0" i="0" u="none" cap="none" dirty="0" err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サーバー障害にも強い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 dirty="0" err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デメリット：しくみがやや複雑で、理解に時間がかかる</a:t>
            </a:r>
            <a:endParaRPr sz="1300" b="0" i="0" u="none" cap="none" dirty="0">
              <a:solidFill>
                <a:srgbClr val="24292E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lvl="0" indent="-177800">
              <a:lnSpc>
                <a:spcPct val="115000"/>
              </a:lnSpc>
              <a:spcBef>
                <a:spcPts val="900"/>
              </a:spcBef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dirty="0" err="1">
                <a:solidFill>
                  <a:schemeClr val="dk1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dirty="0" err="1" smtClean="0">
                <a:solidFill>
                  <a:schemeClr val="dk1"/>
                </a:solidFill>
                <a:latin typeface="HG丸ｺﾞｼｯｸM-PRO"/>
                <a:ea typeface="HG丸ｺﾞｼｯｸM-PRO"/>
                <a:cs typeface="HG丸ｺﾞｼｯｸM-PRO"/>
              </a:rPr>
              <a:t>は</a:t>
            </a:r>
            <a:r>
              <a:rPr lang="ja-JP" altLang="en-US" sz="1600" dirty="0" smtClean="0">
                <a:solidFill>
                  <a:schemeClr val="dk1"/>
                </a:solidFill>
                <a:latin typeface="HG丸ｺﾞｼｯｸM-PRO"/>
                <a:ea typeface="HG丸ｺﾞｼｯｸM-PRO"/>
                <a:cs typeface="HG丸ｺﾞｼｯｸM-PRO"/>
              </a:rPr>
              <a:t>ローカル作業だから</a:t>
            </a:r>
            <a:r>
              <a:rPr sz="1600" dirty="0" smtClean="0">
                <a:solidFill>
                  <a:schemeClr val="dk1"/>
                </a:solidFill>
                <a:latin typeface="HG丸ｺﾞｼｯｸM-PRO"/>
                <a:ea typeface="HG丸ｺﾞｼｯｸM-PRO"/>
                <a:cs typeface="HG丸ｺﾞｼｯｸM-PRO"/>
              </a:rPr>
              <a:t>集中型というわけではありません</a:t>
            </a:r>
            <a:r>
              <a:rPr sz="1600" dirty="0">
                <a:solidFill>
                  <a:schemeClr val="dk1"/>
                </a:solidFill>
                <a:latin typeface="HG丸ｺﾞｼｯｸM-PRO"/>
                <a:ea typeface="HG丸ｺﾞｼｯｸM-PRO"/>
                <a:cs typeface="HG丸ｺﾞｼｯｸM-PRO"/>
              </a:rPr>
              <a:t>。</a:t>
            </a:r>
            <a:r>
              <a:rPr sz="1600" dirty="0" smtClean="0">
                <a:solidFill>
                  <a:schemeClr val="dk1"/>
                </a:solidFill>
                <a:latin typeface="HG丸ｺﾞｼｯｸM-PRO"/>
                <a:ea typeface="HG丸ｺﾞｼｯｸM-PRO"/>
                <a:cs typeface="HG丸ｺﾞｼｯｸM-PRO"/>
              </a:rPr>
              <a:t>実際に1</a:t>
            </a:r>
            <a:r>
              <a:rPr sz="1600" dirty="0">
                <a:solidFill>
                  <a:schemeClr val="dk1"/>
                </a:solidFill>
                <a:latin typeface="HG丸ｺﾞｼｯｸM-PRO"/>
                <a:ea typeface="HG丸ｺﾞｼｯｸM-PRO"/>
                <a:cs typeface="HG丸ｺﾞｼｯｸM-PRO"/>
              </a:rPr>
              <a:t>か所にしかリポジトリが存在しなくても、Gitの設計・</a:t>
            </a:r>
            <a:r>
              <a:rPr sz="1600" dirty="0" smtClean="0">
                <a:solidFill>
                  <a:schemeClr val="dk1"/>
                </a:solidFill>
                <a:latin typeface="HG丸ｺﾞｼｯｸM-PRO"/>
                <a:ea typeface="HG丸ｺﾞｼｯｸM-PRO"/>
                <a:cs typeface="HG丸ｺﾞｼｯｸM-PRO"/>
              </a:rPr>
              <a:t>仕組みは分散型。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38" name="Google Shape;138;p9">
            <a:extLst>
              <a:ext uri="{FF2B5EF4-FFF2-40B4-BE49-F238E27FC236}">
                <a16:creationId xmlns="" xmlns:a16="http://schemas.microsoft.com/office/drawing/2014/main" id="{A13EC8E2-C05B-491B-95A9-7A77914515A9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3 — 集中型と分散型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39" name="Google Shape;139;p9">
            <a:extLst>
              <a:ext uri="{FF2B5EF4-FFF2-40B4-BE49-F238E27FC236}">
                <a16:creationId xmlns="" xmlns:a16="http://schemas.microsoft.com/office/drawing/2014/main" id="{FC2A71E0-1B8A-4989-9938-EFA2E20BE966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9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32980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>
            <a:extLst>
              <a:ext uri="{FF2B5EF4-FFF2-40B4-BE49-F238E27FC236}">
                <a16:creationId xmlns="" xmlns:a16="http://schemas.microsoft.com/office/drawing/2014/main" id="{362B87AC-8BEF-4688-B68F-3C4F9C6B5B52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46" name="Google Shape;146;p10">
            <a:extLst>
              <a:ext uri="{FF2B5EF4-FFF2-40B4-BE49-F238E27FC236}">
                <a16:creationId xmlns="" xmlns:a16="http://schemas.microsoft.com/office/drawing/2014/main" id="{F3359541-E149-4594-8B9F-555491CEA8B5}"/>
              </a:ext>
            </a:extLst>
          </p:cNvPr>
          <p:cNvSpPr>
            <a:spLocks noGrp="1"/>
          </p:cNvSpPr>
          <p:nvPr/>
        </p:nvSpPr>
        <p:spPr>
          <a:xfrm>
            <a:off x="594360" y="21488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04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154" name="Google Shape;147;p10"/>
          <p:cNvCxnSpPr/>
          <p:nvPr/>
        </p:nvCxnSpPr>
        <p:spPr>
          <a:xfrm>
            <a:off x="640080" y="37033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0">
            <a:extLst>
              <a:ext uri="{FF2B5EF4-FFF2-40B4-BE49-F238E27FC236}">
                <a16:creationId xmlns="" xmlns:a16="http://schemas.microsoft.com/office/drawing/2014/main" id="{5B7D7DAF-70B5-4107-8F3E-A356C09C38A4}"/>
              </a:ext>
            </a:extLst>
          </p:cNvPr>
          <p:cNvSpPr>
            <a:spLocks noGrp="1"/>
          </p:cNvSpPr>
          <p:nvPr/>
        </p:nvSpPr>
        <p:spPr>
          <a:xfrm>
            <a:off x="621792" y="38862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Gitの基礎知識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49" name="Google Shape;149;p10">
            <a:extLst>
              <a:ext uri="{FF2B5EF4-FFF2-40B4-BE49-F238E27FC236}">
                <a16:creationId xmlns="" xmlns:a16="http://schemas.microsoft.com/office/drawing/2014/main" id="{6E975A4D-AF34-4C60-9D6F-45399CD35085}"/>
              </a:ext>
            </a:extLst>
          </p:cNvPr>
          <p:cNvSpPr>
            <a:spLocks noGrp="1"/>
          </p:cNvSpPr>
          <p:nvPr/>
        </p:nvSpPr>
        <p:spPr>
          <a:xfrm>
            <a:off x="640080" y="48006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現在もっとも広く使われている分散型バージョン管理システム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50" name="Google Shape;150;p10">
            <a:extLst>
              <a:ext uri="{FF2B5EF4-FFF2-40B4-BE49-F238E27FC236}">
                <a16:creationId xmlns="" xmlns:a16="http://schemas.microsoft.com/office/drawing/2014/main" id="{130569BC-1F31-47E8-936D-6ED7AF9B9019}"/>
              </a:ext>
            </a:extLst>
          </p:cNvPr>
          <p:cNvSpPr>
            <a:spLocks noGrp="1"/>
          </p:cNvSpPr>
          <p:nvPr/>
        </p:nvSpPr>
        <p:spPr>
          <a:xfrm>
            <a:off x="9189720" y="23317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1;p1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811780"/>
            <a:ext cx="960120" cy="960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143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>
            <a:extLst>
              <a:ext uri="{FF2B5EF4-FFF2-40B4-BE49-F238E27FC236}">
                <a16:creationId xmlns="" xmlns:a16="http://schemas.microsoft.com/office/drawing/2014/main" id="{14EA0D9E-5B1F-4EC4-927A-390EEF8AE497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GITの基礎知識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58" name="Google Shape;158;p11">
            <a:extLst>
              <a:ext uri="{FF2B5EF4-FFF2-40B4-BE49-F238E27FC236}">
                <a16:creationId xmlns="" xmlns:a16="http://schemas.microsoft.com/office/drawing/2014/main" id="{2773A05A-2E8E-4484-90E2-D119AD090576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59" name="Google Shape;159;p11">
            <a:extLst>
              <a:ext uri="{FF2B5EF4-FFF2-40B4-BE49-F238E27FC236}">
                <a16:creationId xmlns="" xmlns:a16="http://schemas.microsoft.com/office/drawing/2014/main" id="{89F9E4AB-AFDD-4DE3-A685-D16D2A7FCE49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960120" cy="960120"/>
          </a:xfrm>
          <a:prstGeom prst="ellipse">
            <a:avLst/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60;p1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89" y="2013509"/>
            <a:ext cx="499262" cy="499262"/>
          </a:xfrm>
          <a:prstGeom prst="rect">
            <a:avLst/>
          </a:prstGeom>
          <a:ln>
            <a:noFill/>
          </a:ln>
        </p:spPr>
      </p:pic>
      <p:sp>
        <p:nvSpPr>
          <p:cNvPr id="161" name="Google Shape;161;p11">
            <a:extLst>
              <a:ext uri="{FF2B5EF4-FFF2-40B4-BE49-F238E27FC236}">
                <a16:creationId xmlns="" xmlns:a16="http://schemas.microsoft.com/office/drawing/2014/main" id="{B0EBEC14-CFFA-4D4E-B6CC-1BDB0CADA492}"/>
              </a:ext>
            </a:extLst>
          </p:cNvPr>
          <p:cNvSpPr>
            <a:spLocks noGrp="1"/>
          </p:cNvSpPr>
          <p:nvPr/>
        </p:nvSpPr>
        <p:spPr>
          <a:xfrm>
            <a:off x="1828800" y="1783080"/>
            <a:ext cx="5943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分散型バージョン管理システムの代表格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Linux カーネル開発のために Linus Torvalds 氏が開発（2005年〜）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オープンソースで無償、Windows / Mac / Linux で利用可能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世界中の個人開発・企業のソフトウェア開発現場で標準的に使われている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GitHub / GitLab / Bitbucket などのサービスは Git を基盤にしている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62" name="Google Shape;162;p11">
            <a:extLst>
              <a:ext uri="{FF2B5EF4-FFF2-40B4-BE49-F238E27FC236}">
                <a16:creationId xmlns="" xmlns:a16="http://schemas.microsoft.com/office/drawing/2014/main" id="{5AA45BDF-D380-4F32-B7F9-8D3ABE4358F1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1">
            <a:extLst>
              <a:ext uri="{FF2B5EF4-FFF2-40B4-BE49-F238E27FC236}">
                <a16:creationId xmlns="" xmlns:a16="http://schemas.microsoft.com/office/drawing/2014/main" id="{3D084D20-B039-4F95-AA3F-08E7852B6E0D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">
            <a:extLst>
              <a:ext uri="{FF2B5EF4-FFF2-40B4-BE49-F238E27FC236}">
                <a16:creationId xmlns="" xmlns:a16="http://schemas.microsoft.com/office/drawing/2014/main" id="{0235E956-341B-4EE8-8EE3-7F16645D80F9}"/>
              </a:ext>
            </a:extLst>
          </p:cNvPr>
          <p:cNvSpPr>
            <a:spLocks noGrp="1"/>
          </p:cNvSpPr>
          <p:nvPr/>
        </p:nvSpPr>
        <p:spPr>
          <a:xfrm>
            <a:off x="8412480" y="1938528"/>
            <a:ext cx="28803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1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ポイント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65" name="Google Shape;165;p11">
            <a:extLst>
              <a:ext uri="{FF2B5EF4-FFF2-40B4-BE49-F238E27FC236}">
                <a16:creationId xmlns="" xmlns:a16="http://schemas.microsoft.com/office/drawing/2014/main" id="{00612323-30D9-433E-A6C8-531C15DBB07A}"/>
              </a:ext>
            </a:extLst>
          </p:cNvPr>
          <p:cNvSpPr>
            <a:spLocks noGrp="1"/>
          </p:cNvSpPr>
          <p:nvPr/>
        </p:nvSpPr>
        <p:spPr>
          <a:xfrm>
            <a:off x="8412480" y="2377440"/>
            <a:ext cx="2880360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はあくまで「バージョン管理ツール」そのものであり、GitHub 等はそのリポジトリを共有・公開するためのホスティングサービスです。両者は別物として区別しましょう。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66" name="Google Shape;166;p11">
            <a:extLst>
              <a:ext uri="{FF2B5EF4-FFF2-40B4-BE49-F238E27FC236}">
                <a16:creationId xmlns="" xmlns:a16="http://schemas.microsoft.com/office/drawing/2014/main" id="{EA3335ED-DEB6-4C17-9AF5-611AD350ED49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4 — Gitの基礎知識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67" name="Google Shape;167;p11">
            <a:extLst>
              <a:ext uri="{FF2B5EF4-FFF2-40B4-BE49-F238E27FC236}">
                <a16:creationId xmlns="" xmlns:a16="http://schemas.microsoft.com/office/drawing/2014/main" id="{FBA8D948-BD00-4723-9A74-BDC34CF015D7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11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31296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>
            <a:extLst>
              <a:ext uri="{FF2B5EF4-FFF2-40B4-BE49-F238E27FC236}">
                <a16:creationId xmlns="" xmlns:a16="http://schemas.microsoft.com/office/drawing/2014/main" id="{C51216F4-0E6E-4D48-A746-61B9584FD077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GITの基礎知識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74" name="Google Shape;174;p12">
            <a:extLst>
              <a:ext uri="{FF2B5EF4-FFF2-40B4-BE49-F238E27FC236}">
                <a16:creationId xmlns="" xmlns:a16="http://schemas.microsoft.com/office/drawing/2014/main" id="{B5E635EA-E234-4ACE-8C50-0AEB61A029E3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Gitの特徴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75" name="Google Shape;175;p12">
            <a:extLst>
              <a:ext uri="{FF2B5EF4-FFF2-40B4-BE49-F238E27FC236}">
                <a16:creationId xmlns="" xmlns:a16="http://schemas.microsoft.com/office/drawing/2014/main" id="{AF6765B2-1BC2-4770-9D82-03DA1B92A316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4951476" cy="194310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2">
            <a:extLst>
              <a:ext uri="{FF2B5EF4-FFF2-40B4-BE49-F238E27FC236}">
                <a16:creationId xmlns="" xmlns:a16="http://schemas.microsoft.com/office/drawing/2014/main" id="{ED6CE298-8DBD-4054-AD83-7D22B98F35CF}"/>
              </a:ext>
            </a:extLst>
          </p:cNvPr>
          <p:cNvSpPr>
            <a:spLocks noGrp="1"/>
          </p:cNvSpPr>
          <p:nvPr/>
        </p:nvSpPr>
        <p:spPr>
          <a:xfrm>
            <a:off x="822960" y="203911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177;p1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2190" y="2188342"/>
            <a:ext cx="323332" cy="323332"/>
          </a:xfrm>
          <a:prstGeom prst="rect">
            <a:avLst/>
          </a:prstGeom>
          <a:ln>
            <a:noFill/>
          </a:ln>
        </p:spPr>
      </p:pic>
      <p:sp>
        <p:nvSpPr>
          <p:cNvPr id="178" name="Google Shape;178;p12">
            <a:extLst>
              <a:ext uri="{FF2B5EF4-FFF2-40B4-BE49-F238E27FC236}">
                <a16:creationId xmlns="" xmlns:a16="http://schemas.microsoft.com/office/drawing/2014/main" id="{0A375DFC-0C3D-45EB-BBC9-163A0D68B1F8}"/>
              </a:ext>
            </a:extLst>
          </p:cNvPr>
          <p:cNvSpPr>
            <a:spLocks noGrp="1"/>
          </p:cNvSpPr>
          <p:nvPr/>
        </p:nvSpPr>
        <p:spPr>
          <a:xfrm>
            <a:off x="1554480" y="2020824"/>
            <a:ext cx="3717036" cy="66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高速な処理</a:t>
            </a:r>
            <a:endParaRPr sz="15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79" name="Google Shape;179;p12">
            <a:extLst>
              <a:ext uri="{FF2B5EF4-FFF2-40B4-BE49-F238E27FC236}">
                <a16:creationId xmlns="" xmlns:a16="http://schemas.microsoft.com/office/drawing/2014/main" id="{283CD753-64B5-40D2-9F42-63E2084518ED}"/>
              </a:ext>
            </a:extLst>
          </p:cNvPr>
          <p:cNvSpPr>
            <a:spLocks noGrp="1"/>
          </p:cNvSpPr>
          <p:nvPr/>
        </p:nvSpPr>
        <p:spPr>
          <a:xfrm>
            <a:off x="822960" y="2715768"/>
            <a:ext cx="440283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ほぼすべての操作をローカルで完結するため、応答が速くストレスがない。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80" name="Google Shape;180;p12">
            <a:extLst>
              <a:ext uri="{FF2B5EF4-FFF2-40B4-BE49-F238E27FC236}">
                <a16:creationId xmlns="" xmlns:a16="http://schemas.microsoft.com/office/drawing/2014/main" id="{7F8D2DCF-810D-442E-8F0A-921814F302CB}"/>
              </a:ext>
            </a:extLst>
          </p:cNvPr>
          <p:cNvSpPr>
            <a:spLocks noGrp="1"/>
          </p:cNvSpPr>
          <p:nvPr/>
        </p:nvSpPr>
        <p:spPr>
          <a:xfrm>
            <a:off x="5774436" y="1783080"/>
            <a:ext cx="4951476" cy="194310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">
            <a:extLst>
              <a:ext uri="{FF2B5EF4-FFF2-40B4-BE49-F238E27FC236}">
                <a16:creationId xmlns="" xmlns:a16="http://schemas.microsoft.com/office/drawing/2014/main" id="{E9AC26A0-3242-4ABA-84D0-1A1832120F53}"/>
              </a:ext>
            </a:extLst>
          </p:cNvPr>
          <p:cNvSpPr>
            <a:spLocks noGrp="1"/>
          </p:cNvSpPr>
          <p:nvPr/>
        </p:nvSpPr>
        <p:spPr>
          <a:xfrm>
            <a:off x="6048756" y="203911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182;p1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7986" y="2188342"/>
            <a:ext cx="323332" cy="323332"/>
          </a:xfrm>
          <a:prstGeom prst="rect">
            <a:avLst/>
          </a:prstGeom>
          <a:ln>
            <a:noFill/>
          </a:ln>
        </p:spPr>
      </p:pic>
      <p:sp>
        <p:nvSpPr>
          <p:cNvPr id="183" name="Google Shape;183;p12">
            <a:extLst>
              <a:ext uri="{FF2B5EF4-FFF2-40B4-BE49-F238E27FC236}">
                <a16:creationId xmlns="" xmlns:a16="http://schemas.microsoft.com/office/drawing/2014/main" id="{9D25373C-A028-4418-9AF6-F5292C6084AD}"/>
              </a:ext>
            </a:extLst>
          </p:cNvPr>
          <p:cNvSpPr>
            <a:spLocks noGrp="1"/>
          </p:cNvSpPr>
          <p:nvPr/>
        </p:nvSpPr>
        <p:spPr>
          <a:xfrm>
            <a:off x="6780276" y="2020824"/>
            <a:ext cx="3717036" cy="66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スナップショット方式</a:t>
            </a:r>
            <a:endParaRPr sz="15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84" name="Google Shape;184;p12">
            <a:extLst>
              <a:ext uri="{FF2B5EF4-FFF2-40B4-BE49-F238E27FC236}">
                <a16:creationId xmlns="" xmlns:a16="http://schemas.microsoft.com/office/drawing/2014/main" id="{97E1DCCB-9B02-4FA6-BB3E-25143F7F2EB0}"/>
              </a:ext>
            </a:extLst>
          </p:cNvPr>
          <p:cNvSpPr>
            <a:spLocks noGrp="1"/>
          </p:cNvSpPr>
          <p:nvPr/>
        </p:nvSpPr>
        <p:spPr>
          <a:xfrm>
            <a:off x="6048756" y="2715768"/>
            <a:ext cx="440283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差分ではなく、コミットごとにファイル全体の状態（スナップショット）を記録する。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85" name="Google Shape;185;p12">
            <a:extLst>
              <a:ext uri="{FF2B5EF4-FFF2-40B4-BE49-F238E27FC236}">
                <a16:creationId xmlns="" xmlns:a16="http://schemas.microsoft.com/office/drawing/2014/main" id="{A6EAAAD8-EBFD-430D-A37A-98016365F26A}"/>
              </a:ext>
            </a:extLst>
          </p:cNvPr>
          <p:cNvSpPr>
            <a:spLocks noGrp="1"/>
          </p:cNvSpPr>
          <p:nvPr/>
        </p:nvSpPr>
        <p:spPr>
          <a:xfrm>
            <a:off x="548640" y="4000500"/>
            <a:ext cx="4951476" cy="194310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">
            <a:extLst>
              <a:ext uri="{FF2B5EF4-FFF2-40B4-BE49-F238E27FC236}">
                <a16:creationId xmlns="" xmlns:a16="http://schemas.microsoft.com/office/drawing/2014/main" id="{3009F387-6B7E-4B38-B37A-3AB48BD46441}"/>
              </a:ext>
            </a:extLst>
          </p:cNvPr>
          <p:cNvSpPr>
            <a:spLocks noGrp="1"/>
          </p:cNvSpPr>
          <p:nvPr/>
        </p:nvSpPr>
        <p:spPr>
          <a:xfrm>
            <a:off x="822960" y="42565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187;p1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190" y="4405762"/>
            <a:ext cx="323332" cy="323332"/>
          </a:xfrm>
          <a:prstGeom prst="rect">
            <a:avLst/>
          </a:prstGeom>
          <a:ln>
            <a:noFill/>
          </a:ln>
        </p:spPr>
      </p:pic>
      <p:sp>
        <p:nvSpPr>
          <p:cNvPr id="188" name="Google Shape;188;p12">
            <a:extLst>
              <a:ext uri="{FF2B5EF4-FFF2-40B4-BE49-F238E27FC236}">
                <a16:creationId xmlns="" xmlns:a16="http://schemas.microsoft.com/office/drawing/2014/main" id="{F6ACE322-76AA-4040-828E-8B883CFB71B7}"/>
              </a:ext>
            </a:extLst>
          </p:cNvPr>
          <p:cNvSpPr>
            <a:spLocks noGrp="1"/>
          </p:cNvSpPr>
          <p:nvPr/>
        </p:nvSpPr>
        <p:spPr>
          <a:xfrm>
            <a:off x="1554480" y="4238244"/>
            <a:ext cx="3717036" cy="66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軽量なブランチ</a:t>
            </a:r>
            <a:endParaRPr sz="15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89" name="Google Shape;189;p12">
            <a:extLst>
              <a:ext uri="{FF2B5EF4-FFF2-40B4-BE49-F238E27FC236}">
                <a16:creationId xmlns="" xmlns:a16="http://schemas.microsoft.com/office/drawing/2014/main" id="{DE3247F5-4D18-4FE8-8AE2-CBC5E9CCB744}"/>
              </a:ext>
            </a:extLst>
          </p:cNvPr>
          <p:cNvSpPr>
            <a:spLocks noGrp="1"/>
          </p:cNvSpPr>
          <p:nvPr/>
        </p:nvSpPr>
        <p:spPr>
          <a:xfrm>
            <a:off x="822960" y="4933188"/>
            <a:ext cx="440283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ブランチの作成・切り替えが非常に軽量・高速で、気軽に試行錯誤できる。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90" name="Google Shape;190;p12">
            <a:extLst>
              <a:ext uri="{FF2B5EF4-FFF2-40B4-BE49-F238E27FC236}">
                <a16:creationId xmlns="" xmlns:a16="http://schemas.microsoft.com/office/drawing/2014/main" id="{AF9342AD-AA3F-42E0-9A94-2B4C6F81B547}"/>
              </a:ext>
            </a:extLst>
          </p:cNvPr>
          <p:cNvSpPr>
            <a:spLocks noGrp="1"/>
          </p:cNvSpPr>
          <p:nvPr/>
        </p:nvSpPr>
        <p:spPr>
          <a:xfrm>
            <a:off x="5774436" y="4000500"/>
            <a:ext cx="4951476" cy="194310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">
            <a:extLst>
              <a:ext uri="{FF2B5EF4-FFF2-40B4-BE49-F238E27FC236}">
                <a16:creationId xmlns="" xmlns:a16="http://schemas.microsoft.com/office/drawing/2014/main" id="{7EF52B1D-0823-43E3-8E1F-E99B01CC3255}"/>
              </a:ext>
            </a:extLst>
          </p:cNvPr>
          <p:cNvSpPr>
            <a:spLocks noGrp="1"/>
          </p:cNvSpPr>
          <p:nvPr/>
        </p:nvSpPr>
        <p:spPr>
          <a:xfrm>
            <a:off x="6048756" y="42565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0" name="Google Shape;192;p12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7986" y="4405762"/>
            <a:ext cx="323332" cy="323332"/>
          </a:xfrm>
          <a:prstGeom prst="rect">
            <a:avLst/>
          </a:prstGeom>
          <a:ln>
            <a:noFill/>
          </a:ln>
        </p:spPr>
      </p:pic>
      <p:sp>
        <p:nvSpPr>
          <p:cNvPr id="193" name="Google Shape;193;p12">
            <a:extLst>
              <a:ext uri="{FF2B5EF4-FFF2-40B4-BE49-F238E27FC236}">
                <a16:creationId xmlns="" xmlns:a16="http://schemas.microsoft.com/office/drawing/2014/main" id="{8014BB5A-2A0F-42CF-8AEF-98C29D92A07A}"/>
              </a:ext>
            </a:extLst>
          </p:cNvPr>
          <p:cNvSpPr>
            <a:spLocks noGrp="1"/>
          </p:cNvSpPr>
          <p:nvPr/>
        </p:nvSpPr>
        <p:spPr>
          <a:xfrm>
            <a:off x="6780276" y="4238244"/>
            <a:ext cx="3717036" cy="66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オフラインでも作業可能</a:t>
            </a:r>
            <a:endParaRPr sz="15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94" name="Google Shape;194;p12">
            <a:extLst>
              <a:ext uri="{FF2B5EF4-FFF2-40B4-BE49-F238E27FC236}">
                <a16:creationId xmlns="" xmlns:a16="http://schemas.microsoft.com/office/drawing/2014/main" id="{9894F70A-621E-4FB6-B09C-BCE57A8BBE5F}"/>
              </a:ext>
            </a:extLst>
          </p:cNvPr>
          <p:cNvSpPr>
            <a:spLocks noGrp="1"/>
          </p:cNvSpPr>
          <p:nvPr/>
        </p:nvSpPr>
        <p:spPr>
          <a:xfrm>
            <a:off x="6048756" y="4933188"/>
            <a:ext cx="440283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ローカルにリポジトリの複製があるため、ネットワークが無くても履歴確認・コミットができる。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95" name="Google Shape;195;p12">
            <a:extLst>
              <a:ext uri="{FF2B5EF4-FFF2-40B4-BE49-F238E27FC236}">
                <a16:creationId xmlns="" xmlns:a16="http://schemas.microsoft.com/office/drawing/2014/main" id="{CE5538E4-8288-4E75-AAED-7436761048D3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4 — Gitの基礎知識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196" name="Google Shape;196;p12">
            <a:extLst>
              <a:ext uri="{FF2B5EF4-FFF2-40B4-BE49-F238E27FC236}">
                <a16:creationId xmlns="" xmlns:a16="http://schemas.microsoft.com/office/drawing/2014/main" id="{4EB1D558-4B0F-47A2-99D0-FA5E3B828CC2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12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892798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>
            <a:extLst>
              <a:ext uri="{FF2B5EF4-FFF2-40B4-BE49-F238E27FC236}">
                <a16:creationId xmlns="" xmlns:a16="http://schemas.microsoft.com/office/drawing/2014/main" id="{07329DDE-FC85-47B2-A782-B734799D015E}"/>
              </a:ext>
            </a:extLst>
          </p:cNvPr>
          <p:cNvSpPr>
            <a:spLocks noGrp="1"/>
          </p:cNvSpPr>
          <p:nvPr/>
        </p:nvSpPr>
        <p:spPr>
          <a:xfrm>
            <a:off x="640080" y="14744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03" name="Google Shape;203;p13">
            <a:extLst>
              <a:ext uri="{FF2B5EF4-FFF2-40B4-BE49-F238E27FC236}">
                <a16:creationId xmlns="" xmlns:a16="http://schemas.microsoft.com/office/drawing/2014/main" id="{C722F5D8-D52D-44B1-B90E-0DFAEC21A5FD}"/>
              </a:ext>
            </a:extLst>
          </p:cNvPr>
          <p:cNvSpPr>
            <a:spLocks noGrp="1"/>
          </p:cNvSpPr>
          <p:nvPr/>
        </p:nvSpPr>
        <p:spPr>
          <a:xfrm>
            <a:off x="594360" y="16573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05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325" name="Google Shape;204;p13"/>
          <p:cNvCxnSpPr/>
          <p:nvPr/>
        </p:nvCxnSpPr>
        <p:spPr>
          <a:xfrm>
            <a:off x="640080" y="32118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p13">
            <a:extLst>
              <a:ext uri="{FF2B5EF4-FFF2-40B4-BE49-F238E27FC236}">
                <a16:creationId xmlns="" xmlns:a16="http://schemas.microsoft.com/office/drawing/2014/main" id="{4061EDE6-DE9E-46AB-B58A-45D5C62183E9}"/>
              </a:ext>
            </a:extLst>
          </p:cNvPr>
          <p:cNvSpPr>
            <a:spLocks noGrp="1"/>
          </p:cNvSpPr>
          <p:nvPr/>
        </p:nvSpPr>
        <p:spPr>
          <a:xfrm>
            <a:off x="621792" y="33947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ワーキングツリー・インデックス・コミット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06" name="Google Shape;206;p13">
            <a:extLst>
              <a:ext uri="{FF2B5EF4-FFF2-40B4-BE49-F238E27FC236}">
                <a16:creationId xmlns="" xmlns:a16="http://schemas.microsoft.com/office/drawing/2014/main" id="{0F4BE900-5552-42AE-86BD-C71614191805}"/>
              </a:ext>
            </a:extLst>
          </p:cNvPr>
          <p:cNvSpPr>
            <a:spLocks noGrp="1"/>
          </p:cNvSpPr>
          <p:nvPr/>
        </p:nvSpPr>
        <p:spPr>
          <a:xfrm>
            <a:off x="640080" y="43091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ローカル環境における3つの管理領域と、ステージング・監視の考え方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07" name="Google Shape;207;p13">
            <a:extLst>
              <a:ext uri="{FF2B5EF4-FFF2-40B4-BE49-F238E27FC236}">
                <a16:creationId xmlns="" xmlns:a16="http://schemas.microsoft.com/office/drawing/2014/main" id="{309745ED-7868-41D8-A855-646AA03550D6}"/>
              </a:ext>
            </a:extLst>
          </p:cNvPr>
          <p:cNvSpPr>
            <a:spLocks noGrp="1"/>
          </p:cNvSpPr>
          <p:nvPr/>
        </p:nvSpPr>
        <p:spPr>
          <a:xfrm>
            <a:off x="9189720" y="18402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9" name="Google Shape;208;p1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3202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308" name="CmdPanelBg308">
            <a:extLst>
              <a:ext uri="{FF2B5EF4-FFF2-40B4-BE49-F238E27FC236}">
                <a16:creationId xmlns="" xmlns:a16="http://schemas.microsoft.com/office/drawing/2014/main" id="{197D3A50-5E77-4326-844B-6CC5029342B2}"/>
              </a:ext>
            </a:extLst>
          </p:cNvPr>
          <p:cNvSpPr>
            <a:spLocks noGrp="1"/>
          </p:cNvSpPr>
          <p:nvPr/>
        </p:nvSpPr>
        <p:spPr>
          <a:xfrm>
            <a:off x="594360" y="4928499"/>
            <a:ext cx="11003280" cy="1480389"/>
          </a:xfrm>
          <a:prstGeom prst="roundRect">
            <a:avLst>
              <a:gd name="adj" fmla="val 4000"/>
            </a:avLst>
          </a:prstGeom>
          <a:solidFill>
            <a:srgbClr val="2D333B"/>
          </a:solidFill>
          <a:ln w="9525">
            <a:solidFill>
              <a:srgbClr val="F05033"/>
            </a:solidFill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CmdPanelTitle308">
            <a:extLst>
              <a:ext uri="{FF2B5EF4-FFF2-40B4-BE49-F238E27FC236}">
                <a16:creationId xmlns="" xmlns:a16="http://schemas.microsoft.com/office/drawing/2014/main" id="{FB0ACED5-2E2A-4272-841F-CC9B0D9A4E75}"/>
              </a:ext>
            </a:extLst>
          </p:cNvPr>
          <p:cNvSpPr>
            <a:spLocks noGrp="1"/>
          </p:cNvSpPr>
          <p:nvPr/>
        </p:nvSpPr>
        <p:spPr>
          <a:xfrm>
            <a:off x="814360" y="4988500"/>
            <a:ext cx="10563280" cy="34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この Part で扱う主なコマンド</a:t>
            </a:r>
          </a:p>
        </p:txBody>
      </p:sp>
      <p:sp>
        <p:nvSpPr>
          <p:cNvPr id="310" name="CmdPill308_0">
            <a:extLst>
              <a:ext uri="{FF2B5EF4-FFF2-40B4-BE49-F238E27FC236}">
                <a16:creationId xmlns="" xmlns:a16="http://schemas.microsoft.com/office/drawing/2014/main" id="{17E46CC6-2E66-44BB-A81A-FB21DC65654D}"/>
              </a:ext>
            </a:extLst>
          </p:cNvPr>
          <p:cNvSpPr>
            <a:spLocks noGrp="1"/>
          </p:cNvSpPr>
          <p:nvPr/>
        </p:nvSpPr>
        <p:spPr>
          <a:xfrm>
            <a:off x="814360" y="5416280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CmdPillTxt308_0">
            <a:extLst>
              <a:ext uri="{FF2B5EF4-FFF2-40B4-BE49-F238E27FC236}">
                <a16:creationId xmlns="" xmlns:a16="http://schemas.microsoft.com/office/drawing/2014/main" id="{B9A66A61-5198-4E7E-ACDF-58B716AFB2F0}"/>
              </a:ext>
            </a:extLst>
          </p:cNvPr>
          <p:cNvSpPr>
            <a:spLocks noGrp="1"/>
          </p:cNvSpPr>
          <p:nvPr/>
        </p:nvSpPr>
        <p:spPr>
          <a:xfrm>
            <a:off x="904360" y="53257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status</a:t>
            </a:r>
          </a:p>
        </p:txBody>
      </p:sp>
      <p:sp>
        <p:nvSpPr>
          <p:cNvPr id="312" name="CmdDesc308_0">
            <a:extLst>
              <a:ext uri="{FF2B5EF4-FFF2-40B4-BE49-F238E27FC236}">
                <a16:creationId xmlns="" xmlns:a16="http://schemas.microsoft.com/office/drawing/2014/main" id="{4A01C379-969C-48F0-BDFC-E745F00174BD}"/>
              </a:ext>
            </a:extLst>
          </p:cNvPr>
          <p:cNvSpPr>
            <a:spLocks noGrp="1"/>
          </p:cNvSpPr>
          <p:nvPr/>
        </p:nvSpPr>
        <p:spPr>
          <a:xfrm>
            <a:off x="4564360" y="5288500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変更状況（未追跡・未ステージ・ステージ済み）を確認する</a:t>
            </a:r>
          </a:p>
        </p:txBody>
      </p:sp>
      <p:sp>
        <p:nvSpPr>
          <p:cNvPr id="313" name="CmdPill308_1">
            <a:extLst>
              <a:ext uri="{FF2B5EF4-FFF2-40B4-BE49-F238E27FC236}">
                <a16:creationId xmlns="" xmlns:a16="http://schemas.microsoft.com/office/drawing/2014/main" id="{7B89C06B-4D55-4F63-BC21-7B04CCE7F1BC}"/>
              </a:ext>
            </a:extLst>
          </p:cNvPr>
          <p:cNvSpPr>
            <a:spLocks noGrp="1"/>
          </p:cNvSpPr>
          <p:nvPr/>
        </p:nvSpPr>
        <p:spPr>
          <a:xfrm>
            <a:off x="814360" y="5650780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CmdPillTxt308_1">
            <a:extLst>
              <a:ext uri="{FF2B5EF4-FFF2-40B4-BE49-F238E27FC236}">
                <a16:creationId xmlns="" xmlns:a16="http://schemas.microsoft.com/office/drawing/2014/main" id="{3CE55ED4-FABC-42AF-B068-3454D874C3D3}"/>
              </a:ext>
            </a:extLst>
          </p:cNvPr>
          <p:cNvSpPr>
            <a:spLocks noGrp="1"/>
          </p:cNvSpPr>
          <p:nvPr/>
        </p:nvSpPr>
        <p:spPr>
          <a:xfrm>
            <a:off x="904360" y="55602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diff</a:t>
            </a:r>
          </a:p>
        </p:txBody>
      </p:sp>
      <p:sp>
        <p:nvSpPr>
          <p:cNvPr id="315" name="CmdDesc308_1">
            <a:extLst>
              <a:ext uri="{FF2B5EF4-FFF2-40B4-BE49-F238E27FC236}">
                <a16:creationId xmlns="" xmlns:a16="http://schemas.microsoft.com/office/drawing/2014/main" id="{E08654B2-AB3C-4AF1-91F0-CD781E02659A}"/>
              </a:ext>
            </a:extLst>
          </p:cNvPr>
          <p:cNvSpPr>
            <a:spLocks noGrp="1"/>
          </p:cNvSpPr>
          <p:nvPr/>
        </p:nvSpPr>
        <p:spPr>
          <a:xfrm>
            <a:off x="4564360" y="5523000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ワーキングツリーとインデックスの差分を確認する</a:t>
            </a:r>
          </a:p>
        </p:txBody>
      </p:sp>
      <p:sp>
        <p:nvSpPr>
          <p:cNvPr id="316" name="CmdPill308_2">
            <a:extLst>
              <a:ext uri="{FF2B5EF4-FFF2-40B4-BE49-F238E27FC236}">
                <a16:creationId xmlns="" xmlns:a16="http://schemas.microsoft.com/office/drawing/2014/main" id="{68EF7883-40D0-4F87-A763-2BD8162E02C3}"/>
              </a:ext>
            </a:extLst>
          </p:cNvPr>
          <p:cNvSpPr>
            <a:spLocks noGrp="1"/>
          </p:cNvSpPr>
          <p:nvPr/>
        </p:nvSpPr>
        <p:spPr>
          <a:xfrm>
            <a:off x="814360" y="5885280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CmdPillTxt308_2">
            <a:extLst>
              <a:ext uri="{FF2B5EF4-FFF2-40B4-BE49-F238E27FC236}">
                <a16:creationId xmlns="" xmlns:a16="http://schemas.microsoft.com/office/drawing/2014/main" id="{70829D65-1BC0-410A-AC1C-68347A138817}"/>
              </a:ext>
            </a:extLst>
          </p:cNvPr>
          <p:cNvSpPr>
            <a:spLocks noGrp="1"/>
          </p:cNvSpPr>
          <p:nvPr/>
        </p:nvSpPr>
        <p:spPr>
          <a:xfrm>
            <a:off x="904360" y="57947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add &lt;ファイル名&gt;</a:t>
            </a:r>
          </a:p>
        </p:txBody>
      </p:sp>
      <p:sp>
        <p:nvSpPr>
          <p:cNvPr id="318" name="CmdDesc308_2">
            <a:extLst>
              <a:ext uri="{FF2B5EF4-FFF2-40B4-BE49-F238E27FC236}">
                <a16:creationId xmlns="" xmlns:a16="http://schemas.microsoft.com/office/drawing/2014/main" id="{2DC8DF73-B769-4BF9-BF42-33E88FED1ED0}"/>
              </a:ext>
            </a:extLst>
          </p:cNvPr>
          <p:cNvSpPr>
            <a:spLocks noGrp="1"/>
          </p:cNvSpPr>
          <p:nvPr/>
        </p:nvSpPr>
        <p:spPr>
          <a:xfrm>
            <a:off x="4564360" y="5757500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変更をインデックス（ステージング）へ登録する</a:t>
            </a:r>
          </a:p>
        </p:txBody>
      </p:sp>
      <p:sp>
        <p:nvSpPr>
          <p:cNvPr id="319" name="CmdPill308_3">
            <a:extLst>
              <a:ext uri="{FF2B5EF4-FFF2-40B4-BE49-F238E27FC236}">
                <a16:creationId xmlns="" xmlns:a16="http://schemas.microsoft.com/office/drawing/2014/main" id="{DC5870CE-BF6F-431B-BBFA-F91BDE8DFD27}"/>
              </a:ext>
            </a:extLst>
          </p:cNvPr>
          <p:cNvSpPr>
            <a:spLocks noGrp="1"/>
          </p:cNvSpPr>
          <p:nvPr/>
        </p:nvSpPr>
        <p:spPr>
          <a:xfrm>
            <a:off x="814360" y="6119780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CmdPillTxt308_3">
            <a:extLst>
              <a:ext uri="{FF2B5EF4-FFF2-40B4-BE49-F238E27FC236}">
                <a16:creationId xmlns="" xmlns:a16="http://schemas.microsoft.com/office/drawing/2014/main" id="{E0A87D47-BD55-4555-A7E4-3FC7ACC12F50}"/>
              </a:ext>
            </a:extLst>
          </p:cNvPr>
          <p:cNvSpPr>
            <a:spLocks noGrp="1"/>
          </p:cNvSpPr>
          <p:nvPr/>
        </p:nvSpPr>
        <p:spPr>
          <a:xfrm>
            <a:off x="904360" y="60292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commit -m "メッセージ"</a:t>
            </a:r>
          </a:p>
        </p:txBody>
      </p:sp>
      <p:sp>
        <p:nvSpPr>
          <p:cNvPr id="321" name="CmdDesc308_3">
            <a:extLst>
              <a:ext uri="{FF2B5EF4-FFF2-40B4-BE49-F238E27FC236}">
                <a16:creationId xmlns="" xmlns:a16="http://schemas.microsoft.com/office/drawing/2014/main" id="{1402B898-D1E1-464C-A380-511B821D3FE8}"/>
              </a:ext>
            </a:extLst>
          </p:cNvPr>
          <p:cNvSpPr>
            <a:spLocks noGrp="1"/>
          </p:cNvSpPr>
          <p:nvPr/>
        </p:nvSpPr>
        <p:spPr>
          <a:xfrm>
            <a:off x="4564360" y="5992000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ステージした内容をリポジトリの履歴に記録する</a:t>
            </a:r>
          </a:p>
        </p:txBody>
      </p:sp>
    </p:spTree>
    <p:extLst>
      <p:ext uri="{BB962C8B-B14F-4D97-AF65-F5344CB8AC3E}">
        <p14:creationId xmlns:p14="http://schemas.microsoft.com/office/powerpoint/2010/main" val="506845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>
            <a:extLst>
              <a:ext uri="{FF2B5EF4-FFF2-40B4-BE49-F238E27FC236}">
                <a16:creationId xmlns="" xmlns:a16="http://schemas.microsoft.com/office/drawing/2014/main" id="{404593D4-B448-46EE-B7B9-49499FB47E73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GITの3つの管理領域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15" name="Google Shape;215;p14">
            <a:extLst>
              <a:ext uri="{FF2B5EF4-FFF2-40B4-BE49-F238E27FC236}">
                <a16:creationId xmlns="" xmlns:a16="http://schemas.microsoft.com/office/drawing/2014/main" id="{2406E782-022D-4B86-B5CE-BB83B49CFE42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ワーキングツリー・インデックス・リポジトリ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16" name="Google Shape;216;p14">
            <a:extLst>
              <a:ext uri="{FF2B5EF4-FFF2-40B4-BE49-F238E27FC236}">
                <a16:creationId xmlns="" xmlns:a16="http://schemas.microsoft.com/office/drawing/2014/main" id="{C0EFA666-4DD0-4B83-9528-AA21860700B8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5 — Gitの3つの管理領域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17" name="Google Shape;217;p14">
            <a:extLst>
              <a:ext uri="{FF2B5EF4-FFF2-40B4-BE49-F238E27FC236}">
                <a16:creationId xmlns="" xmlns:a16="http://schemas.microsoft.com/office/drawing/2014/main" id="{607CAF43-55B0-49F5-A726-54FA0A372059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14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18" name="Google Shape;218;p14">
            <a:extLst>
              <a:ext uri="{FF2B5EF4-FFF2-40B4-BE49-F238E27FC236}">
                <a16:creationId xmlns="" xmlns:a16="http://schemas.microsoft.com/office/drawing/2014/main" id="{008CBAFF-0388-4844-8A53-A890345C76E5}"/>
              </a:ext>
            </a:extLst>
          </p:cNvPr>
          <p:cNvSpPr>
            <a:spLocks noGrp="1"/>
          </p:cNvSpPr>
          <p:nvPr/>
        </p:nvSpPr>
        <p:spPr>
          <a:xfrm>
            <a:off x="815188" y="2286000"/>
            <a:ext cx="2880360" cy="2468880"/>
          </a:xfrm>
          <a:prstGeom prst="roundRect">
            <a:avLst>
              <a:gd name="adj" fmla="val 4444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">
            <a:extLst>
              <a:ext uri="{FF2B5EF4-FFF2-40B4-BE49-F238E27FC236}">
                <a16:creationId xmlns="" xmlns:a16="http://schemas.microsoft.com/office/drawing/2014/main" id="{E466B151-51F2-407B-A286-26235E79D730}"/>
              </a:ext>
            </a:extLst>
          </p:cNvPr>
          <p:cNvSpPr>
            <a:spLocks noGrp="1"/>
          </p:cNvSpPr>
          <p:nvPr/>
        </p:nvSpPr>
        <p:spPr>
          <a:xfrm>
            <a:off x="1889608" y="25603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20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5172" y="2735885"/>
            <a:ext cx="380390" cy="380390"/>
          </a:xfrm>
          <a:prstGeom prst="rect">
            <a:avLst/>
          </a:prstGeom>
          <a:ln>
            <a:noFill/>
          </a:ln>
        </p:spPr>
      </p:pic>
      <p:sp>
        <p:nvSpPr>
          <p:cNvPr id="221" name="Google Shape;221;p14">
            <a:extLst>
              <a:ext uri="{FF2B5EF4-FFF2-40B4-BE49-F238E27FC236}">
                <a16:creationId xmlns="" xmlns:a16="http://schemas.microsoft.com/office/drawing/2014/main" id="{4345970F-241C-463A-AFD1-43E60D45C333}"/>
              </a:ext>
            </a:extLst>
          </p:cNvPr>
          <p:cNvSpPr>
            <a:spLocks noGrp="1"/>
          </p:cNvSpPr>
          <p:nvPr/>
        </p:nvSpPr>
        <p:spPr>
          <a:xfrm>
            <a:off x="815188" y="3429000"/>
            <a:ext cx="2880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ワーキングツリー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22" name="Google Shape;222;p14">
            <a:extLst>
              <a:ext uri="{FF2B5EF4-FFF2-40B4-BE49-F238E27FC236}">
                <a16:creationId xmlns="" xmlns:a16="http://schemas.microsoft.com/office/drawing/2014/main" id="{1A4A6C89-FC26-4F70-A9A1-4ED6FA323981}"/>
              </a:ext>
            </a:extLst>
          </p:cNvPr>
          <p:cNvSpPr>
            <a:spLocks noGrp="1"/>
          </p:cNvSpPr>
          <p:nvPr/>
        </p:nvSpPr>
        <p:spPr>
          <a:xfrm>
            <a:off x="998068" y="3822192"/>
            <a:ext cx="2514600" cy="114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作業ディレクトリ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(編集中のファイル)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23" name="Google Shape;223;p14">
            <a:extLst>
              <a:ext uri="{FF2B5EF4-FFF2-40B4-BE49-F238E27FC236}">
                <a16:creationId xmlns="" xmlns:a16="http://schemas.microsoft.com/office/drawing/2014/main" id="{9E0276EE-CBC6-4F72-B412-FA8104A532DC}"/>
              </a:ext>
            </a:extLst>
          </p:cNvPr>
          <p:cNvSpPr>
            <a:spLocks noGrp="1"/>
          </p:cNvSpPr>
          <p:nvPr/>
        </p:nvSpPr>
        <p:spPr>
          <a:xfrm>
            <a:off x="4655668" y="2286000"/>
            <a:ext cx="2880360" cy="2468880"/>
          </a:xfrm>
          <a:prstGeom prst="roundRect">
            <a:avLst>
              <a:gd name="adj" fmla="val 4444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4">
            <a:extLst>
              <a:ext uri="{FF2B5EF4-FFF2-40B4-BE49-F238E27FC236}">
                <a16:creationId xmlns="" xmlns:a16="http://schemas.microsoft.com/office/drawing/2014/main" id="{2108CF74-89FD-4AF7-844D-C5B5052373FF}"/>
              </a:ext>
            </a:extLst>
          </p:cNvPr>
          <p:cNvSpPr>
            <a:spLocks noGrp="1"/>
          </p:cNvSpPr>
          <p:nvPr/>
        </p:nvSpPr>
        <p:spPr>
          <a:xfrm>
            <a:off x="5730088" y="25603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" name="Google Shape;225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652" y="2735885"/>
            <a:ext cx="380390" cy="380390"/>
          </a:xfrm>
          <a:prstGeom prst="rect">
            <a:avLst/>
          </a:prstGeom>
          <a:ln>
            <a:noFill/>
          </a:ln>
        </p:spPr>
      </p:pic>
      <p:sp>
        <p:nvSpPr>
          <p:cNvPr id="226" name="Google Shape;226;p14">
            <a:extLst>
              <a:ext uri="{FF2B5EF4-FFF2-40B4-BE49-F238E27FC236}">
                <a16:creationId xmlns="" xmlns:a16="http://schemas.microsoft.com/office/drawing/2014/main" id="{4066C9B6-D3EA-403F-A590-CFCBC2521B62}"/>
              </a:ext>
            </a:extLst>
          </p:cNvPr>
          <p:cNvSpPr>
            <a:spLocks noGrp="1"/>
          </p:cNvSpPr>
          <p:nvPr/>
        </p:nvSpPr>
        <p:spPr>
          <a:xfrm>
            <a:off x="4655668" y="3429000"/>
            <a:ext cx="2880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Clr>
                <a:srgbClr val="24292E"/>
              </a:buClr>
              <a:buSzPts val="1500"/>
            </a:pPr>
            <a:r>
              <a:rPr lang="ja-JP" altLang="en-US" sz="1600" b="1" dirty="0" smtClean="0">
                <a:solidFill>
                  <a:srgbClr val="24292E"/>
                </a:solidFill>
                <a:ea typeface="HG丸ｺﾞｼｯｸM-PRO"/>
                <a:cs typeface="HG丸ｺﾞｼｯｸM-PRO"/>
              </a:rPr>
              <a:t>インデックス</a:t>
            </a:r>
            <a:endParaRPr lang="ja-JP" altLang="en-US" sz="1600" dirty="0">
              <a:solidFill>
                <a:srgbClr val="57606A"/>
              </a:solidFill>
              <a:ea typeface="HG丸ｺﾞｼｯｸM-PRO"/>
              <a:cs typeface="HG丸ｺﾞｼｯｸM-PRO"/>
            </a:endParaRPr>
          </a:p>
        </p:txBody>
      </p:sp>
      <p:sp>
        <p:nvSpPr>
          <p:cNvPr id="227" name="Google Shape;227;p14">
            <a:extLst>
              <a:ext uri="{FF2B5EF4-FFF2-40B4-BE49-F238E27FC236}">
                <a16:creationId xmlns="" xmlns:a16="http://schemas.microsoft.com/office/drawing/2014/main" id="{A8853582-8BD7-478F-9F25-8DB0B1B3310B}"/>
              </a:ext>
            </a:extLst>
          </p:cNvPr>
          <p:cNvSpPr>
            <a:spLocks noGrp="1"/>
          </p:cNvSpPr>
          <p:nvPr/>
        </p:nvSpPr>
        <p:spPr>
          <a:xfrm>
            <a:off x="4838548" y="3822192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buClr>
                <a:srgbClr val="57606A"/>
              </a:buClr>
              <a:buSzPts val="1150"/>
              <a:buNone/>
            </a:pPr>
            <a:r>
              <a:rPr lang="ja-JP" altLang="en-US" sz="1600" b="1" dirty="0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もしく</a:t>
            </a:r>
            <a:r>
              <a:rPr lang="ja-JP" altLang="en-US" sz="1600" b="1" dirty="0" smtClean="0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は</a:t>
            </a:r>
            <a:endParaRPr lang="en-US" altLang="ja-JP" sz="1600" b="1" dirty="0" smtClean="0">
              <a:solidFill>
                <a:srgbClr val="24292E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algn="ctr">
              <a:lnSpc>
                <a:spcPct val="130000"/>
              </a:lnSpc>
              <a:buClr>
                <a:srgbClr val="57606A"/>
              </a:buClr>
              <a:buSzPts val="1150"/>
              <a:buNone/>
            </a:pPr>
            <a:r>
              <a:rPr lang="ja-JP" altLang="en-US" sz="1600" b="1" dirty="0" smtClean="0">
                <a:solidFill>
                  <a:srgbClr val="24292E"/>
                </a:solidFill>
                <a:ea typeface="HG丸ｺﾞｼｯｸM-PRO"/>
                <a:cs typeface="HG丸ｺﾞｼｯｸM-PRO"/>
              </a:rPr>
              <a:t>ステージングエリア</a:t>
            </a:r>
            <a:endParaRPr lang="en-US" altLang="ja-JP" sz="1600" b="1" dirty="0" smtClean="0">
              <a:solidFill>
                <a:srgbClr val="24292E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 dirty="0" smtClean="0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(</a:t>
            </a:r>
            <a:r>
              <a:rPr sz="1600" b="0" i="0" u="none" cap="none" dirty="0" err="1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コミット予定の変更</a:t>
            </a:r>
            <a:r>
              <a:rPr sz="1600" b="0" i="0" u="none" cap="none" dirty="0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)</a:t>
            </a:r>
            <a:endParaRPr sz="11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28" name="Google Shape;228;p14">
            <a:extLst>
              <a:ext uri="{FF2B5EF4-FFF2-40B4-BE49-F238E27FC236}">
                <a16:creationId xmlns="" xmlns:a16="http://schemas.microsoft.com/office/drawing/2014/main" id="{E2EB0AA4-F09A-4476-876E-9F6FB468B28F}"/>
              </a:ext>
            </a:extLst>
          </p:cNvPr>
          <p:cNvSpPr>
            <a:spLocks noGrp="1"/>
          </p:cNvSpPr>
          <p:nvPr/>
        </p:nvSpPr>
        <p:spPr>
          <a:xfrm>
            <a:off x="8496148" y="2286000"/>
            <a:ext cx="2880360" cy="2468880"/>
          </a:xfrm>
          <a:prstGeom prst="roundRect">
            <a:avLst>
              <a:gd name="adj" fmla="val 4444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4">
            <a:extLst>
              <a:ext uri="{FF2B5EF4-FFF2-40B4-BE49-F238E27FC236}">
                <a16:creationId xmlns="" xmlns:a16="http://schemas.microsoft.com/office/drawing/2014/main" id="{90A781A6-DF68-4177-AE93-BBEC357D8A2E}"/>
              </a:ext>
            </a:extLst>
          </p:cNvPr>
          <p:cNvSpPr>
            <a:spLocks noGrp="1"/>
          </p:cNvSpPr>
          <p:nvPr/>
        </p:nvSpPr>
        <p:spPr>
          <a:xfrm>
            <a:off x="9570568" y="25603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30;p14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46132" y="2735885"/>
            <a:ext cx="380390" cy="380390"/>
          </a:xfrm>
          <a:prstGeom prst="rect">
            <a:avLst/>
          </a:prstGeom>
          <a:ln>
            <a:noFill/>
          </a:ln>
        </p:spPr>
      </p:pic>
      <p:sp>
        <p:nvSpPr>
          <p:cNvPr id="231" name="Google Shape;231;p14">
            <a:extLst>
              <a:ext uri="{FF2B5EF4-FFF2-40B4-BE49-F238E27FC236}">
                <a16:creationId xmlns="" xmlns:a16="http://schemas.microsoft.com/office/drawing/2014/main" id="{2B974D3B-38AE-4420-B3A7-AEB8FE3132BB}"/>
              </a:ext>
            </a:extLst>
          </p:cNvPr>
          <p:cNvSpPr>
            <a:spLocks noGrp="1"/>
          </p:cNvSpPr>
          <p:nvPr/>
        </p:nvSpPr>
        <p:spPr>
          <a:xfrm>
            <a:off x="8496148" y="3429000"/>
            <a:ext cx="2880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リポジトリ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32" name="Google Shape;232;p14">
            <a:extLst>
              <a:ext uri="{FF2B5EF4-FFF2-40B4-BE49-F238E27FC236}">
                <a16:creationId xmlns="" xmlns:a16="http://schemas.microsoft.com/office/drawing/2014/main" id="{551D00B8-3616-4088-B07D-140BDADEF4EF}"/>
              </a:ext>
            </a:extLst>
          </p:cNvPr>
          <p:cNvSpPr>
            <a:spLocks noGrp="1"/>
          </p:cNvSpPr>
          <p:nvPr/>
        </p:nvSpPr>
        <p:spPr>
          <a:xfrm>
            <a:off x="8679028" y="3822192"/>
            <a:ext cx="2514600" cy="114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コミット履歴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(.git ディレクトリ)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33" name="Google Shape;233;p14">
            <a:extLst>
              <a:ext uri="{FF2B5EF4-FFF2-40B4-BE49-F238E27FC236}">
                <a16:creationId xmlns="" xmlns:a16="http://schemas.microsoft.com/office/drawing/2014/main" id="{967850E7-FBE6-40AF-86F3-C36D339C47B0}"/>
              </a:ext>
            </a:extLst>
          </p:cNvPr>
          <p:cNvSpPr>
            <a:spLocks noGrp="1"/>
          </p:cNvSpPr>
          <p:nvPr/>
        </p:nvSpPr>
        <p:spPr>
          <a:xfrm>
            <a:off x="3932756" y="3026664"/>
            <a:ext cx="485704" cy="1051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4">
            <a:extLst>
              <a:ext uri="{FF2B5EF4-FFF2-40B4-BE49-F238E27FC236}">
                <a16:creationId xmlns="" xmlns:a16="http://schemas.microsoft.com/office/drawing/2014/main" id="{8FF062B6-97D9-4F12-AFE0-547893B39D6F}"/>
              </a:ext>
            </a:extLst>
          </p:cNvPr>
          <p:cNvSpPr>
            <a:spLocks noGrp="1"/>
          </p:cNvSpPr>
          <p:nvPr/>
        </p:nvSpPr>
        <p:spPr>
          <a:xfrm>
            <a:off x="1705860" y="214168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">
            <a:extLst>
              <a:ext uri="{FF2B5EF4-FFF2-40B4-BE49-F238E27FC236}">
                <a16:creationId xmlns="" xmlns:a16="http://schemas.microsoft.com/office/drawing/2014/main" id="{74F9F4F2-DCFB-4E27-8D7C-04C8DBD75DA4}"/>
              </a:ext>
            </a:extLst>
          </p:cNvPr>
          <p:cNvSpPr>
            <a:spLocks noGrp="1"/>
          </p:cNvSpPr>
          <p:nvPr/>
        </p:nvSpPr>
        <p:spPr>
          <a:xfrm>
            <a:off x="1752901" y="2051017"/>
            <a:ext cx="100584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add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37" name="Google Shape;237;p14">
            <a:extLst>
              <a:ext uri="{FF2B5EF4-FFF2-40B4-BE49-F238E27FC236}">
                <a16:creationId xmlns="" xmlns:a16="http://schemas.microsoft.com/office/drawing/2014/main" id="{D4E5D197-E571-4EF2-8735-746A27297306}"/>
              </a:ext>
            </a:extLst>
          </p:cNvPr>
          <p:cNvSpPr>
            <a:spLocks noGrp="1"/>
          </p:cNvSpPr>
          <p:nvPr/>
        </p:nvSpPr>
        <p:spPr>
          <a:xfrm>
            <a:off x="5399731" y="2101018"/>
            <a:ext cx="1428750" cy="310896"/>
          </a:xfrm>
          <a:prstGeom prst="roundRect">
            <a:avLst>
              <a:gd name="adj" fmla="val 1764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4">
            <a:extLst>
              <a:ext uri="{FF2B5EF4-FFF2-40B4-BE49-F238E27FC236}">
                <a16:creationId xmlns="" xmlns:a16="http://schemas.microsoft.com/office/drawing/2014/main" id="{E8657617-DA03-4E50-9F57-6C65F706F0CE}"/>
              </a:ext>
            </a:extLst>
          </p:cNvPr>
          <p:cNvSpPr>
            <a:spLocks noGrp="1"/>
          </p:cNvSpPr>
          <p:nvPr/>
        </p:nvSpPr>
        <p:spPr>
          <a:xfrm>
            <a:off x="5381625" y="2076450"/>
            <a:ext cx="1428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commit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39" name="Google Shape;239;p14">
            <a:extLst>
              <a:ext uri="{FF2B5EF4-FFF2-40B4-BE49-F238E27FC236}">
                <a16:creationId xmlns="" xmlns:a16="http://schemas.microsoft.com/office/drawing/2014/main" id="{C2A646C2-2D6F-4CC6-88A3-AB3578BBB3FF}"/>
              </a:ext>
            </a:extLst>
          </p:cNvPr>
          <p:cNvSpPr>
            <a:spLocks noGrp="1"/>
          </p:cNvSpPr>
          <p:nvPr/>
        </p:nvSpPr>
        <p:spPr>
          <a:xfrm>
            <a:off x="548640" y="5074920"/>
            <a:ext cx="11064240" cy="56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300"/>
              <a:buFont typeface="HG丸ｺﾞｼｯｸM-PRO"/>
              <a:buNone/>
            </a:pPr>
            <a:r>
              <a:rPr sz="1600" b="0" i="1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ワーキングツリーで編集 → git add でインデックスへ登録 → git commit でリポジトリに記録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8" name="Google Shape;233;p14">
            <a:extLst>
              <a:ext uri="{FF2B5EF4-FFF2-40B4-BE49-F238E27FC236}">
                <a16:creationId xmlns="" xmlns:a16="http://schemas.microsoft.com/office/drawing/2014/main" id="{A3090099-E898-4BFE-B2C8-B091D1EDC7DA}"/>
              </a:ext>
            </a:extLst>
          </p:cNvPr>
          <p:cNvSpPr>
            <a:spLocks noGrp="1"/>
          </p:cNvSpPr>
          <p:nvPr/>
        </p:nvSpPr>
        <p:spPr>
          <a:xfrm>
            <a:off x="7753884" y="3026664"/>
            <a:ext cx="485704" cy="1051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6;p14">
            <a:extLst>
              <a:ext uri="{FF2B5EF4-FFF2-40B4-BE49-F238E27FC236}">
                <a16:creationId xmlns="" xmlns:a16="http://schemas.microsoft.com/office/drawing/2014/main" id="{146F3775-B0F6-45A8-A21D-221FCD37B070}"/>
              </a:ext>
            </a:extLst>
          </p:cNvPr>
          <p:cNvSpPr>
            <a:spLocks noGrp="1"/>
          </p:cNvSpPr>
          <p:nvPr/>
        </p:nvSpPr>
        <p:spPr>
          <a:xfrm>
            <a:off x="4655668" y="377190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None/>
            </a:pPr>
            <a:endParaRPr sz="1500" b="1" i="0" u="none" cap="none">
              <a:solidFill>
                <a:srgbClr val="24292E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027350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>
            <a:extLst>
              <a:ext uri="{FF2B5EF4-FFF2-40B4-BE49-F238E27FC236}">
                <a16:creationId xmlns="" xmlns:a16="http://schemas.microsoft.com/office/drawing/2014/main" id="{004B03F8-BFED-4688-92D7-2D80573FF90E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GITの3つの管理領域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46" name="Google Shape;246;p15">
            <a:extLst>
              <a:ext uri="{FF2B5EF4-FFF2-40B4-BE49-F238E27FC236}">
                <a16:creationId xmlns="" xmlns:a16="http://schemas.microsoft.com/office/drawing/2014/main" id="{582B157F-7A4B-49C4-8C36-47EFF1B8B3D2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ワーキングツリーとは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47" name="Google Shape;247;p15">
            <a:extLst>
              <a:ext uri="{FF2B5EF4-FFF2-40B4-BE49-F238E27FC236}">
                <a16:creationId xmlns="" xmlns:a16="http://schemas.microsoft.com/office/drawing/2014/main" id="{14A736D6-AD19-4AF4-93E2-BC1A891834F2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960120" cy="960120"/>
          </a:xfrm>
          <a:prstGeom prst="ellipse">
            <a:avLst/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6" name="Google Shape;248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89" y="2013509"/>
            <a:ext cx="499262" cy="499262"/>
          </a:xfrm>
          <a:prstGeom prst="rect">
            <a:avLst/>
          </a:prstGeom>
          <a:ln>
            <a:noFill/>
          </a:ln>
        </p:spPr>
      </p:pic>
      <p:sp>
        <p:nvSpPr>
          <p:cNvPr id="249" name="Google Shape;249;p15">
            <a:extLst>
              <a:ext uri="{FF2B5EF4-FFF2-40B4-BE49-F238E27FC236}">
                <a16:creationId xmlns="" xmlns:a16="http://schemas.microsoft.com/office/drawing/2014/main" id="{400303C2-DACF-43DE-AC7D-9051576FE60A}"/>
              </a:ext>
            </a:extLst>
          </p:cNvPr>
          <p:cNvSpPr>
            <a:spLocks noGrp="1"/>
          </p:cNvSpPr>
          <p:nvPr/>
        </p:nvSpPr>
        <p:spPr>
          <a:xfrm>
            <a:off x="1828800" y="1783080"/>
            <a:ext cx="91440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実際にファイルを編集する作業場所（作業ディレクトリ）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PC上のエクスプローラーやエディタで見えているファイル・フォルダそのもの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ここでの変更はまだ Git の履歴には記録されていない状態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変更したいファイルを自由に編集・追加・削除できる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50" name="Google Shape;250;p15">
            <a:extLst>
              <a:ext uri="{FF2B5EF4-FFF2-40B4-BE49-F238E27FC236}">
                <a16:creationId xmlns="" xmlns:a16="http://schemas.microsoft.com/office/drawing/2014/main" id="{0523E278-1317-4043-954D-73F1E61AB85F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5 — Gitの3つの管理領域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51" name="Google Shape;251;p15">
            <a:extLst>
              <a:ext uri="{FF2B5EF4-FFF2-40B4-BE49-F238E27FC236}">
                <a16:creationId xmlns="" xmlns:a16="http://schemas.microsoft.com/office/drawing/2014/main" id="{1D7ECF11-85BD-42D6-BEB9-0F9FE78539C3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15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682037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>
            <a:extLst>
              <a:ext uri="{FF2B5EF4-FFF2-40B4-BE49-F238E27FC236}">
                <a16:creationId xmlns="" xmlns:a16="http://schemas.microsoft.com/office/drawing/2014/main" id="{1FF97B61-9613-42E6-B56D-11DA1BC34167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GITの3つの管理領域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58" name="Google Shape;258;p16">
            <a:extLst>
              <a:ext uri="{FF2B5EF4-FFF2-40B4-BE49-F238E27FC236}">
                <a16:creationId xmlns="" xmlns:a16="http://schemas.microsoft.com/office/drawing/2014/main" id="{E12990EB-1F7B-4F59-82B3-4E2D483BD470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lvl="0">
              <a:buClr>
                <a:srgbClr val="24292E"/>
              </a:buClr>
              <a:buSzPts val="3000"/>
              <a:buNone/>
            </a:pPr>
            <a:r>
              <a:rPr sz="3000" b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ステージング </a:t>
            </a: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（</a:t>
            </a:r>
            <a:r>
              <a:rPr sz="3000" b="1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 インデックス </a:t>
            </a: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）とは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59" name="Google Shape;259;p16">
            <a:extLst>
              <a:ext uri="{FF2B5EF4-FFF2-40B4-BE49-F238E27FC236}">
                <a16:creationId xmlns="" xmlns:a16="http://schemas.microsoft.com/office/drawing/2014/main" id="{A6522168-7886-47D2-87B1-D71F062D7BB0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960120" cy="960120"/>
          </a:xfrm>
          <a:prstGeom prst="ellipse">
            <a:avLst/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" name="Google Shape;260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89" y="2013509"/>
            <a:ext cx="499262" cy="499262"/>
          </a:xfrm>
          <a:prstGeom prst="rect">
            <a:avLst/>
          </a:prstGeom>
          <a:ln>
            <a:noFill/>
          </a:ln>
        </p:spPr>
      </p:pic>
      <p:sp>
        <p:nvSpPr>
          <p:cNvPr id="261" name="Google Shape;261;p16">
            <a:extLst>
              <a:ext uri="{FF2B5EF4-FFF2-40B4-BE49-F238E27FC236}">
                <a16:creationId xmlns="" xmlns:a16="http://schemas.microsoft.com/office/drawing/2014/main" id="{7C16D550-7E26-4CAA-A732-A1C93C7F70FE}"/>
              </a:ext>
            </a:extLst>
          </p:cNvPr>
          <p:cNvSpPr>
            <a:spLocks noGrp="1"/>
          </p:cNvSpPr>
          <p:nvPr/>
        </p:nvSpPr>
        <p:spPr>
          <a:xfrm>
            <a:off x="1828800" y="1783080"/>
            <a:ext cx="5943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コミットする変更を一時的に登録しておく場所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add コマンドで、ワーキングツリーの変更をインデックスに追加する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ファイル単位・変更単位で「コミットしたい変更だけ」を選んで登録できる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インデックスに登録した内容が、次回コミットの対象になる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62" name="Google Shape;262;p16">
            <a:extLst>
              <a:ext uri="{FF2B5EF4-FFF2-40B4-BE49-F238E27FC236}">
                <a16:creationId xmlns="" xmlns:a16="http://schemas.microsoft.com/office/drawing/2014/main" id="{E8E9EB98-D0F0-4E22-A035-299C841D50E4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6">
            <a:extLst>
              <a:ext uri="{FF2B5EF4-FFF2-40B4-BE49-F238E27FC236}">
                <a16:creationId xmlns="" xmlns:a16="http://schemas.microsoft.com/office/drawing/2014/main" id="{2B54B4CE-2FF2-4CC6-BCA5-5F359CAF7AC4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6">
            <a:extLst>
              <a:ext uri="{FF2B5EF4-FFF2-40B4-BE49-F238E27FC236}">
                <a16:creationId xmlns="" xmlns:a16="http://schemas.microsoft.com/office/drawing/2014/main" id="{6E3C3734-B00E-4E6A-9708-AA066D12835B}"/>
              </a:ext>
            </a:extLst>
          </p:cNvPr>
          <p:cNvSpPr>
            <a:spLocks noGrp="1"/>
          </p:cNvSpPr>
          <p:nvPr/>
        </p:nvSpPr>
        <p:spPr>
          <a:xfrm>
            <a:off x="8412480" y="1938528"/>
            <a:ext cx="28803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1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コマンド例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65" name="Google Shape;265;p16">
            <a:extLst>
              <a:ext uri="{FF2B5EF4-FFF2-40B4-BE49-F238E27FC236}">
                <a16:creationId xmlns="" xmlns:a16="http://schemas.microsoft.com/office/drawing/2014/main" id="{CFCBFA3F-8178-4D8F-B0C1-697935328C74}"/>
              </a:ext>
            </a:extLst>
          </p:cNvPr>
          <p:cNvSpPr>
            <a:spLocks noGrp="1"/>
          </p:cNvSpPr>
          <p:nvPr/>
        </p:nvSpPr>
        <p:spPr>
          <a:xfrm>
            <a:off x="8412480" y="2377440"/>
            <a:ext cx="2880360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add ファイル名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（例）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add README.md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G丸ｺﾞｼｯｸM-PRO"/>
              <a:buNone/>
            </a:pP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変更をすべて追加する場合：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add .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66" name="Google Shape;266;p16">
            <a:extLst>
              <a:ext uri="{FF2B5EF4-FFF2-40B4-BE49-F238E27FC236}">
                <a16:creationId xmlns="" xmlns:a16="http://schemas.microsoft.com/office/drawing/2014/main" id="{3920D4A4-BC75-4D85-B1BC-E0D87B695C26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5 — Gitの3つの管理領域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67" name="Google Shape;267;p16">
            <a:extLst>
              <a:ext uri="{FF2B5EF4-FFF2-40B4-BE49-F238E27FC236}">
                <a16:creationId xmlns="" xmlns:a16="http://schemas.microsoft.com/office/drawing/2014/main" id="{09334C7B-3C41-4288-9C68-9E8B30567292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16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455987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">
            <a:extLst>
              <a:ext uri="{FF2B5EF4-FFF2-40B4-BE49-F238E27FC236}">
                <a16:creationId xmlns="" xmlns:a16="http://schemas.microsoft.com/office/drawing/2014/main" id="{C4BF73D8-7800-4267-81E0-12B8C4247119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GITの3つの管理領域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74" name="Google Shape;274;p17">
            <a:extLst>
              <a:ext uri="{FF2B5EF4-FFF2-40B4-BE49-F238E27FC236}">
                <a16:creationId xmlns="" xmlns:a16="http://schemas.microsoft.com/office/drawing/2014/main" id="{056A74F4-168D-4F90-987E-9920ACD45C14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コミットとは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75" name="Google Shape;275;p17">
            <a:extLst>
              <a:ext uri="{FF2B5EF4-FFF2-40B4-BE49-F238E27FC236}">
                <a16:creationId xmlns="" xmlns:a16="http://schemas.microsoft.com/office/drawing/2014/main" id="{DD3928F5-A838-41B0-97CD-946D1E8BA9B4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960120" cy="960120"/>
          </a:xfrm>
          <a:prstGeom prst="ellipse">
            <a:avLst/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8" name="Google Shape;276;p1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89" y="2013509"/>
            <a:ext cx="499262" cy="499262"/>
          </a:xfrm>
          <a:prstGeom prst="rect">
            <a:avLst/>
          </a:prstGeom>
          <a:ln>
            <a:noFill/>
          </a:ln>
        </p:spPr>
      </p:pic>
      <p:sp>
        <p:nvSpPr>
          <p:cNvPr id="277" name="Google Shape;277;p17">
            <a:extLst>
              <a:ext uri="{FF2B5EF4-FFF2-40B4-BE49-F238E27FC236}">
                <a16:creationId xmlns="" xmlns:a16="http://schemas.microsoft.com/office/drawing/2014/main" id="{5B64F3B5-4D25-4527-AB0B-7D5CEAF5510B}"/>
              </a:ext>
            </a:extLst>
          </p:cNvPr>
          <p:cNvSpPr>
            <a:spLocks noGrp="1"/>
          </p:cNvSpPr>
          <p:nvPr/>
        </p:nvSpPr>
        <p:spPr>
          <a:xfrm>
            <a:off x="1828800" y="1783080"/>
            <a:ext cx="5943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インデックスの内容を、リポジトリの履歴として正式に記録すること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commit コマンドで実行する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「誰が・いつ・何を変更したか」がコミットとして記録される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コミットメッセージに変更内容や理由を記述し、後から履歴を追いやすくする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78" name="Google Shape;278;p17">
            <a:extLst>
              <a:ext uri="{FF2B5EF4-FFF2-40B4-BE49-F238E27FC236}">
                <a16:creationId xmlns="" xmlns:a16="http://schemas.microsoft.com/office/drawing/2014/main" id="{40D26645-070D-481E-9579-D32A99AC3A0C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">
            <a:extLst>
              <a:ext uri="{FF2B5EF4-FFF2-40B4-BE49-F238E27FC236}">
                <a16:creationId xmlns="" xmlns:a16="http://schemas.microsoft.com/office/drawing/2014/main" id="{FE218433-A117-4576-B5E4-C2AE76726AEF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7">
            <a:extLst>
              <a:ext uri="{FF2B5EF4-FFF2-40B4-BE49-F238E27FC236}">
                <a16:creationId xmlns="" xmlns:a16="http://schemas.microsoft.com/office/drawing/2014/main" id="{E2101767-4CB8-4A5D-8E6C-2B4F2E071635}"/>
              </a:ext>
            </a:extLst>
          </p:cNvPr>
          <p:cNvSpPr>
            <a:spLocks noGrp="1"/>
          </p:cNvSpPr>
          <p:nvPr/>
        </p:nvSpPr>
        <p:spPr>
          <a:xfrm>
            <a:off x="8412480" y="1938528"/>
            <a:ext cx="28803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1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コマンド例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81" name="Google Shape;281;p17">
            <a:extLst>
              <a:ext uri="{FF2B5EF4-FFF2-40B4-BE49-F238E27FC236}">
                <a16:creationId xmlns="" xmlns:a16="http://schemas.microsoft.com/office/drawing/2014/main" id="{296D9C8C-4946-4C3C-90FD-4395C607A90C}"/>
              </a:ext>
            </a:extLst>
          </p:cNvPr>
          <p:cNvSpPr>
            <a:spLocks noGrp="1"/>
          </p:cNvSpPr>
          <p:nvPr/>
        </p:nvSpPr>
        <p:spPr>
          <a:xfrm>
            <a:off x="8412480" y="2377440"/>
            <a:ext cx="2880360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commit -m "コミットメッセージ"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G丸ｺﾞｼｯｸM-PRO"/>
              <a:buNone/>
            </a:pP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（例）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commit -m "READMEに使い方を追記"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82" name="Google Shape;282;p17">
            <a:extLst>
              <a:ext uri="{FF2B5EF4-FFF2-40B4-BE49-F238E27FC236}">
                <a16:creationId xmlns="" xmlns:a16="http://schemas.microsoft.com/office/drawing/2014/main" id="{E6EADDD7-2881-41AC-BA9F-7814DF369559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5 — Gitの3つの管理領域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83" name="Google Shape;283;p17">
            <a:extLst>
              <a:ext uri="{FF2B5EF4-FFF2-40B4-BE49-F238E27FC236}">
                <a16:creationId xmlns="" xmlns:a16="http://schemas.microsoft.com/office/drawing/2014/main" id="{026811EC-5CA1-4CE8-B2A8-0F74D280E259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17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781312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>
            <a:extLst>
              <a:ext uri="{FF2B5EF4-FFF2-40B4-BE49-F238E27FC236}">
                <a16:creationId xmlns="" xmlns:a16="http://schemas.microsoft.com/office/drawing/2014/main" id="{611D0472-9454-4723-9E78-4C4651CD7C9C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GITの3つの管理領域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90" name="Google Shape;290;p18">
            <a:extLst>
              <a:ext uri="{FF2B5EF4-FFF2-40B4-BE49-F238E27FC236}">
                <a16:creationId xmlns="" xmlns:a16="http://schemas.microsoft.com/office/drawing/2014/main" id="{CB4CAFFF-18D5-4595-ABEA-A2AC043F9E15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ローカル環境でのステージングと監視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91" name="Google Shape;291;p18">
            <a:extLst>
              <a:ext uri="{FF2B5EF4-FFF2-40B4-BE49-F238E27FC236}">
                <a16:creationId xmlns="" xmlns:a16="http://schemas.microsoft.com/office/drawing/2014/main" id="{0EA2134E-213E-4F9E-8908-A7BF08FF027A}"/>
              </a:ext>
            </a:extLst>
          </p:cNvPr>
          <p:cNvSpPr>
            <a:spLocks noGrp="1"/>
          </p:cNvSpPr>
          <p:nvPr/>
        </p:nvSpPr>
        <p:spPr>
          <a:xfrm>
            <a:off x="552450" y="1781175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3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日々の作業では、4つのコマンドで変更を確認・記録します。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92" name="Google Shape;292;p18">
            <a:extLst>
              <a:ext uri="{FF2B5EF4-FFF2-40B4-BE49-F238E27FC236}">
                <a16:creationId xmlns="" xmlns:a16="http://schemas.microsoft.com/office/drawing/2014/main" id="{7356F6D5-7428-4755-83A0-4D712FDD002D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8">
            <a:extLst>
              <a:ext uri="{FF2B5EF4-FFF2-40B4-BE49-F238E27FC236}">
                <a16:creationId xmlns="" xmlns:a16="http://schemas.microsoft.com/office/drawing/2014/main" id="{9E6A9E2C-BD94-4E97-ADA2-E03EFA64C79E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status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94" name="Google Shape;294;p18">
            <a:extLst>
              <a:ext uri="{FF2B5EF4-FFF2-40B4-BE49-F238E27FC236}">
                <a16:creationId xmlns="" xmlns:a16="http://schemas.microsoft.com/office/drawing/2014/main" id="{CF822A69-7A83-4AF0-A170-7DE930549CA7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64008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変更状況を確認する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95" name="Google Shape;295;p18">
            <a:extLst>
              <a:ext uri="{FF2B5EF4-FFF2-40B4-BE49-F238E27FC236}">
                <a16:creationId xmlns="" xmlns:a16="http://schemas.microsoft.com/office/drawing/2014/main" id="{1CF73469-2354-44FA-A40F-035DA4739630}"/>
              </a:ext>
            </a:extLst>
          </p:cNvPr>
          <p:cNvSpPr>
            <a:spLocks noGrp="1"/>
          </p:cNvSpPr>
          <p:nvPr/>
        </p:nvSpPr>
        <p:spPr>
          <a:xfrm>
            <a:off x="548640" y="3236976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8">
            <a:extLst>
              <a:ext uri="{FF2B5EF4-FFF2-40B4-BE49-F238E27FC236}">
                <a16:creationId xmlns="" xmlns:a16="http://schemas.microsoft.com/office/drawing/2014/main" id="{B12F5E8C-AA44-4BD6-BD03-63ED9879A2BE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diff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97" name="Google Shape;297;p18">
            <a:extLst>
              <a:ext uri="{FF2B5EF4-FFF2-40B4-BE49-F238E27FC236}">
                <a16:creationId xmlns="" xmlns:a16="http://schemas.microsoft.com/office/drawing/2014/main" id="{D963DD16-DDF4-4DF6-8330-6F0044B49A51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64008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未ステージの差分を確認する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98" name="Google Shape;298;p18">
            <a:extLst>
              <a:ext uri="{FF2B5EF4-FFF2-40B4-BE49-F238E27FC236}">
                <a16:creationId xmlns="" xmlns:a16="http://schemas.microsoft.com/office/drawing/2014/main" id="{10DFED0A-9659-457D-9ADD-033D580B86CA}"/>
              </a:ext>
            </a:extLst>
          </p:cNvPr>
          <p:cNvSpPr>
            <a:spLocks noGrp="1"/>
          </p:cNvSpPr>
          <p:nvPr/>
        </p:nvSpPr>
        <p:spPr>
          <a:xfrm>
            <a:off x="548640" y="4187952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8">
            <a:extLst>
              <a:ext uri="{FF2B5EF4-FFF2-40B4-BE49-F238E27FC236}">
                <a16:creationId xmlns="" xmlns:a16="http://schemas.microsoft.com/office/drawing/2014/main" id="{310A5681-040D-4B82-87DD-4B74280A7F83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add &lt;ファイル名&gt;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0" name="Google Shape;300;p18">
            <a:extLst>
              <a:ext uri="{FF2B5EF4-FFF2-40B4-BE49-F238E27FC236}">
                <a16:creationId xmlns="" xmlns:a16="http://schemas.microsoft.com/office/drawing/2014/main" id="{BB0E5454-AD79-498B-A65E-66738BCD173F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64008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変更をインデックスへ登録する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1" name="Google Shape;301;p18">
            <a:extLst>
              <a:ext uri="{FF2B5EF4-FFF2-40B4-BE49-F238E27FC236}">
                <a16:creationId xmlns="" xmlns:a16="http://schemas.microsoft.com/office/drawing/2014/main" id="{2CA894FF-5038-410D-8FE5-B644CA8A50A6}"/>
              </a:ext>
            </a:extLst>
          </p:cNvPr>
          <p:cNvSpPr>
            <a:spLocks noGrp="1"/>
          </p:cNvSpPr>
          <p:nvPr/>
        </p:nvSpPr>
        <p:spPr>
          <a:xfrm>
            <a:off x="548640" y="5138928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8">
            <a:extLst>
              <a:ext uri="{FF2B5EF4-FFF2-40B4-BE49-F238E27FC236}">
                <a16:creationId xmlns="" xmlns:a16="http://schemas.microsoft.com/office/drawing/2014/main" id="{E8293AC2-340F-419C-9D6B-6405E36823DB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commit -m "メッセージ"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3" name="Google Shape;303;p18">
            <a:extLst>
              <a:ext uri="{FF2B5EF4-FFF2-40B4-BE49-F238E27FC236}">
                <a16:creationId xmlns="" xmlns:a16="http://schemas.microsoft.com/office/drawing/2014/main" id="{24E558BC-450A-4183-B24C-330A89C0E961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64008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ステージ済みの変更を履歴へ記録する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4" name="Google Shape;304;p18">
            <a:extLst>
              <a:ext uri="{FF2B5EF4-FFF2-40B4-BE49-F238E27FC236}">
                <a16:creationId xmlns="" xmlns:a16="http://schemas.microsoft.com/office/drawing/2014/main" id="{16C0562C-B069-412F-8F87-60860065F9EA}"/>
              </a:ext>
            </a:extLst>
          </p:cNvPr>
          <p:cNvSpPr>
            <a:spLocks noGrp="1"/>
          </p:cNvSpPr>
          <p:nvPr/>
        </p:nvSpPr>
        <p:spPr>
          <a:xfrm>
            <a:off x="7772400" y="1783080"/>
            <a:ext cx="3886200" cy="4160520"/>
          </a:xfrm>
          <a:prstGeom prst="roundRect">
            <a:avLst>
              <a:gd name="adj" fmla="val 2353"/>
            </a:avLst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">
            <a:extLst>
              <a:ext uri="{FF2B5EF4-FFF2-40B4-BE49-F238E27FC236}">
                <a16:creationId xmlns="" xmlns:a16="http://schemas.microsoft.com/office/drawing/2014/main" id="{09CE84E0-BF78-4F33-B959-DE5A3B0C732C}"/>
              </a:ext>
            </a:extLst>
          </p:cNvPr>
          <p:cNvSpPr>
            <a:spLocks noGrp="1"/>
          </p:cNvSpPr>
          <p:nvPr/>
        </p:nvSpPr>
        <p:spPr>
          <a:xfrm>
            <a:off x="8046720" y="2011680"/>
            <a:ext cx="33375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23B22"/>
              </a:buClr>
              <a:buSzPts val="1100"/>
              <a:buFont typeface="HG丸ｺﾞｼｯｸM-PRO"/>
              <a:buNone/>
            </a:pPr>
            <a:r>
              <a:rPr sz="1600" b="1" i="0" u="none" cap="none">
                <a:solidFill>
                  <a:srgbClr val="C23B22"/>
                </a:solidFill>
                <a:latin typeface="HG丸ｺﾞｼｯｸM-PRO"/>
                <a:ea typeface="HG丸ｺﾞｼｯｸM-PRO"/>
                <a:cs typeface="HG丸ｺﾞｼｯｸM-PRO"/>
              </a:rPr>
              <a:t>基本の流れ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6" name="Google Shape;306;p18">
            <a:extLst>
              <a:ext uri="{FF2B5EF4-FFF2-40B4-BE49-F238E27FC236}">
                <a16:creationId xmlns="" xmlns:a16="http://schemas.microsoft.com/office/drawing/2014/main" id="{2DCAEA5D-E619-477A-AD08-F67578B24690}"/>
              </a:ext>
            </a:extLst>
          </p:cNvPr>
          <p:cNvSpPr>
            <a:spLocks noGrp="1"/>
          </p:cNvSpPr>
          <p:nvPr/>
        </p:nvSpPr>
        <p:spPr>
          <a:xfrm>
            <a:off x="8048625" y="2333625"/>
            <a:ext cx="333375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編集する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↓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status で確認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↓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diff で内容確認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↓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add でステージ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↓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commit で記録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G丸ｺﾞｼｯｸM-PRO"/>
              <a:buNone/>
            </a:pP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この流れを繰り返します。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7" name="Google Shape;307;p18">
            <a:extLst>
              <a:ext uri="{FF2B5EF4-FFF2-40B4-BE49-F238E27FC236}">
                <a16:creationId xmlns="" xmlns:a16="http://schemas.microsoft.com/office/drawing/2014/main" id="{1179910E-275A-4F34-B7CF-524FD8BFBFD9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5 — Gitの3つの管理領域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8" name="Google Shape;308;p18">
            <a:extLst>
              <a:ext uri="{FF2B5EF4-FFF2-40B4-BE49-F238E27FC236}">
                <a16:creationId xmlns="" xmlns:a16="http://schemas.microsoft.com/office/drawing/2014/main" id="{C24393A1-A450-44AE-8D61-0B0DD3FEC60A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18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820814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>
            <a:extLst>
              <a:ext uri="{FF2B5EF4-FFF2-40B4-BE49-F238E27FC236}">
                <a16:creationId xmlns="" xmlns:a16="http://schemas.microsoft.com/office/drawing/2014/main" id="{6F277B1A-E7CE-4018-A34C-6056633E8A40}"/>
              </a:ext>
            </a:extLst>
          </p:cNvPr>
          <p:cNvSpPr>
            <a:spLocks noGrp="1"/>
          </p:cNvSpPr>
          <p:nvPr/>
        </p:nvSpPr>
        <p:spPr>
          <a:xfrm>
            <a:off x="640080" y="14744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15" name="Google Shape;315;p19">
            <a:extLst>
              <a:ext uri="{FF2B5EF4-FFF2-40B4-BE49-F238E27FC236}">
                <a16:creationId xmlns="" xmlns:a16="http://schemas.microsoft.com/office/drawing/2014/main" id="{0BC67CDC-1A4D-4D2D-9FF2-417FFB66276B}"/>
              </a:ext>
            </a:extLst>
          </p:cNvPr>
          <p:cNvSpPr>
            <a:spLocks noGrp="1"/>
          </p:cNvSpPr>
          <p:nvPr/>
        </p:nvSpPr>
        <p:spPr>
          <a:xfrm>
            <a:off x="594360" y="16573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06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437" name="Google Shape;316;p19"/>
          <p:cNvCxnSpPr/>
          <p:nvPr/>
        </p:nvCxnSpPr>
        <p:spPr>
          <a:xfrm>
            <a:off x="640080" y="32118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7" name="Google Shape;317;p19">
            <a:extLst>
              <a:ext uri="{FF2B5EF4-FFF2-40B4-BE49-F238E27FC236}">
                <a16:creationId xmlns="" xmlns:a16="http://schemas.microsoft.com/office/drawing/2014/main" id="{1F7EA7D2-9CF9-4217-8C7A-167B90414F73}"/>
              </a:ext>
            </a:extLst>
          </p:cNvPr>
          <p:cNvSpPr>
            <a:spLocks noGrp="1"/>
          </p:cNvSpPr>
          <p:nvPr/>
        </p:nvSpPr>
        <p:spPr>
          <a:xfrm>
            <a:off x="621792" y="33947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リモートとの連携　GitHub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18" name="Google Shape;318;p19">
            <a:extLst>
              <a:ext uri="{FF2B5EF4-FFF2-40B4-BE49-F238E27FC236}">
                <a16:creationId xmlns="" xmlns:a16="http://schemas.microsoft.com/office/drawing/2014/main" id="{7D9A11DA-DFDE-4E78-91FB-EE2BE09E9B72}"/>
              </a:ext>
            </a:extLst>
          </p:cNvPr>
          <p:cNvSpPr>
            <a:spLocks noGrp="1"/>
          </p:cNvSpPr>
          <p:nvPr/>
        </p:nvSpPr>
        <p:spPr>
          <a:xfrm>
            <a:off x="640080" y="43091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push・clone・pull・checkout・diff — リモートリポジトリとやり取りする基本コマンド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19" name="Google Shape;319;p19">
            <a:extLst>
              <a:ext uri="{FF2B5EF4-FFF2-40B4-BE49-F238E27FC236}">
                <a16:creationId xmlns="" xmlns:a16="http://schemas.microsoft.com/office/drawing/2014/main" id="{AC2B91D4-EE26-4EE5-956B-F53DECF91B63}"/>
              </a:ext>
            </a:extLst>
          </p:cNvPr>
          <p:cNvSpPr>
            <a:spLocks noGrp="1"/>
          </p:cNvSpPr>
          <p:nvPr/>
        </p:nvSpPr>
        <p:spPr>
          <a:xfrm>
            <a:off x="9189720" y="18402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1" name="Google Shape;320;p1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3202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420" name="CmdPanelBg420">
            <a:extLst>
              <a:ext uri="{FF2B5EF4-FFF2-40B4-BE49-F238E27FC236}">
                <a16:creationId xmlns="" xmlns:a16="http://schemas.microsoft.com/office/drawing/2014/main" id="{D16B332B-1D91-40B0-9E8E-35C9BD443246}"/>
              </a:ext>
            </a:extLst>
          </p:cNvPr>
          <p:cNvSpPr>
            <a:spLocks noGrp="1"/>
          </p:cNvSpPr>
          <p:nvPr/>
        </p:nvSpPr>
        <p:spPr>
          <a:xfrm>
            <a:off x="594360" y="4928499"/>
            <a:ext cx="11003280" cy="1480389"/>
          </a:xfrm>
          <a:prstGeom prst="roundRect">
            <a:avLst>
              <a:gd name="adj" fmla="val 4000"/>
            </a:avLst>
          </a:prstGeom>
          <a:solidFill>
            <a:srgbClr val="2D333B"/>
          </a:solidFill>
          <a:ln w="9525">
            <a:solidFill>
              <a:srgbClr val="F05033"/>
            </a:solidFill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CmdPanelTitle420">
            <a:extLst>
              <a:ext uri="{FF2B5EF4-FFF2-40B4-BE49-F238E27FC236}">
                <a16:creationId xmlns="" xmlns:a16="http://schemas.microsoft.com/office/drawing/2014/main" id="{5CB1B605-8DB3-47C4-85EB-49581C9E215D}"/>
              </a:ext>
            </a:extLst>
          </p:cNvPr>
          <p:cNvSpPr>
            <a:spLocks noGrp="1"/>
          </p:cNvSpPr>
          <p:nvPr/>
        </p:nvSpPr>
        <p:spPr>
          <a:xfrm>
            <a:off x="814360" y="4988500"/>
            <a:ext cx="10563280" cy="34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この Part で扱う主なコマンド</a:t>
            </a:r>
          </a:p>
        </p:txBody>
      </p:sp>
      <p:sp>
        <p:nvSpPr>
          <p:cNvPr id="422" name="CmdPill420_0">
            <a:extLst>
              <a:ext uri="{FF2B5EF4-FFF2-40B4-BE49-F238E27FC236}">
                <a16:creationId xmlns="" xmlns:a16="http://schemas.microsoft.com/office/drawing/2014/main" id="{8CBBAD1B-6825-4E76-9AB5-C06D8A626CD3}"/>
              </a:ext>
            </a:extLst>
          </p:cNvPr>
          <p:cNvSpPr>
            <a:spLocks noGrp="1"/>
          </p:cNvSpPr>
          <p:nvPr/>
        </p:nvSpPr>
        <p:spPr>
          <a:xfrm>
            <a:off x="814360" y="5407227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CmdPillTxt420_0">
            <a:extLst>
              <a:ext uri="{FF2B5EF4-FFF2-40B4-BE49-F238E27FC236}">
                <a16:creationId xmlns="" xmlns:a16="http://schemas.microsoft.com/office/drawing/2014/main" id="{4289022F-D9FE-4C73-A900-5A93E0052E88}"/>
              </a:ext>
            </a:extLst>
          </p:cNvPr>
          <p:cNvSpPr>
            <a:spLocks noGrp="1"/>
          </p:cNvSpPr>
          <p:nvPr/>
        </p:nvSpPr>
        <p:spPr>
          <a:xfrm>
            <a:off x="904360" y="53257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clone &lt;URL&gt;</a:t>
            </a:r>
          </a:p>
        </p:txBody>
      </p:sp>
      <p:sp>
        <p:nvSpPr>
          <p:cNvPr id="424" name="CmdDesc420_0">
            <a:extLst>
              <a:ext uri="{FF2B5EF4-FFF2-40B4-BE49-F238E27FC236}">
                <a16:creationId xmlns="" xmlns:a16="http://schemas.microsoft.com/office/drawing/2014/main" id="{F150C322-11C2-4E0B-ADD7-0580CC5E9EE6}"/>
              </a:ext>
            </a:extLst>
          </p:cNvPr>
          <p:cNvSpPr>
            <a:spLocks noGrp="1"/>
          </p:cNvSpPr>
          <p:nvPr/>
        </p:nvSpPr>
        <p:spPr>
          <a:xfrm>
            <a:off x="4564360" y="5288500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リモートリポジトリを丸ごと複製してローカルに取得する</a:t>
            </a:r>
          </a:p>
        </p:txBody>
      </p:sp>
      <p:sp>
        <p:nvSpPr>
          <p:cNvPr id="425" name="CmdPill420_1">
            <a:extLst>
              <a:ext uri="{FF2B5EF4-FFF2-40B4-BE49-F238E27FC236}">
                <a16:creationId xmlns="" xmlns:a16="http://schemas.microsoft.com/office/drawing/2014/main" id="{8DAEF53F-9684-47A5-914A-99A463ADFCCB}"/>
              </a:ext>
            </a:extLst>
          </p:cNvPr>
          <p:cNvSpPr>
            <a:spLocks noGrp="1"/>
          </p:cNvSpPr>
          <p:nvPr/>
        </p:nvSpPr>
        <p:spPr>
          <a:xfrm>
            <a:off x="814360" y="5641727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CmdPillTxt420_1">
            <a:extLst>
              <a:ext uri="{FF2B5EF4-FFF2-40B4-BE49-F238E27FC236}">
                <a16:creationId xmlns="" xmlns:a16="http://schemas.microsoft.com/office/drawing/2014/main" id="{470C3224-55A1-4F92-9CC2-3728B360A655}"/>
              </a:ext>
            </a:extLst>
          </p:cNvPr>
          <p:cNvSpPr>
            <a:spLocks noGrp="1"/>
          </p:cNvSpPr>
          <p:nvPr/>
        </p:nvSpPr>
        <p:spPr>
          <a:xfrm>
            <a:off x="904360" y="55602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push / git pull</a:t>
            </a:r>
          </a:p>
        </p:txBody>
      </p:sp>
      <p:sp>
        <p:nvSpPr>
          <p:cNvPr id="427" name="CmdDesc420_1">
            <a:extLst>
              <a:ext uri="{FF2B5EF4-FFF2-40B4-BE49-F238E27FC236}">
                <a16:creationId xmlns="" xmlns:a16="http://schemas.microsoft.com/office/drawing/2014/main" id="{309779CC-CB8A-4916-94E0-AA50C7B61C6B}"/>
              </a:ext>
            </a:extLst>
          </p:cNvPr>
          <p:cNvSpPr>
            <a:spLocks noGrp="1"/>
          </p:cNvSpPr>
          <p:nvPr/>
        </p:nvSpPr>
        <p:spPr>
          <a:xfrm>
            <a:off x="4564360" y="5523000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ローカルの変更を送信し、リモートの変更を取り込む</a:t>
            </a:r>
          </a:p>
        </p:txBody>
      </p:sp>
      <p:sp>
        <p:nvSpPr>
          <p:cNvPr id="428" name="CmdPill420_2">
            <a:extLst>
              <a:ext uri="{FF2B5EF4-FFF2-40B4-BE49-F238E27FC236}">
                <a16:creationId xmlns="" xmlns:a16="http://schemas.microsoft.com/office/drawing/2014/main" id="{F9827146-EB3F-4A0C-9DA5-1AC259F2450B}"/>
              </a:ext>
            </a:extLst>
          </p:cNvPr>
          <p:cNvSpPr>
            <a:spLocks noGrp="1"/>
          </p:cNvSpPr>
          <p:nvPr/>
        </p:nvSpPr>
        <p:spPr>
          <a:xfrm>
            <a:off x="814360" y="5876227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CmdPillTxt420_2">
            <a:extLst>
              <a:ext uri="{FF2B5EF4-FFF2-40B4-BE49-F238E27FC236}">
                <a16:creationId xmlns="" xmlns:a16="http://schemas.microsoft.com/office/drawing/2014/main" id="{4B9F556A-1455-4679-8869-E7567935D4FC}"/>
              </a:ext>
            </a:extLst>
          </p:cNvPr>
          <p:cNvSpPr>
            <a:spLocks noGrp="1"/>
          </p:cNvSpPr>
          <p:nvPr/>
        </p:nvSpPr>
        <p:spPr>
          <a:xfrm>
            <a:off x="904360" y="57947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checkout &lt;branch名&gt;</a:t>
            </a:r>
          </a:p>
        </p:txBody>
      </p:sp>
      <p:sp>
        <p:nvSpPr>
          <p:cNvPr id="430" name="CmdDesc420_2">
            <a:extLst>
              <a:ext uri="{FF2B5EF4-FFF2-40B4-BE49-F238E27FC236}">
                <a16:creationId xmlns="" xmlns:a16="http://schemas.microsoft.com/office/drawing/2014/main" id="{98746A42-BDAB-4AF0-B55F-F92E1D6D2BCC}"/>
              </a:ext>
            </a:extLst>
          </p:cNvPr>
          <p:cNvSpPr>
            <a:spLocks noGrp="1"/>
          </p:cNvSpPr>
          <p:nvPr/>
        </p:nvSpPr>
        <p:spPr>
          <a:xfrm>
            <a:off x="4564360" y="5757500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ブランチを切り替える、過去の状態を復元する</a:t>
            </a:r>
          </a:p>
        </p:txBody>
      </p:sp>
      <p:sp>
        <p:nvSpPr>
          <p:cNvPr id="431" name="CmdPill420_3">
            <a:extLst>
              <a:ext uri="{FF2B5EF4-FFF2-40B4-BE49-F238E27FC236}">
                <a16:creationId xmlns="" xmlns:a16="http://schemas.microsoft.com/office/drawing/2014/main" id="{2D409260-A71C-4072-829B-866D60D5CAB3}"/>
              </a:ext>
            </a:extLst>
          </p:cNvPr>
          <p:cNvSpPr>
            <a:spLocks noGrp="1"/>
          </p:cNvSpPr>
          <p:nvPr/>
        </p:nvSpPr>
        <p:spPr>
          <a:xfrm>
            <a:off x="814360" y="6110727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CmdPillTxt420_3">
            <a:extLst>
              <a:ext uri="{FF2B5EF4-FFF2-40B4-BE49-F238E27FC236}">
                <a16:creationId xmlns="" xmlns:a16="http://schemas.microsoft.com/office/drawing/2014/main" id="{E179F2F5-4F94-489E-9A49-D5C1E678D788}"/>
              </a:ext>
            </a:extLst>
          </p:cNvPr>
          <p:cNvSpPr>
            <a:spLocks noGrp="1"/>
          </p:cNvSpPr>
          <p:nvPr/>
        </p:nvSpPr>
        <p:spPr>
          <a:xfrm>
            <a:off x="904360" y="60292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diff / --staged / HEAD</a:t>
            </a:r>
          </a:p>
        </p:txBody>
      </p:sp>
      <p:sp>
        <p:nvSpPr>
          <p:cNvPr id="433" name="CmdDesc420_3">
            <a:extLst>
              <a:ext uri="{FF2B5EF4-FFF2-40B4-BE49-F238E27FC236}">
                <a16:creationId xmlns="" xmlns:a16="http://schemas.microsoft.com/office/drawing/2014/main" id="{C4C54E0B-32AF-42B1-9834-F47932E32C93}"/>
              </a:ext>
            </a:extLst>
          </p:cNvPr>
          <p:cNvSpPr>
            <a:spLocks noGrp="1"/>
          </p:cNvSpPr>
          <p:nvPr/>
        </p:nvSpPr>
        <p:spPr>
          <a:xfrm>
            <a:off x="4564360" y="5992000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dirty="0" err="1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変更前後や任意のコミット同士の差分を確認する</a:t>
            </a:r>
            <a:endParaRPr sz="1600" b="0" i="0" u="none" cap="none" dirty="0">
              <a:solidFill>
                <a:srgbClr val="C9D1D9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903792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>
            <a:extLst>
              <a:ext uri="{FF2B5EF4-FFF2-40B4-BE49-F238E27FC236}">
                <a16:creationId xmlns="" xmlns:a16="http://schemas.microsoft.com/office/drawing/2014/main" id="{D8CD8DB3-EDBC-49C4-B957-70F28318E222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リモートとの連携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27" name="Google Shape;327;p20">
            <a:extLst>
              <a:ext uri="{FF2B5EF4-FFF2-40B4-BE49-F238E27FC236}">
                <a16:creationId xmlns="" xmlns:a16="http://schemas.microsoft.com/office/drawing/2014/main" id="{32742D6C-6613-4049-AB78-ABC9556502CC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clone と push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28" name="Google Shape;328;p20">
            <a:extLst>
              <a:ext uri="{FF2B5EF4-FFF2-40B4-BE49-F238E27FC236}">
                <a16:creationId xmlns="" xmlns:a16="http://schemas.microsoft.com/office/drawing/2014/main" id="{180EA1BE-A8A9-4A46-98AE-0D4B76CC13C8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0">
            <a:extLst>
              <a:ext uri="{FF2B5EF4-FFF2-40B4-BE49-F238E27FC236}">
                <a16:creationId xmlns="" xmlns:a16="http://schemas.microsoft.com/office/drawing/2014/main" id="{37B3056A-310F-4EC0-8C78-CD22989270A9}"/>
              </a:ext>
            </a:extLst>
          </p:cNvPr>
          <p:cNvSpPr>
            <a:spLocks noGrp="1"/>
          </p:cNvSpPr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0" name="Google Shape;330;p2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2267712"/>
            <a:ext cx="356616" cy="356616"/>
          </a:xfrm>
          <a:prstGeom prst="rect">
            <a:avLst/>
          </a:prstGeom>
          <a:ln>
            <a:noFill/>
          </a:ln>
        </p:spPr>
      </p:pic>
      <p:sp>
        <p:nvSpPr>
          <p:cNvPr id="331" name="Google Shape;331;p20">
            <a:extLst>
              <a:ext uri="{FF2B5EF4-FFF2-40B4-BE49-F238E27FC236}">
                <a16:creationId xmlns="" xmlns:a16="http://schemas.microsoft.com/office/drawing/2014/main" id="{CC65DF0D-C722-4363-AAEA-13AD43DB2303}"/>
              </a:ext>
            </a:extLst>
          </p:cNvPr>
          <p:cNvSpPr>
            <a:spLocks noGrp="1"/>
          </p:cNvSpPr>
          <p:nvPr/>
        </p:nvSpPr>
        <p:spPr>
          <a:xfrm>
            <a:off x="1691640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HG丸ｺﾞｼｯｸM-PRO"/>
              <a:buNone/>
            </a:pPr>
            <a:r>
              <a:rPr sz="18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clone</a:t>
            </a:r>
            <a:endParaRPr sz="18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32" name="Google Shape;332;p20">
            <a:extLst>
              <a:ext uri="{FF2B5EF4-FFF2-40B4-BE49-F238E27FC236}">
                <a16:creationId xmlns="" xmlns:a16="http://schemas.microsoft.com/office/drawing/2014/main" id="{10A5C544-CA6F-445D-8D49-D353371938C5}"/>
              </a:ext>
            </a:extLst>
          </p:cNvPr>
          <p:cNvSpPr>
            <a:spLocks noGrp="1"/>
          </p:cNvSpPr>
          <p:nvPr/>
        </p:nvSpPr>
        <p:spPr>
          <a:xfrm>
            <a:off x="1691640" y="2496311"/>
            <a:ext cx="3794760" cy="432551"/>
          </a:xfrm>
          <a:prstGeom prst="roundRect">
            <a:avLst>
              <a:gd name="adj" fmla="val 14706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0">
            <a:extLst>
              <a:ext uri="{FF2B5EF4-FFF2-40B4-BE49-F238E27FC236}">
                <a16:creationId xmlns="" xmlns:a16="http://schemas.microsoft.com/office/drawing/2014/main" id="{EB852A67-B8F0-4489-90E5-642B18534AAE}"/>
              </a:ext>
            </a:extLst>
          </p:cNvPr>
          <p:cNvSpPr>
            <a:spLocks noGrp="1"/>
          </p:cNvSpPr>
          <p:nvPr/>
        </p:nvSpPr>
        <p:spPr>
          <a:xfrm>
            <a:off x="1801368" y="2496312"/>
            <a:ext cx="3575304" cy="43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clone &lt;URL&gt;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34" name="Google Shape;334;p20">
            <a:extLst>
              <a:ext uri="{FF2B5EF4-FFF2-40B4-BE49-F238E27FC236}">
                <a16:creationId xmlns="" xmlns:a16="http://schemas.microsoft.com/office/drawing/2014/main" id="{F5455FBC-6B63-4583-8104-EFE1A295AF2A}"/>
              </a:ext>
            </a:extLst>
          </p:cNvPr>
          <p:cNvSpPr>
            <a:spLocks noGrp="1"/>
          </p:cNvSpPr>
          <p:nvPr/>
        </p:nvSpPr>
        <p:spPr>
          <a:xfrm>
            <a:off x="868680" y="3017520"/>
            <a:ext cx="4617720" cy="33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リモートリポジトリを丸ごと複製し、ローカルに取得する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履歴も含めた全データがそのままコピーされる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新しくプロジェクトに参加するときに最初に行う操作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35" name="Google Shape;335;p20">
            <a:extLst>
              <a:ext uri="{FF2B5EF4-FFF2-40B4-BE49-F238E27FC236}">
                <a16:creationId xmlns="" xmlns:a16="http://schemas.microsoft.com/office/drawing/2014/main" id="{D071E463-8680-40BD-9043-893CCA37C9A3}"/>
              </a:ext>
            </a:extLst>
          </p:cNvPr>
          <p:cNvSpPr>
            <a:spLocks noGrp="1"/>
          </p:cNvSpPr>
          <p:nvPr/>
        </p:nvSpPr>
        <p:spPr>
          <a:xfrm>
            <a:off x="612648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0">
            <a:extLst>
              <a:ext uri="{FF2B5EF4-FFF2-40B4-BE49-F238E27FC236}">
                <a16:creationId xmlns="" xmlns:a16="http://schemas.microsoft.com/office/drawing/2014/main" id="{C8E5B1D0-9991-4BF4-B7B2-C429A8EED9F0}"/>
              </a:ext>
            </a:extLst>
          </p:cNvPr>
          <p:cNvSpPr>
            <a:spLocks noGrp="1"/>
          </p:cNvSpPr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7" name="Google Shape;337;p2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1112" y="2267712"/>
            <a:ext cx="356616" cy="356616"/>
          </a:xfrm>
          <a:prstGeom prst="rect">
            <a:avLst/>
          </a:prstGeom>
          <a:ln>
            <a:noFill/>
          </a:ln>
        </p:spPr>
      </p:pic>
      <p:sp>
        <p:nvSpPr>
          <p:cNvPr id="338" name="Google Shape;338;p20">
            <a:extLst>
              <a:ext uri="{FF2B5EF4-FFF2-40B4-BE49-F238E27FC236}">
                <a16:creationId xmlns="" xmlns:a16="http://schemas.microsoft.com/office/drawing/2014/main" id="{9FC5CE10-6313-4979-A829-6A9D7AC8DFC3}"/>
              </a:ext>
            </a:extLst>
          </p:cNvPr>
          <p:cNvSpPr>
            <a:spLocks noGrp="1"/>
          </p:cNvSpPr>
          <p:nvPr/>
        </p:nvSpPr>
        <p:spPr>
          <a:xfrm>
            <a:off x="7269480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HG丸ｺﾞｼｯｸM-PRO"/>
              <a:buNone/>
            </a:pPr>
            <a:r>
              <a:rPr sz="18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push</a:t>
            </a:r>
            <a:endParaRPr sz="18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39" name="Google Shape;339;p20">
            <a:extLst>
              <a:ext uri="{FF2B5EF4-FFF2-40B4-BE49-F238E27FC236}">
                <a16:creationId xmlns="" xmlns:a16="http://schemas.microsoft.com/office/drawing/2014/main" id="{AAF629FC-4557-4D26-8C56-6D11E38FE563}"/>
              </a:ext>
            </a:extLst>
          </p:cNvPr>
          <p:cNvSpPr>
            <a:spLocks noGrp="1"/>
          </p:cNvSpPr>
          <p:nvPr/>
        </p:nvSpPr>
        <p:spPr>
          <a:xfrm>
            <a:off x="7269480" y="2496312"/>
            <a:ext cx="3794760" cy="432550"/>
          </a:xfrm>
          <a:prstGeom prst="roundRect">
            <a:avLst>
              <a:gd name="adj" fmla="val 14706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0">
            <a:extLst>
              <a:ext uri="{FF2B5EF4-FFF2-40B4-BE49-F238E27FC236}">
                <a16:creationId xmlns="" xmlns:a16="http://schemas.microsoft.com/office/drawing/2014/main" id="{D93BD096-4F48-4EF9-A39A-C34C75920A8B}"/>
              </a:ext>
            </a:extLst>
          </p:cNvPr>
          <p:cNvSpPr>
            <a:spLocks noGrp="1"/>
          </p:cNvSpPr>
          <p:nvPr/>
        </p:nvSpPr>
        <p:spPr>
          <a:xfrm>
            <a:off x="7379208" y="2496312"/>
            <a:ext cx="3575304" cy="43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push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41" name="Google Shape;341;p20">
            <a:extLst>
              <a:ext uri="{FF2B5EF4-FFF2-40B4-BE49-F238E27FC236}">
                <a16:creationId xmlns="" xmlns:a16="http://schemas.microsoft.com/office/drawing/2014/main" id="{458AA285-1301-45EF-A0EE-8E801D820C91}"/>
              </a:ext>
            </a:extLst>
          </p:cNvPr>
          <p:cNvSpPr>
            <a:spLocks noGrp="1"/>
          </p:cNvSpPr>
          <p:nvPr/>
        </p:nvSpPr>
        <p:spPr>
          <a:xfrm>
            <a:off x="6446520" y="3017520"/>
            <a:ext cx="4617720" cy="33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ローカル(Git)で行ったコミットでステージングにあるものを、リモートリポジトリへ送信・反映する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自分の変更をチームやリモート環境と共有するための操作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通常は対象ブランチを指定して実行する（git push origin main）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42" name="Google Shape;342;p20">
            <a:extLst>
              <a:ext uri="{FF2B5EF4-FFF2-40B4-BE49-F238E27FC236}">
                <a16:creationId xmlns="" xmlns:a16="http://schemas.microsoft.com/office/drawing/2014/main" id="{1E733371-788A-4A1E-9DB1-B509429F81A0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6 — リモートとの連携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43" name="Google Shape;343;p20">
            <a:extLst>
              <a:ext uri="{FF2B5EF4-FFF2-40B4-BE49-F238E27FC236}">
                <a16:creationId xmlns="" xmlns:a16="http://schemas.microsoft.com/office/drawing/2014/main" id="{8889AB5A-0E56-407B-952D-E5ADB9819816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20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319525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>
            <a:extLst>
              <a:ext uri="{FF2B5EF4-FFF2-40B4-BE49-F238E27FC236}">
                <a16:creationId xmlns="" xmlns:a16="http://schemas.microsoft.com/office/drawing/2014/main" id="{787D7A6F-D343-40EB-A7DB-C090B463C932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リモートとの連携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50" name="Google Shape;350;p21">
            <a:extLst>
              <a:ext uri="{FF2B5EF4-FFF2-40B4-BE49-F238E27FC236}">
                <a16:creationId xmlns="" xmlns:a16="http://schemas.microsoft.com/office/drawing/2014/main" id="{935A2072-6489-4C6C-8000-C6AEC7814DE4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pull と checkout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51" name="Google Shape;351;p21">
            <a:extLst>
              <a:ext uri="{FF2B5EF4-FFF2-40B4-BE49-F238E27FC236}">
                <a16:creationId xmlns="" xmlns:a16="http://schemas.microsoft.com/office/drawing/2014/main" id="{17DF429F-DDB0-49A6-9982-BCC061D9C607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1">
            <a:extLst>
              <a:ext uri="{FF2B5EF4-FFF2-40B4-BE49-F238E27FC236}">
                <a16:creationId xmlns="" xmlns:a16="http://schemas.microsoft.com/office/drawing/2014/main" id="{7E535FCC-228F-44EF-8DE1-A2316F6742D1}"/>
              </a:ext>
            </a:extLst>
          </p:cNvPr>
          <p:cNvSpPr>
            <a:spLocks noGrp="1"/>
          </p:cNvSpPr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3" name="Google Shape;353;p2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2267712"/>
            <a:ext cx="356616" cy="356616"/>
          </a:xfrm>
          <a:prstGeom prst="rect">
            <a:avLst/>
          </a:prstGeom>
          <a:ln>
            <a:noFill/>
          </a:ln>
        </p:spPr>
      </p:pic>
      <p:sp>
        <p:nvSpPr>
          <p:cNvPr id="354" name="Google Shape;354;p21">
            <a:extLst>
              <a:ext uri="{FF2B5EF4-FFF2-40B4-BE49-F238E27FC236}">
                <a16:creationId xmlns="" xmlns:a16="http://schemas.microsoft.com/office/drawing/2014/main" id="{90CDED99-5359-4F1D-AA10-6B77EACB1F14}"/>
              </a:ext>
            </a:extLst>
          </p:cNvPr>
          <p:cNvSpPr>
            <a:spLocks noGrp="1"/>
          </p:cNvSpPr>
          <p:nvPr/>
        </p:nvSpPr>
        <p:spPr>
          <a:xfrm>
            <a:off x="1691640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HG丸ｺﾞｼｯｸM-PRO"/>
              <a:buNone/>
            </a:pPr>
            <a:r>
              <a:rPr sz="18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pull</a:t>
            </a:r>
            <a:endParaRPr sz="18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55" name="Google Shape;355;p21">
            <a:extLst>
              <a:ext uri="{FF2B5EF4-FFF2-40B4-BE49-F238E27FC236}">
                <a16:creationId xmlns="" xmlns:a16="http://schemas.microsoft.com/office/drawing/2014/main" id="{94F98807-73BC-413B-8FFC-75B263C29607}"/>
              </a:ext>
            </a:extLst>
          </p:cNvPr>
          <p:cNvSpPr>
            <a:spLocks noGrp="1"/>
          </p:cNvSpPr>
          <p:nvPr/>
        </p:nvSpPr>
        <p:spPr>
          <a:xfrm>
            <a:off x="1691640" y="2496311"/>
            <a:ext cx="3794760" cy="432551"/>
          </a:xfrm>
          <a:prstGeom prst="roundRect">
            <a:avLst>
              <a:gd name="adj" fmla="val 14706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1">
            <a:extLst>
              <a:ext uri="{FF2B5EF4-FFF2-40B4-BE49-F238E27FC236}">
                <a16:creationId xmlns="" xmlns:a16="http://schemas.microsoft.com/office/drawing/2014/main" id="{DB4876EB-1B42-4908-B64F-8BFB40774292}"/>
              </a:ext>
            </a:extLst>
          </p:cNvPr>
          <p:cNvSpPr>
            <a:spLocks noGrp="1"/>
          </p:cNvSpPr>
          <p:nvPr/>
        </p:nvSpPr>
        <p:spPr>
          <a:xfrm>
            <a:off x="1801368" y="2496312"/>
            <a:ext cx="3575304" cy="43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pull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57" name="Google Shape;357;p21">
            <a:extLst>
              <a:ext uri="{FF2B5EF4-FFF2-40B4-BE49-F238E27FC236}">
                <a16:creationId xmlns="" xmlns:a16="http://schemas.microsoft.com/office/drawing/2014/main" id="{7A64B90E-5CEB-4083-914C-84512DA4D8E9}"/>
              </a:ext>
            </a:extLst>
          </p:cNvPr>
          <p:cNvSpPr>
            <a:spLocks noGrp="1"/>
          </p:cNvSpPr>
          <p:nvPr/>
        </p:nvSpPr>
        <p:spPr>
          <a:xfrm>
            <a:off x="868680" y="3017520"/>
            <a:ext cx="4617720" cy="33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リモートリポジトリの最新の変更を取得し、ローカルに取り込む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内部的には「fetch（取得）＋ merge（統合）」を一度に行うコマンド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作業を始める前にこまめに実行し、最新状態を保つのが基本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58" name="Google Shape;358;p21">
            <a:extLst>
              <a:ext uri="{FF2B5EF4-FFF2-40B4-BE49-F238E27FC236}">
                <a16:creationId xmlns="" xmlns:a16="http://schemas.microsoft.com/office/drawing/2014/main" id="{AF25EEF3-3DB3-4B78-8EEE-66EBE3E7672C}"/>
              </a:ext>
            </a:extLst>
          </p:cNvPr>
          <p:cNvSpPr>
            <a:spLocks noGrp="1"/>
          </p:cNvSpPr>
          <p:nvPr/>
        </p:nvSpPr>
        <p:spPr>
          <a:xfrm>
            <a:off x="612648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1">
            <a:extLst>
              <a:ext uri="{FF2B5EF4-FFF2-40B4-BE49-F238E27FC236}">
                <a16:creationId xmlns="" xmlns:a16="http://schemas.microsoft.com/office/drawing/2014/main" id="{1ADB2495-6FC8-42C9-ADD9-B1094E320D2D}"/>
              </a:ext>
            </a:extLst>
          </p:cNvPr>
          <p:cNvSpPr>
            <a:spLocks noGrp="1"/>
          </p:cNvSpPr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0" name="Google Shape;360;p2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1112" y="2267712"/>
            <a:ext cx="356616" cy="356616"/>
          </a:xfrm>
          <a:prstGeom prst="rect">
            <a:avLst/>
          </a:prstGeom>
          <a:ln>
            <a:noFill/>
          </a:ln>
        </p:spPr>
      </p:pic>
      <p:sp>
        <p:nvSpPr>
          <p:cNvPr id="361" name="Google Shape;361;p21">
            <a:extLst>
              <a:ext uri="{FF2B5EF4-FFF2-40B4-BE49-F238E27FC236}">
                <a16:creationId xmlns="" xmlns:a16="http://schemas.microsoft.com/office/drawing/2014/main" id="{73224445-AC5B-4611-8C39-D4801441D247}"/>
              </a:ext>
            </a:extLst>
          </p:cNvPr>
          <p:cNvSpPr>
            <a:spLocks noGrp="1"/>
          </p:cNvSpPr>
          <p:nvPr/>
        </p:nvSpPr>
        <p:spPr>
          <a:xfrm>
            <a:off x="7269480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HG丸ｺﾞｼｯｸM-PRO"/>
              <a:buNone/>
            </a:pPr>
            <a:r>
              <a:rPr sz="18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checkout</a:t>
            </a:r>
            <a:endParaRPr sz="18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62" name="Google Shape;362;p21">
            <a:extLst>
              <a:ext uri="{FF2B5EF4-FFF2-40B4-BE49-F238E27FC236}">
                <a16:creationId xmlns="" xmlns:a16="http://schemas.microsoft.com/office/drawing/2014/main" id="{BFA90A6D-BA57-4F20-97FC-D2CD93D624F7}"/>
              </a:ext>
            </a:extLst>
          </p:cNvPr>
          <p:cNvSpPr>
            <a:spLocks noGrp="1"/>
          </p:cNvSpPr>
          <p:nvPr/>
        </p:nvSpPr>
        <p:spPr>
          <a:xfrm>
            <a:off x="7269480" y="2496312"/>
            <a:ext cx="3794760" cy="432550"/>
          </a:xfrm>
          <a:prstGeom prst="roundRect">
            <a:avLst>
              <a:gd name="adj" fmla="val 14706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1">
            <a:extLst>
              <a:ext uri="{FF2B5EF4-FFF2-40B4-BE49-F238E27FC236}">
                <a16:creationId xmlns="" xmlns:a16="http://schemas.microsoft.com/office/drawing/2014/main" id="{53F46D8B-6B99-4D43-9F17-BACB67CE8A15}"/>
              </a:ext>
            </a:extLst>
          </p:cNvPr>
          <p:cNvSpPr>
            <a:spLocks noGrp="1"/>
          </p:cNvSpPr>
          <p:nvPr/>
        </p:nvSpPr>
        <p:spPr>
          <a:xfrm>
            <a:off x="7379208" y="2496312"/>
            <a:ext cx="3575304" cy="43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checkout &lt;</a:t>
            </a: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branch名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&gt;</a:t>
            </a:r>
            <a:endParaRPr sz="11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64" name="Google Shape;364;p21">
            <a:extLst>
              <a:ext uri="{FF2B5EF4-FFF2-40B4-BE49-F238E27FC236}">
                <a16:creationId xmlns="" xmlns:a16="http://schemas.microsoft.com/office/drawing/2014/main" id="{E4AFCAF9-BA96-4BC5-9D07-C621E9E2B252}"/>
              </a:ext>
            </a:extLst>
          </p:cNvPr>
          <p:cNvSpPr>
            <a:spLocks noGrp="1"/>
          </p:cNvSpPr>
          <p:nvPr/>
        </p:nvSpPr>
        <p:spPr>
          <a:xfrm>
            <a:off x="6446520" y="3017520"/>
            <a:ext cx="4617720" cy="33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ブランチを切り替えたり、過去のコミット・ファイルの状態を復元する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作業対象を別ブランチに移す際に使う代表的なコマンド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近年は用途ごとに git switch（ブランチ切替）／ git restore（ファイル復元）に分離される傾向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65" name="Google Shape;365;p21">
            <a:extLst>
              <a:ext uri="{FF2B5EF4-FFF2-40B4-BE49-F238E27FC236}">
                <a16:creationId xmlns="" xmlns:a16="http://schemas.microsoft.com/office/drawing/2014/main" id="{F4316166-6B61-41D0-B0E4-E5EFA9C6CEEB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6 — リモートとの連携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66" name="Google Shape;366;p21">
            <a:extLst>
              <a:ext uri="{FF2B5EF4-FFF2-40B4-BE49-F238E27FC236}">
                <a16:creationId xmlns="" xmlns:a16="http://schemas.microsoft.com/office/drawing/2014/main" id="{5A589B5D-C325-4D99-BF14-D938D184146A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21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478335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">
            <a:extLst>
              <a:ext uri="{FF2B5EF4-FFF2-40B4-BE49-F238E27FC236}">
                <a16:creationId xmlns="" xmlns:a16="http://schemas.microsoft.com/office/drawing/2014/main" id="{C8DF0527-2084-48EF-A184-2D2B25BDBF33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リモートとの連携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73" name="Google Shape;373;p22">
            <a:extLst>
              <a:ext uri="{FF2B5EF4-FFF2-40B4-BE49-F238E27FC236}">
                <a16:creationId xmlns="" xmlns:a16="http://schemas.microsoft.com/office/drawing/2014/main" id="{89150479-2215-428D-834B-395A93965756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diff（差分の確認）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74" name="Google Shape;374;p22">
            <a:extLst>
              <a:ext uri="{FF2B5EF4-FFF2-40B4-BE49-F238E27FC236}">
                <a16:creationId xmlns="" xmlns:a16="http://schemas.microsoft.com/office/drawing/2014/main" id="{1AA55268-9D4F-457F-939F-E8B76219DCF0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960120" cy="960120"/>
          </a:xfrm>
          <a:prstGeom prst="ellipse">
            <a:avLst/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7" name="Google Shape;375;p2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89" y="2013509"/>
            <a:ext cx="499262" cy="499262"/>
          </a:xfrm>
          <a:prstGeom prst="rect">
            <a:avLst/>
          </a:prstGeom>
          <a:ln>
            <a:noFill/>
          </a:ln>
        </p:spPr>
      </p:pic>
      <p:sp>
        <p:nvSpPr>
          <p:cNvPr id="376" name="Google Shape;376;p22">
            <a:extLst>
              <a:ext uri="{FF2B5EF4-FFF2-40B4-BE49-F238E27FC236}">
                <a16:creationId xmlns="" xmlns:a16="http://schemas.microsoft.com/office/drawing/2014/main" id="{FEADB342-23E1-4A6D-A22F-161FBDD39C19}"/>
              </a:ext>
            </a:extLst>
          </p:cNvPr>
          <p:cNvSpPr>
            <a:spLocks noGrp="1"/>
          </p:cNvSpPr>
          <p:nvPr/>
        </p:nvSpPr>
        <p:spPr>
          <a:xfrm>
            <a:off x="1828800" y="1783080"/>
            <a:ext cx="5943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変更前後の差分（どこが・どう変わったか）を確認するコマンド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diff：ワーキングツリー と インデックス の差分（まだ add していない変更）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diff --staged：インデックス と 直前のコミット の差分（add 済みの変更）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diff &lt;コミットA&gt; &lt;コミットB&gt;：任意のコミット同士の差分も比較できる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77" name="Google Shape;377;p22">
            <a:extLst>
              <a:ext uri="{FF2B5EF4-FFF2-40B4-BE49-F238E27FC236}">
                <a16:creationId xmlns="" xmlns:a16="http://schemas.microsoft.com/office/drawing/2014/main" id="{4140880E-DB99-4560-A063-FF8F136BC84F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2">
            <a:extLst>
              <a:ext uri="{FF2B5EF4-FFF2-40B4-BE49-F238E27FC236}">
                <a16:creationId xmlns="" xmlns:a16="http://schemas.microsoft.com/office/drawing/2014/main" id="{B75E3B2F-1B8F-4735-875F-B1E3FB56C74C}"/>
              </a:ext>
            </a:extLst>
          </p:cNvPr>
          <p:cNvSpPr>
            <a:spLocks noGrp="1"/>
          </p:cNvSpPr>
          <p:nvPr/>
        </p:nvSpPr>
        <p:spPr>
          <a:xfrm>
            <a:off x="8138160" y="1783080"/>
            <a:ext cx="3429000" cy="502920"/>
          </a:xfrm>
          <a:prstGeom prst="roundRect">
            <a:avLst>
              <a:gd name="adj" fmla="val 18182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2">
            <a:extLst>
              <a:ext uri="{FF2B5EF4-FFF2-40B4-BE49-F238E27FC236}">
                <a16:creationId xmlns="" xmlns:a16="http://schemas.microsoft.com/office/drawing/2014/main" id="{C46BF067-5D97-416F-A79D-D8DCD6B2AA78}"/>
              </a:ext>
            </a:extLst>
          </p:cNvPr>
          <p:cNvSpPr>
            <a:spLocks noGrp="1"/>
          </p:cNvSpPr>
          <p:nvPr/>
        </p:nvSpPr>
        <p:spPr>
          <a:xfrm>
            <a:off x="8412480" y="1938528"/>
            <a:ext cx="28803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1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コマンド例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80" name="Google Shape;380;p22">
            <a:extLst>
              <a:ext uri="{FF2B5EF4-FFF2-40B4-BE49-F238E27FC236}">
                <a16:creationId xmlns="" xmlns:a16="http://schemas.microsoft.com/office/drawing/2014/main" id="{309B5EB2-6C2F-4D48-9780-4079016B0C38}"/>
              </a:ext>
            </a:extLst>
          </p:cNvPr>
          <p:cNvSpPr>
            <a:spLocks noGrp="1"/>
          </p:cNvSpPr>
          <p:nvPr/>
        </p:nvSpPr>
        <p:spPr>
          <a:xfrm>
            <a:off x="8412480" y="2377440"/>
            <a:ext cx="2880360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diff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G丸ｺﾞｼｯｸM-PRO"/>
              <a:buNone/>
            </a:pP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diff --staged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G丸ｺﾞｼｯｸM-PRO"/>
              <a:buNone/>
            </a:pP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diff HEAD</a:t>
            </a:r>
            <a:endParaRPr sz="12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81" name="Google Shape;381;p22">
            <a:extLst>
              <a:ext uri="{FF2B5EF4-FFF2-40B4-BE49-F238E27FC236}">
                <a16:creationId xmlns="" xmlns:a16="http://schemas.microsoft.com/office/drawing/2014/main" id="{298DEB9E-24A3-4210-A47A-52DFA56A7AE2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6 — リモートとの連携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82" name="Google Shape;382;p22">
            <a:extLst>
              <a:ext uri="{FF2B5EF4-FFF2-40B4-BE49-F238E27FC236}">
                <a16:creationId xmlns="" xmlns:a16="http://schemas.microsoft.com/office/drawing/2014/main" id="{588649B7-F7EF-4A52-83AD-7DCDF923CC69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22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934573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3">
            <a:extLst>
              <a:ext uri="{FF2B5EF4-FFF2-40B4-BE49-F238E27FC236}">
                <a16:creationId xmlns="" xmlns:a16="http://schemas.microsoft.com/office/drawing/2014/main" id="{5287BCEB-C3FD-4A15-B353-8CAC5513019B}"/>
              </a:ext>
            </a:extLst>
          </p:cNvPr>
          <p:cNvSpPr>
            <a:spLocks noGrp="1"/>
          </p:cNvSpPr>
          <p:nvPr/>
        </p:nvSpPr>
        <p:spPr>
          <a:xfrm>
            <a:off x="640080" y="14744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89" name="Google Shape;389;p23">
            <a:extLst>
              <a:ext uri="{FF2B5EF4-FFF2-40B4-BE49-F238E27FC236}">
                <a16:creationId xmlns="" xmlns:a16="http://schemas.microsoft.com/office/drawing/2014/main" id="{F913C17A-E7D0-4F41-9527-2DB46177BFBD}"/>
              </a:ext>
            </a:extLst>
          </p:cNvPr>
          <p:cNvSpPr>
            <a:spLocks noGrp="1"/>
          </p:cNvSpPr>
          <p:nvPr/>
        </p:nvSpPr>
        <p:spPr>
          <a:xfrm>
            <a:off x="594360" y="16573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07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508" name="Google Shape;390;p23"/>
          <p:cNvCxnSpPr/>
          <p:nvPr/>
        </p:nvCxnSpPr>
        <p:spPr>
          <a:xfrm>
            <a:off x="640080" y="32118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1" name="Google Shape;391;p23">
            <a:extLst>
              <a:ext uri="{FF2B5EF4-FFF2-40B4-BE49-F238E27FC236}">
                <a16:creationId xmlns="" xmlns:a16="http://schemas.microsoft.com/office/drawing/2014/main" id="{7B516DBE-E7FA-45C9-A4E1-372EBA027F44}"/>
              </a:ext>
            </a:extLst>
          </p:cNvPr>
          <p:cNvSpPr>
            <a:spLocks noGrp="1"/>
          </p:cNvSpPr>
          <p:nvPr/>
        </p:nvSpPr>
        <p:spPr>
          <a:xfrm>
            <a:off x="621792" y="33947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ブランチ・フォワード・マージ・リベース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92" name="Google Shape;392;p23">
            <a:extLst>
              <a:ext uri="{FF2B5EF4-FFF2-40B4-BE49-F238E27FC236}">
                <a16:creationId xmlns="" xmlns:a16="http://schemas.microsoft.com/office/drawing/2014/main" id="{8200E047-751E-462F-A1BB-3B7E421BCD41}"/>
              </a:ext>
            </a:extLst>
          </p:cNvPr>
          <p:cNvSpPr>
            <a:spLocks noGrp="1"/>
          </p:cNvSpPr>
          <p:nvPr/>
        </p:nvSpPr>
        <p:spPr>
          <a:xfrm>
            <a:off x="640080" y="43091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並行して開発を進め、変更を安全に統合するための仕組み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93" name="Google Shape;393;p23">
            <a:extLst>
              <a:ext uri="{FF2B5EF4-FFF2-40B4-BE49-F238E27FC236}">
                <a16:creationId xmlns="" xmlns:a16="http://schemas.microsoft.com/office/drawing/2014/main" id="{E4B115D6-C31B-4395-9BC5-CEEBFF4A3A5B}"/>
              </a:ext>
            </a:extLst>
          </p:cNvPr>
          <p:cNvSpPr>
            <a:spLocks noGrp="1"/>
          </p:cNvSpPr>
          <p:nvPr/>
        </p:nvSpPr>
        <p:spPr>
          <a:xfrm>
            <a:off x="9189720" y="18402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" name="Google Shape;394;p2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3202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494" name="CmdPanelBg494">
            <a:extLst>
              <a:ext uri="{FF2B5EF4-FFF2-40B4-BE49-F238E27FC236}">
                <a16:creationId xmlns="" xmlns:a16="http://schemas.microsoft.com/office/drawing/2014/main" id="{E795F789-19E7-4F12-91EE-5E8AD86F09DE}"/>
              </a:ext>
            </a:extLst>
          </p:cNvPr>
          <p:cNvSpPr>
            <a:spLocks noGrp="1"/>
          </p:cNvSpPr>
          <p:nvPr/>
        </p:nvSpPr>
        <p:spPr>
          <a:xfrm>
            <a:off x="594360" y="4928499"/>
            <a:ext cx="11003280" cy="1541183"/>
          </a:xfrm>
          <a:prstGeom prst="roundRect">
            <a:avLst>
              <a:gd name="adj" fmla="val 4000"/>
            </a:avLst>
          </a:prstGeom>
          <a:solidFill>
            <a:srgbClr val="2D333B"/>
          </a:solidFill>
          <a:ln w="9525">
            <a:solidFill>
              <a:srgbClr val="F05033"/>
            </a:solidFill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CmdPanelTitle494">
            <a:extLst>
              <a:ext uri="{FF2B5EF4-FFF2-40B4-BE49-F238E27FC236}">
                <a16:creationId xmlns="" xmlns:a16="http://schemas.microsoft.com/office/drawing/2014/main" id="{0BD5474F-AFA0-42D6-BBC0-60DD8B326556}"/>
              </a:ext>
            </a:extLst>
          </p:cNvPr>
          <p:cNvSpPr>
            <a:spLocks noGrp="1"/>
          </p:cNvSpPr>
          <p:nvPr/>
        </p:nvSpPr>
        <p:spPr>
          <a:xfrm>
            <a:off x="814360" y="4988500"/>
            <a:ext cx="10563280" cy="34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この Part で扱う主なコマンド</a:t>
            </a:r>
          </a:p>
        </p:txBody>
      </p:sp>
      <p:sp>
        <p:nvSpPr>
          <p:cNvPr id="496" name="CmdPill494_0">
            <a:extLst>
              <a:ext uri="{FF2B5EF4-FFF2-40B4-BE49-F238E27FC236}">
                <a16:creationId xmlns="" xmlns:a16="http://schemas.microsoft.com/office/drawing/2014/main" id="{B0EC2044-8CB0-4CE3-AE36-F4D842D1755C}"/>
              </a:ext>
            </a:extLst>
          </p:cNvPr>
          <p:cNvSpPr>
            <a:spLocks noGrp="1"/>
          </p:cNvSpPr>
          <p:nvPr/>
        </p:nvSpPr>
        <p:spPr>
          <a:xfrm>
            <a:off x="814360" y="5446310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CmdPillTxt494_0">
            <a:extLst>
              <a:ext uri="{FF2B5EF4-FFF2-40B4-BE49-F238E27FC236}">
                <a16:creationId xmlns="" xmlns:a16="http://schemas.microsoft.com/office/drawing/2014/main" id="{30D7A1A9-E303-4F58-AFAB-9E8E0DF94017}"/>
              </a:ext>
            </a:extLst>
          </p:cNvPr>
          <p:cNvSpPr>
            <a:spLocks noGrp="1"/>
          </p:cNvSpPr>
          <p:nvPr/>
        </p:nvSpPr>
        <p:spPr>
          <a:xfrm>
            <a:off x="904360" y="5364833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branch &lt;ブランチ名&gt;</a:t>
            </a:r>
          </a:p>
        </p:txBody>
      </p:sp>
      <p:sp>
        <p:nvSpPr>
          <p:cNvPr id="498" name="CmdDesc494_0">
            <a:extLst>
              <a:ext uri="{FF2B5EF4-FFF2-40B4-BE49-F238E27FC236}">
                <a16:creationId xmlns="" xmlns:a16="http://schemas.microsoft.com/office/drawing/2014/main" id="{F63F7187-4B1F-4E65-9776-4F75399A60FB}"/>
              </a:ext>
            </a:extLst>
          </p:cNvPr>
          <p:cNvSpPr>
            <a:spLocks noGrp="1"/>
          </p:cNvSpPr>
          <p:nvPr/>
        </p:nvSpPr>
        <p:spPr>
          <a:xfrm>
            <a:off x="4564360" y="5288500"/>
            <a:ext cx="6813280" cy="55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現在のブランチから新しい作業ブランチを作成する</a:t>
            </a:r>
          </a:p>
        </p:txBody>
      </p:sp>
      <p:sp>
        <p:nvSpPr>
          <p:cNvPr id="499" name="CmdPill494_1">
            <a:extLst>
              <a:ext uri="{FF2B5EF4-FFF2-40B4-BE49-F238E27FC236}">
                <a16:creationId xmlns="" xmlns:a16="http://schemas.microsoft.com/office/drawing/2014/main" id="{F85CB5C1-8A0A-4241-BC23-FFF6BE87EB97}"/>
              </a:ext>
            </a:extLst>
          </p:cNvPr>
          <p:cNvSpPr>
            <a:spLocks noGrp="1"/>
          </p:cNvSpPr>
          <p:nvPr/>
        </p:nvSpPr>
        <p:spPr>
          <a:xfrm>
            <a:off x="814360" y="5758976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CmdPillTxt494_1">
            <a:extLst>
              <a:ext uri="{FF2B5EF4-FFF2-40B4-BE49-F238E27FC236}">
                <a16:creationId xmlns="" xmlns:a16="http://schemas.microsoft.com/office/drawing/2014/main" id="{7E429979-ED39-4345-B8F1-165F1A53C338}"/>
              </a:ext>
            </a:extLst>
          </p:cNvPr>
          <p:cNvSpPr>
            <a:spLocks noGrp="1"/>
          </p:cNvSpPr>
          <p:nvPr/>
        </p:nvSpPr>
        <p:spPr>
          <a:xfrm>
            <a:off x="904360" y="5677499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merge &lt;ブランチ名&gt;</a:t>
            </a:r>
          </a:p>
        </p:txBody>
      </p:sp>
      <p:sp>
        <p:nvSpPr>
          <p:cNvPr id="501" name="CmdDesc494_1">
            <a:extLst>
              <a:ext uri="{FF2B5EF4-FFF2-40B4-BE49-F238E27FC236}">
                <a16:creationId xmlns="" xmlns:a16="http://schemas.microsoft.com/office/drawing/2014/main" id="{D594EC5A-A1DE-416F-8774-CBF1C43BCC0E}"/>
              </a:ext>
            </a:extLst>
          </p:cNvPr>
          <p:cNvSpPr>
            <a:spLocks noGrp="1"/>
          </p:cNvSpPr>
          <p:nvPr/>
        </p:nvSpPr>
        <p:spPr>
          <a:xfrm>
            <a:off x="4564360" y="5601166"/>
            <a:ext cx="6813280" cy="55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指定したブランチの変更履歴を統合する</a:t>
            </a:r>
          </a:p>
        </p:txBody>
      </p:sp>
      <p:sp>
        <p:nvSpPr>
          <p:cNvPr id="502" name="CmdPill494_2">
            <a:extLst>
              <a:ext uri="{FF2B5EF4-FFF2-40B4-BE49-F238E27FC236}">
                <a16:creationId xmlns="" xmlns:a16="http://schemas.microsoft.com/office/drawing/2014/main" id="{16469922-2F10-483E-804A-DE053DA514E1}"/>
              </a:ext>
            </a:extLst>
          </p:cNvPr>
          <p:cNvSpPr>
            <a:spLocks noGrp="1"/>
          </p:cNvSpPr>
          <p:nvPr/>
        </p:nvSpPr>
        <p:spPr>
          <a:xfrm>
            <a:off x="814360" y="6071642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CmdPillTxt494_2">
            <a:extLst>
              <a:ext uri="{FF2B5EF4-FFF2-40B4-BE49-F238E27FC236}">
                <a16:creationId xmlns="" xmlns:a16="http://schemas.microsoft.com/office/drawing/2014/main" id="{3BEB75E1-1B6C-4B5C-9B61-35486E903FFE}"/>
              </a:ext>
            </a:extLst>
          </p:cNvPr>
          <p:cNvSpPr>
            <a:spLocks noGrp="1"/>
          </p:cNvSpPr>
          <p:nvPr/>
        </p:nvSpPr>
        <p:spPr>
          <a:xfrm>
            <a:off x="904360" y="5990165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rebase &lt;ブランチ名&gt;</a:t>
            </a:r>
          </a:p>
        </p:txBody>
      </p:sp>
      <p:sp>
        <p:nvSpPr>
          <p:cNvPr id="504" name="CmdDesc494_2">
            <a:extLst>
              <a:ext uri="{FF2B5EF4-FFF2-40B4-BE49-F238E27FC236}">
                <a16:creationId xmlns="" xmlns:a16="http://schemas.microsoft.com/office/drawing/2014/main" id="{35D4B542-8657-4F5D-9C5E-045FFC97F7D1}"/>
              </a:ext>
            </a:extLst>
          </p:cNvPr>
          <p:cNvSpPr>
            <a:spLocks noGrp="1"/>
          </p:cNvSpPr>
          <p:nvPr/>
        </p:nvSpPr>
        <p:spPr>
          <a:xfrm>
            <a:off x="4564360" y="5913832"/>
            <a:ext cx="6813280" cy="55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dirty="0" err="1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分岐元を付け替え、コミット履歴を一直線に再構成する</a:t>
            </a:r>
            <a:endParaRPr sz="1600" b="0" i="0" u="none" cap="none" dirty="0">
              <a:solidFill>
                <a:srgbClr val="C9D1D9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360322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">
            <a:extLst>
              <a:ext uri="{FF2B5EF4-FFF2-40B4-BE49-F238E27FC236}">
                <a16:creationId xmlns="" xmlns:a16="http://schemas.microsoft.com/office/drawing/2014/main" id="{BA635526-D503-44FA-ABF0-6F5498BB1AC1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ブランチ操作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01" name="Google Shape;401;p24">
            <a:extLst>
              <a:ext uri="{FF2B5EF4-FFF2-40B4-BE49-F238E27FC236}">
                <a16:creationId xmlns="" xmlns:a16="http://schemas.microsoft.com/office/drawing/2014/main" id="{604CB4E0-3F04-4BF4-830F-AF9D19A9E604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ブランチとは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02" name="Google Shape;402;p24">
            <a:extLst>
              <a:ext uri="{FF2B5EF4-FFF2-40B4-BE49-F238E27FC236}">
                <a16:creationId xmlns="" xmlns:a16="http://schemas.microsoft.com/office/drawing/2014/main" id="{5405B3AF-4011-47DA-9718-81DD6263CD7B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7 — ブランチ操作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03" name="Google Shape;403;p24">
            <a:extLst>
              <a:ext uri="{FF2B5EF4-FFF2-40B4-BE49-F238E27FC236}">
                <a16:creationId xmlns="" xmlns:a16="http://schemas.microsoft.com/office/drawing/2014/main" id="{745A397C-95DF-468F-BBFE-D37CBCC98309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24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04" name="Google Shape;404;p24">
            <a:extLst>
              <a:ext uri="{FF2B5EF4-FFF2-40B4-BE49-F238E27FC236}">
                <a16:creationId xmlns="" xmlns:a16="http://schemas.microsoft.com/office/drawing/2014/main" id="{CAAAF460-4D34-44F2-8051-3708BE3035C5}"/>
              </a:ext>
            </a:extLst>
          </p:cNvPr>
          <p:cNvSpPr>
            <a:spLocks noGrp="1"/>
          </p:cNvSpPr>
          <p:nvPr/>
        </p:nvSpPr>
        <p:spPr>
          <a:xfrm>
            <a:off x="548640" y="1874520"/>
            <a:ext cx="4297680" cy="433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開発の流れを分岐させ、並行して作業を進める仕組み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main（または master）ブランチから分岐して、機能追加やバグ修正を行う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他のブランチに影響を与えずに、独立して変更を試せる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作業が完成したら、元のブランチへ統合（マージ）する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05" name="Google Shape;405;p24">
            <a:extLst>
              <a:ext uri="{FF2B5EF4-FFF2-40B4-BE49-F238E27FC236}">
                <a16:creationId xmlns="" xmlns:a16="http://schemas.microsoft.com/office/drawing/2014/main" id="{89B9E2EA-CC40-4442-8F57-8A46C7203E33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4114800" cy="473746"/>
          </a:xfrm>
          <a:prstGeom prst="roundRect">
            <a:avLst>
              <a:gd name="adj" fmla="val 1764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4">
            <a:extLst>
              <a:ext uri="{FF2B5EF4-FFF2-40B4-BE49-F238E27FC236}">
                <a16:creationId xmlns="" xmlns:a16="http://schemas.microsoft.com/office/drawing/2014/main" id="{EBAC78E5-0A3F-4613-A533-126C746CC13F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411480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chemeClr val="bg1"/>
                </a:solidFill>
                <a:latin typeface="HG丸ｺﾞｼｯｸM-PRO"/>
                <a:ea typeface="HG丸ｺﾞｼｯｸM-PRO"/>
                <a:cs typeface="HG丸ｺﾞｼｯｸM-PRO"/>
              </a:rPr>
              <a:t>git branch &lt;ブランチ名&gt;</a:t>
            </a:r>
            <a:endParaRPr sz="1050" b="0" i="0" u="none" cap="none">
              <a:solidFill>
                <a:schemeClr val="bg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07" name="Google Shape;407;p24">
            <a:extLst>
              <a:ext uri="{FF2B5EF4-FFF2-40B4-BE49-F238E27FC236}">
                <a16:creationId xmlns="" xmlns:a16="http://schemas.microsoft.com/office/drawing/2014/main" id="{EC066BA0-03FB-452A-B3D7-D9DF5A12D4C4}"/>
              </a:ext>
            </a:extLst>
          </p:cNvPr>
          <p:cNvSpPr>
            <a:spLocks noGrp="1"/>
          </p:cNvSpPr>
          <p:nvPr/>
        </p:nvSpPr>
        <p:spPr>
          <a:xfrm>
            <a:off x="5206365" y="178308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  <a:effectLst>
            <a:outerShdw blurRad="50800" dist="165100" dir="2520000" sx="98000" sy="98000" algn="ctr" rotWithShape="0">
              <a:schemeClr val="tx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4" name="Google Shape;408;p24"/>
          <p:cNvCxnSpPr/>
          <p:nvPr/>
        </p:nvCxnSpPr>
        <p:spPr>
          <a:xfrm>
            <a:off x="5760719" y="3501238"/>
            <a:ext cx="3840480" cy="914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09;p24"/>
          <p:cNvCxnSpPr>
            <a:stCxn id="419" idx="4"/>
            <a:endCxn id="416" idx="2"/>
          </p:cNvCxnSpPr>
          <p:nvPr/>
        </p:nvCxnSpPr>
        <p:spPr>
          <a:xfrm>
            <a:off x="6720839" y="3693262"/>
            <a:ext cx="795528" cy="721461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10;p24"/>
          <p:cNvCxnSpPr>
            <a:endCxn id="418" idx="2"/>
          </p:cNvCxnSpPr>
          <p:nvPr/>
        </p:nvCxnSpPr>
        <p:spPr>
          <a:xfrm>
            <a:off x="7680959" y="4414723"/>
            <a:ext cx="1767650" cy="0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24">
            <a:extLst>
              <a:ext uri="{FF2B5EF4-FFF2-40B4-BE49-F238E27FC236}">
                <a16:creationId xmlns="" xmlns:a16="http://schemas.microsoft.com/office/drawing/2014/main" id="{F5AA4787-21F5-4A55-9344-F93EBDD71A83}"/>
              </a:ext>
            </a:extLst>
          </p:cNvPr>
          <p:cNvSpPr>
            <a:spLocks noGrp="1"/>
          </p:cNvSpPr>
          <p:nvPr/>
        </p:nvSpPr>
        <p:spPr>
          <a:xfrm>
            <a:off x="5596127" y="333664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4">
            <a:extLst>
              <a:ext uri="{FF2B5EF4-FFF2-40B4-BE49-F238E27FC236}">
                <a16:creationId xmlns="" xmlns:a16="http://schemas.microsoft.com/office/drawing/2014/main" id="{6F398570-80E3-4F89-BC52-324F2D69064D}"/>
              </a:ext>
            </a:extLst>
          </p:cNvPr>
          <p:cNvSpPr>
            <a:spLocks noGrp="1"/>
          </p:cNvSpPr>
          <p:nvPr/>
        </p:nvSpPr>
        <p:spPr>
          <a:xfrm>
            <a:off x="6556247" y="333664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4">
            <a:extLst>
              <a:ext uri="{FF2B5EF4-FFF2-40B4-BE49-F238E27FC236}">
                <a16:creationId xmlns="" xmlns:a16="http://schemas.microsoft.com/office/drawing/2014/main" id="{E3F0BBF2-B3F0-434D-9989-6E7DCE1C3CD4}"/>
              </a:ext>
            </a:extLst>
          </p:cNvPr>
          <p:cNvSpPr>
            <a:spLocks noGrp="1"/>
          </p:cNvSpPr>
          <p:nvPr/>
        </p:nvSpPr>
        <p:spPr>
          <a:xfrm>
            <a:off x="7516367" y="333664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4">
            <a:extLst>
              <a:ext uri="{FF2B5EF4-FFF2-40B4-BE49-F238E27FC236}">
                <a16:creationId xmlns="" xmlns:a16="http://schemas.microsoft.com/office/drawing/2014/main" id="{055682EF-0D29-4D0E-97D1-3D448FEA2295}"/>
              </a:ext>
            </a:extLst>
          </p:cNvPr>
          <p:cNvSpPr>
            <a:spLocks noGrp="1"/>
          </p:cNvSpPr>
          <p:nvPr/>
        </p:nvSpPr>
        <p:spPr>
          <a:xfrm>
            <a:off x="8476487" y="333664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4">
            <a:extLst>
              <a:ext uri="{FF2B5EF4-FFF2-40B4-BE49-F238E27FC236}">
                <a16:creationId xmlns="" xmlns:a16="http://schemas.microsoft.com/office/drawing/2014/main" id="{553FB8D7-D6A5-4EB7-B654-02BFC35482C5}"/>
              </a:ext>
            </a:extLst>
          </p:cNvPr>
          <p:cNvSpPr>
            <a:spLocks noGrp="1"/>
          </p:cNvSpPr>
          <p:nvPr/>
        </p:nvSpPr>
        <p:spPr>
          <a:xfrm>
            <a:off x="9436607" y="333664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4">
            <a:extLst>
              <a:ext uri="{FF2B5EF4-FFF2-40B4-BE49-F238E27FC236}">
                <a16:creationId xmlns="" xmlns:a16="http://schemas.microsoft.com/office/drawing/2014/main" id="{41AE5C1E-78BD-44D2-A942-34A54482FB6F}"/>
              </a:ext>
            </a:extLst>
          </p:cNvPr>
          <p:cNvSpPr>
            <a:spLocks noGrp="1"/>
          </p:cNvSpPr>
          <p:nvPr/>
        </p:nvSpPr>
        <p:spPr>
          <a:xfrm>
            <a:off x="7516367" y="4250131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4">
            <a:extLst>
              <a:ext uri="{FF2B5EF4-FFF2-40B4-BE49-F238E27FC236}">
                <a16:creationId xmlns="" xmlns:a16="http://schemas.microsoft.com/office/drawing/2014/main" id="{22CCDC82-FBD8-4ECB-A5E3-1224AF9824AE}"/>
              </a:ext>
            </a:extLst>
          </p:cNvPr>
          <p:cNvSpPr>
            <a:spLocks noGrp="1"/>
          </p:cNvSpPr>
          <p:nvPr/>
        </p:nvSpPr>
        <p:spPr>
          <a:xfrm>
            <a:off x="8476487" y="4250131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4">
            <a:extLst>
              <a:ext uri="{FF2B5EF4-FFF2-40B4-BE49-F238E27FC236}">
                <a16:creationId xmlns="" xmlns:a16="http://schemas.microsoft.com/office/drawing/2014/main" id="{BCDDAC27-B6F5-4DB2-9BFA-B242A6721304}"/>
              </a:ext>
            </a:extLst>
          </p:cNvPr>
          <p:cNvSpPr>
            <a:spLocks noGrp="1"/>
          </p:cNvSpPr>
          <p:nvPr/>
        </p:nvSpPr>
        <p:spPr>
          <a:xfrm>
            <a:off x="9448609" y="4250131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4">
            <a:extLst>
              <a:ext uri="{FF2B5EF4-FFF2-40B4-BE49-F238E27FC236}">
                <a16:creationId xmlns="" xmlns:a16="http://schemas.microsoft.com/office/drawing/2014/main" id="{D09C385A-AF9F-4BB8-8B0A-EFFABB8F4BC9}"/>
              </a:ext>
            </a:extLst>
          </p:cNvPr>
          <p:cNvSpPr>
            <a:spLocks noGrp="1"/>
          </p:cNvSpPr>
          <p:nvPr/>
        </p:nvSpPr>
        <p:spPr>
          <a:xfrm>
            <a:off x="6528815" y="3309214"/>
            <a:ext cx="384048" cy="384048"/>
          </a:xfrm>
          <a:prstGeom prst="ellipse">
            <a:avLst/>
          </a:prstGeom>
          <a:solidFill>
            <a:srgbClr val="24292E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4">
            <a:extLst>
              <a:ext uri="{FF2B5EF4-FFF2-40B4-BE49-F238E27FC236}">
                <a16:creationId xmlns="" xmlns:a16="http://schemas.microsoft.com/office/drawing/2014/main" id="{EA5D3854-D775-4B5B-8D90-CA9056DA2DC0}"/>
              </a:ext>
            </a:extLst>
          </p:cNvPr>
          <p:cNvSpPr>
            <a:spLocks noGrp="1"/>
          </p:cNvSpPr>
          <p:nvPr/>
        </p:nvSpPr>
        <p:spPr>
          <a:xfrm>
            <a:off x="9957815" y="3354933"/>
            <a:ext cx="960120" cy="473747"/>
          </a:xfrm>
          <a:prstGeom prst="roundRect">
            <a:avLst>
              <a:gd name="adj" fmla="val 50000"/>
            </a:avLst>
          </a:prstGeom>
          <a:solidFill>
            <a:srgbClr val="444C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4">
            <a:extLst>
              <a:ext uri="{FF2B5EF4-FFF2-40B4-BE49-F238E27FC236}">
                <a16:creationId xmlns="" xmlns:a16="http://schemas.microsoft.com/office/drawing/2014/main" id="{A61C9314-E461-485E-9E10-54EC9D7258FF}"/>
              </a:ext>
            </a:extLst>
          </p:cNvPr>
          <p:cNvSpPr>
            <a:spLocks noGrp="1"/>
          </p:cNvSpPr>
          <p:nvPr/>
        </p:nvSpPr>
        <p:spPr>
          <a:xfrm>
            <a:off x="9957815" y="3354934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main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22" name="Google Shape;422;p24">
            <a:extLst>
              <a:ext uri="{FF2B5EF4-FFF2-40B4-BE49-F238E27FC236}">
                <a16:creationId xmlns="" xmlns:a16="http://schemas.microsoft.com/office/drawing/2014/main" id="{3F625D07-E1A6-45FB-8E7C-46E2401C4999}"/>
              </a:ext>
            </a:extLst>
          </p:cNvPr>
          <p:cNvSpPr>
            <a:spLocks noGrp="1"/>
          </p:cNvSpPr>
          <p:nvPr/>
        </p:nvSpPr>
        <p:spPr>
          <a:xfrm>
            <a:off x="9957815" y="4278935"/>
            <a:ext cx="960120" cy="47374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4">
            <a:extLst>
              <a:ext uri="{FF2B5EF4-FFF2-40B4-BE49-F238E27FC236}">
                <a16:creationId xmlns="" xmlns:a16="http://schemas.microsoft.com/office/drawing/2014/main" id="{F123AD4F-CF39-4AA1-9E9E-935D08915F81}"/>
              </a:ext>
            </a:extLst>
          </p:cNvPr>
          <p:cNvSpPr>
            <a:spLocks noGrp="1"/>
          </p:cNvSpPr>
          <p:nvPr/>
        </p:nvSpPr>
        <p:spPr>
          <a:xfrm>
            <a:off x="9957815" y="4278935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feature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24" name="Google Shape;424;p24">
            <a:extLst>
              <a:ext uri="{FF2B5EF4-FFF2-40B4-BE49-F238E27FC236}">
                <a16:creationId xmlns="" xmlns:a16="http://schemas.microsoft.com/office/drawing/2014/main" id="{1390E229-3104-4609-AC90-7FEBE4D987FB}"/>
              </a:ext>
            </a:extLst>
          </p:cNvPr>
          <p:cNvSpPr>
            <a:spLocks noGrp="1"/>
          </p:cNvSpPr>
          <p:nvPr/>
        </p:nvSpPr>
        <p:spPr>
          <a:xfrm>
            <a:off x="7845551" y="3948379"/>
            <a:ext cx="2103120" cy="418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git branch feature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25" name="Google Shape;425;p24">
            <a:extLst>
              <a:ext uri="{FF2B5EF4-FFF2-40B4-BE49-F238E27FC236}">
                <a16:creationId xmlns="" xmlns:a16="http://schemas.microsoft.com/office/drawing/2014/main" id="{FB8F0F6E-95A7-4676-8194-EAEED6DD9318}"/>
              </a:ext>
            </a:extLst>
          </p:cNvPr>
          <p:cNvSpPr>
            <a:spLocks noGrp="1"/>
          </p:cNvSpPr>
          <p:nvPr/>
        </p:nvSpPr>
        <p:spPr>
          <a:xfrm>
            <a:off x="6355079" y="2934310"/>
            <a:ext cx="731520" cy="418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分岐点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2060918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>
            <a:extLst>
              <a:ext uri="{FF2B5EF4-FFF2-40B4-BE49-F238E27FC236}">
                <a16:creationId xmlns="" xmlns:a16="http://schemas.microsoft.com/office/drawing/2014/main" id="{5E0550BD-050C-4C92-AAB8-07762D17FE3B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ブランチ操作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32" name="Google Shape;432;p25">
            <a:extLst>
              <a:ext uri="{FF2B5EF4-FFF2-40B4-BE49-F238E27FC236}">
                <a16:creationId xmlns="" xmlns:a16="http://schemas.microsoft.com/office/drawing/2014/main" id="{0E2F2B0B-ABD3-4177-B039-C8D7D68E739C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フォワード（Fast-forward）とは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33" name="Google Shape;433;p25">
            <a:extLst>
              <a:ext uri="{FF2B5EF4-FFF2-40B4-BE49-F238E27FC236}">
                <a16:creationId xmlns="" xmlns:a16="http://schemas.microsoft.com/office/drawing/2014/main" id="{845BB21C-56B7-4648-8D0E-3E38392260B9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7 — ブランチ操作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34" name="Google Shape;434;p25">
            <a:extLst>
              <a:ext uri="{FF2B5EF4-FFF2-40B4-BE49-F238E27FC236}">
                <a16:creationId xmlns="" xmlns:a16="http://schemas.microsoft.com/office/drawing/2014/main" id="{FBFDA6D3-80AA-460A-BA55-3B0401D8F472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25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35" name="Google Shape;435;p25">
            <a:extLst>
              <a:ext uri="{FF2B5EF4-FFF2-40B4-BE49-F238E27FC236}">
                <a16:creationId xmlns="" xmlns:a16="http://schemas.microsoft.com/office/drawing/2014/main" id="{67C1D044-AF0A-4653-B338-2EA41F707A7E}"/>
              </a:ext>
            </a:extLst>
          </p:cNvPr>
          <p:cNvSpPr>
            <a:spLocks noGrp="1"/>
          </p:cNvSpPr>
          <p:nvPr/>
        </p:nvSpPr>
        <p:spPr>
          <a:xfrm>
            <a:off x="548640" y="1874520"/>
            <a:ext cx="4297680" cy="433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分岐後、main 側に新しいコミットが追加されていない場合の統合方法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新しいマージコミットを作らず、main のポインタを feature の先端まで進めるだけ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履歴が一直線のまま保たれ、シンプルで分かりやすい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両方のブランチに変更がある場合は Fast-forward できない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36" name="Google Shape;436;p25">
            <a:extLst>
              <a:ext uri="{FF2B5EF4-FFF2-40B4-BE49-F238E27FC236}">
                <a16:creationId xmlns="" xmlns:a16="http://schemas.microsoft.com/office/drawing/2014/main" id="{08F6D55A-93E4-4893-BD88-712C6EEE76E9}"/>
              </a:ext>
            </a:extLst>
          </p:cNvPr>
          <p:cNvSpPr>
            <a:spLocks noGrp="1"/>
          </p:cNvSpPr>
          <p:nvPr/>
        </p:nvSpPr>
        <p:spPr>
          <a:xfrm>
            <a:off x="548640" y="5364915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5">
            <a:extLst>
              <a:ext uri="{FF2B5EF4-FFF2-40B4-BE49-F238E27FC236}">
                <a16:creationId xmlns="" xmlns:a16="http://schemas.microsoft.com/office/drawing/2014/main" id="{886D3415-0614-444D-A705-7D8AF15A149D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411480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merge feature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38" name="Google Shape;438;p25">
            <a:extLst>
              <a:ext uri="{FF2B5EF4-FFF2-40B4-BE49-F238E27FC236}">
                <a16:creationId xmlns="" xmlns:a16="http://schemas.microsoft.com/office/drawing/2014/main" id="{62FD999E-344E-4591-8B6B-7AB37DDEFA5B}"/>
              </a:ext>
            </a:extLst>
          </p:cNvPr>
          <p:cNvSpPr>
            <a:spLocks noGrp="1"/>
          </p:cNvSpPr>
          <p:nvPr/>
        </p:nvSpPr>
        <p:spPr>
          <a:xfrm>
            <a:off x="5120640" y="178308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5">
            <a:extLst>
              <a:ext uri="{FF2B5EF4-FFF2-40B4-BE49-F238E27FC236}">
                <a16:creationId xmlns="" xmlns:a16="http://schemas.microsoft.com/office/drawing/2014/main" id="{154B8D63-1E6A-46E8-AB1B-2BC6100BB663}"/>
              </a:ext>
            </a:extLst>
          </p:cNvPr>
          <p:cNvSpPr>
            <a:spLocks noGrp="1"/>
          </p:cNvSpPr>
          <p:nvPr/>
        </p:nvSpPr>
        <p:spPr>
          <a:xfrm>
            <a:off x="5394960" y="2130552"/>
            <a:ext cx="146304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05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BEFORE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472" name="Google Shape;440;p25"/>
          <p:cNvCxnSpPr/>
          <p:nvPr/>
        </p:nvCxnSpPr>
        <p:spPr>
          <a:xfrm>
            <a:off x="6492240" y="2697480"/>
            <a:ext cx="1828800" cy="914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3" name="Google Shape;441;p25"/>
          <p:cNvCxnSpPr/>
          <p:nvPr/>
        </p:nvCxnSpPr>
        <p:spPr>
          <a:xfrm>
            <a:off x="8321040" y="2697480"/>
            <a:ext cx="1828800" cy="914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2" name="Google Shape;442;p25">
            <a:extLst>
              <a:ext uri="{FF2B5EF4-FFF2-40B4-BE49-F238E27FC236}">
                <a16:creationId xmlns="" xmlns:a16="http://schemas.microsoft.com/office/drawing/2014/main" id="{879B252D-2207-4ED9-805C-64381630B71F}"/>
              </a:ext>
            </a:extLst>
          </p:cNvPr>
          <p:cNvSpPr>
            <a:spLocks noGrp="1"/>
          </p:cNvSpPr>
          <p:nvPr/>
        </p:nvSpPr>
        <p:spPr>
          <a:xfrm>
            <a:off x="6327648" y="2532888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5">
            <a:extLst>
              <a:ext uri="{FF2B5EF4-FFF2-40B4-BE49-F238E27FC236}">
                <a16:creationId xmlns="" xmlns:a16="http://schemas.microsoft.com/office/drawing/2014/main" id="{4FE8330B-418F-451B-B3B3-A1B8D921595F}"/>
              </a:ext>
            </a:extLst>
          </p:cNvPr>
          <p:cNvSpPr>
            <a:spLocks noGrp="1"/>
          </p:cNvSpPr>
          <p:nvPr/>
        </p:nvSpPr>
        <p:spPr>
          <a:xfrm>
            <a:off x="7242048" y="2532888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5">
            <a:extLst>
              <a:ext uri="{FF2B5EF4-FFF2-40B4-BE49-F238E27FC236}">
                <a16:creationId xmlns="" xmlns:a16="http://schemas.microsoft.com/office/drawing/2014/main" id="{1D411566-8887-49A3-8490-AB1B6E7FBAB6}"/>
              </a:ext>
            </a:extLst>
          </p:cNvPr>
          <p:cNvSpPr>
            <a:spLocks noGrp="1"/>
          </p:cNvSpPr>
          <p:nvPr/>
        </p:nvSpPr>
        <p:spPr>
          <a:xfrm>
            <a:off x="8156448" y="2532888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5">
            <a:extLst>
              <a:ext uri="{FF2B5EF4-FFF2-40B4-BE49-F238E27FC236}">
                <a16:creationId xmlns="" xmlns:a16="http://schemas.microsoft.com/office/drawing/2014/main" id="{46765E34-E6D9-4716-99E2-40F6E525FF13}"/>
              </a:ext>
            </a:extLst>
          </p:cNvPr>
          <p:cNvSpPr>
            <a:spLocks noGrp="1"/>
          </p:cNvSpPr>
          <p:nvPr/>
        </p:nvSpPr>
        <p:spPr>
          <a:xfrm>
            <a:off x="8156448" y="2532888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5">
            <a:extLst>
              <a:ext uri="{FF2B5EF4-FFF2-40B4-BE49-F238E27FC236}">
                <a16:creationId xmlns="" xmlns:a16="http://schemas.microsoft.com/office/drawing/2014/main" id="{680D9F20-500B-4E18-8C77-961B6ABE2756}"/>
              </a:ext>
            </a:extLst>
          </p:cNvPr>
          <p:cNvSpPr>
            <a:spLocks noGrp="1"/>
          </p:cNvSpPr>
          <p:nvPr/>
        </p:nvSpPr>
        <p:spPr>
          <a:xfrm>
            <a:off x="9070848" y="2532888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5">
            <a:extLst>
              <a:ext uri="{FF2B5EF4-FFF2-40B4-BE49-F238E27FC236}">
                <a16:creationId xmlns="" xmlns:a16="http://schemas.microsoft.com/office/drawing/2014/main" id="{3222085D-0965-4AAE-BB01-1B60C1C6F5C2}"/>
              </a:ext>
            </a:extLst>
          </p:cNvPr>
          <p:cNvSpPr>
            <a:spLocks noGrp="1"/>
          </p:cNvSpPr>
          <p:nvPr/>
        </p:nvSpPr>
        <p:spPr>
          <a:xfrm>
            <a:off x="9985248" y="2532888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5">
            <a:extLst>
              <a:ext uri="{FF2B5EF4-FFF2-40B4-BE49-F238E27FC236}">
                <a16:creationId xmlns="" xmlns:a16="http://schemas.microsoft.com/office/drawing/2014/main" id="{53F76B77-C610-402D-9488-574655538E3D}"/>
              </a:ext>
            </a:extLst>
          </p:cNvPr>
          <p:cNvSpPr>
            <a:spLocks noGrp="1"/>
          </p:cNvSpPr>
          <p:nvPr/>
        </p:nvSpPr>
        <p:spPr>
          <a:xfrm>
            <a:off x="7863840" y="2039112"/>
            <a:ext cx="1936628" cy="493776"/>
          </a:xfrm>
          <a:prstGeom prst="roundRect">
            <a:avLst>
              <a:gd name="adj" fmla="val 50000"/>
            </a:avLst>
          </a:prstGeom>
          <a:solidFill>
            <a:srgbClr val="444C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5">
            <a:extLst>
              <a:ext uri="{FF2B5EF4-FFF2-40B4-BE49-F238E27FC236}">
                <a16:creationId xmlns="" xmlns:a16="http://schemas.microsoft.com/office/drawing/2014/main" id="{D2FB3EC8-1EF7-40CB-9241-0058692E8E6D}"/>
              </a:ext>
            </a:extLst>
          </p:cNvPr>
          <p:cNvSpPr>
            <a:spLocks noGrp="1"/>
          </p:cNvSpPr>
          <p:nvPr/>
        </p:nvSpPr>
        <p:spPr>
          <a:xfrm>
            <a:off x="7886700" y="2026412"/>
            <a:ext cx="203454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main/feature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50" name="Google Shape;450;p25">
            <a:extLst>
              <a:ext uri="{FF2B5EF4-FFF2-40B4-BE49-F238E27FC236}">
                <a16:creationId xmlns="" xmlns:a16="http://schemas.microsoft.com/office/drawing/2014/main" id="{7AFB69C0-BF09-4D85-8951-8A997E65D63D}"/>
              </a:ext>
            </a:extLst>
          </p:cNvPr>
          <p:cNvSpPr>
            <a:spLocks noGrp="1"/>
          </p:cNvSpPr>
          <p:nvPr/>
        </p:nvSpPr>
        <p:spPr>
          <a:xfrm>
            <a:off x="10287000" y="238658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3" name="Google Shape;452;p25"/>
          <p:cNvCxnSpPr/>
          <p:nvPr/>
        </p:nvCxnSpPr>
        <p:spPr>
          <a:xfrm>
            <a:off x="5394960" y="3886200"/>
            <a:ext cx="5943600" cy="0"/>
          </a:xfrm>
          <a:prstGeom prst="straightConnector1">
            <a:avLst/>
          </a:prstGeom>
          <a:ln w="12700" cap="flat">
            <a:solidFill>
              <a:srgbClr val="D0D7DE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53" name="Google Shape;453;p25">
            <a:extLst>
              <a:ext uri="{FF2B5EF4-FFF2-40B4-BE49-F238E27FC236}">
                <a16:creationId xmlns="" xmlns:a16="http://schemas.microsoft.com/office/drawing/2014/main" id="{2399B2DE-E450-42F0-9ED4-6E90086713C1}"/>
              </a:ext>
            </a:extLst>
          </p:cNvPr>
          <p:cNvSpPr>
            <a:spLocks noGrp="1"/>
          </p:cNvSpPr>
          <p:nvPr/>
        </p:nvSpPr>
        <p:spPr>
          <a:xfrm>
            <a:off x="5394960" y="4416552"/>
            <a:ext cx="146304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05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AFTER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485" name="Google Shape;454;p25"/>
          <p:cNvCxnSpPr/>
          <p:nvPr/>
        </p:nvCxnSpPr>
        <p:spPr>
          <a:xfrm>
            <a:off x="6492240" y="4983480"/>
            <a:ext cx="3657600" cy="914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5" name="Google Shape;455;p25">
            <a:extLst>
              <a:ext uri="{FF2B5EF4-FFF2-40B4-BE49-F238E27FC236}">
                <a16:creationId xmlns="" xmlns:a16="http://schemas.microsoft.com/office/drawing/2014/main" id="{8B57CC38-9FD6-4CB6-964B-F93264454C5D}"/>
              </a:ext>
            </a:extLst>
          </p:cNvPr>
          <p:cNvSpPr>
            <a:spLocks noGrp="1"/>
          </p:cNvSpPr>
          <p:nvPr/>
        </p:nvSpPr>
        <p:spPr>
          <a:xfrm>
            <a:off x="6327648" y="4818888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5">
            <a:extLst>
              <a:ext uri="{FF2B5EF4-FFF2-40B4-BE49-F238E27FC236}">
                <a16:creationId xmlns="" xmlns:a16="http://schemas.microsoft.com/office/drawing/2014/main" id="{156F136E-E3F0-4E58-B203-BE323905D507}"/>
              </a:ext>
            </a:extLst>
          </p:cNvPr>
          <p:cNvSpPr>
            <a:spLocks noGrp="1"/>
          </p:cNvSpPr>
          <p:nvPr/>
        </p:nvSpPr>
        <p:spPr>
          <a:xfrm>
            <a:off x="7242048" y="4818888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5">
            <a:extLst>
              <a:ext uri="{FF2B5EF4-FFF2-40B4-BE49-F238E27FC236}">
                <a16:creationId xmlns="" xmlns:a16="http://schemas.microsoft.com/office/drawing/2014/main" id="{4F9F1B15-5C4E-4D21-B43C-1EECE1A9564D}"/>
              </a:ext>
            </a:extLst>
          </p:cNvPr>
          <p:cNvSpPr>
            <a:spLocks noGrp="1"/>
          </p:cNvSpPr>
          <p:nvPr/>
        </p:nvSpPr>
        <p:spPr>
          <a:xfrm>
            <a:off x="8156448" y="4818888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5">
            <a:extLst>
              <a:ext uri="{FF2B5EF4-FFF2-40B4-BE49-F238E27FC236}">
                <a16:creationId xmlns="" xmlns:a16="http://schemas.microsoft.com/office/drawing/2014/main" id="{3A3CD03F-0DE1-44A8-A3B3-A0CB830FA8BE}"/>
              </a:ext>
            </a:extLst>
          </p:cNvPr>
          <p:cNvSpPr>
            <a:spLocks noGrp="1"/>
          </p:cNvSpPr>
          <p:nvPr/>
        </p:nvSpPr>
        <p:spPr>
          <a:xfrm>
            <a:off x="9070848" y="4818888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25">
            <a:extLst>
              <a:ext uri="{FF2B5EF4-FFF2-40B4-BE49-F238E27FC236}">
                <a16:creationId xmlns="" xmlns:a16="http://schemas.microsoft.com/office/drawing/2014/main" id="{73D52190-3145-4515-9475-06EB6531E486}"/>
              </a:ext>
            </a:extLst>
          </p:cNvPr>
          <p:cNvSpPr>
            <a:spLocks noGrp="1"/>
          </p:cNvSpPr>
          <p:nvPr/>
        </p:nvSpPr>
        <p:spPr>
          <a:xfrm>
            <a:off x="9985248" y="4818888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5">
            <a:extLst>
              <a:ext uri="{FF2B5EF4-FFF2-40B4-BE49-F238E27FC236}">
                <a16:creationId xmlns="" xmlns:a16="http://schemas.microsoft.com/office/drawing/2014/main" id="{183EF1C1-2083-4DB3-8159-DDBEDFAFC5BD}"/>
              </a:ext>
            </a:extLst>
          </p:cNvPr>
          <p:cNvSpPr>
            <a:spLocks noGrp="1"/>
          </p:cNvSpPr>
          <p:nvPr/>
        </p:nvSpPr>
        <p:spPr>
          <a:xfrm>
            <a:off x="9535292" y="4407408"/>
            <a:ext cx="2199508" cy="411480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5">
            <a:extLst>
              <a:ext uri="{FF2B5EF4-FFF2-40B4-BE49-F238E27FC236}">
                <a16:creationId xmlns="" xmlns:a16="http://schemas.microsoft.com/office/drawing/2014/main" id="{67615531-C2A2-4C97-BF0A-DE56A0DC3703}"/>
              </a:ext>
            </a:extLst>
          </p:cNvPr>
          <p:cNvSpPr>
            <a:spLocks noGrp="1"/>
          </p:cNvSpPr>
          <p:nvPr/>
        </p:nvSpPr>
        <p:spPr>
          <a:xfrm>
            <a:off x="9235440" y="4345142"/>
            <a:ext cx="2863972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main = feature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62" name="Google Shape;462;p25">
            <a:extLst>
              <a:ext uri="{FF2B5EF4-FFF2-40B4-BE49-F238E27FC236}">
                <a16:creationId xmlns="" xmlns:a16="http://schemas.microsoft.com/office/drawing/2014/main" id="{1E025C8E-345F-4195-9686-F316ED2157CD}"/>
              </a:ext>
            </a:extLst>
          </p:cNvPr>
          <p:cNvSpPr>
            <a:spLocks noGrp="1"/>
          </p:cNvSpPr>
          <p:nvPr/>
        </p:nvSpPr>
        <p:spPr>
          <a:xfrm>
            <a:off x="6309360" y="5257800"/>
            <a:ext cx="4023360" cy="83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050"/>
              <a:buFont typeface="HG丸ｺﾞｼｯｸM-PRO"/>
              <a:buNone/>
            </a:pPr>
            <a:r>
              <a:rPr sz="1600" b="0" i="1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新しいコミットを作らず、main のポインタが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050"/>
              <a:buFont typeface="HG丸ｺﾞｼｯｸM-PRO"/>
              <a:buNone/>
            </a:pPr>
            <a:r>
              <a:rPr sz="1600" b="0" i="1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そのまま先端まで進む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51" name="Google Shape;451;p25">
            <a:extLst>
              <a:ext uri="{FF2B5EF4-FFF2-40B4-BE49-F238E27FC236}">
                <a16:creationId xmlns="" xmlns:a16="http://schemas.microsoft.com/office/drawing/2014/main" id="{5FBB83BB-F6AF-4843-A8A1-2803740799E5}"/>
              </a:ext>
            </a:extLst>
          </p:cNvPr>
          <p:cNvSpPr>
            <a:spLocks noGrp="1"/>
          </p:cNvSpPr>
          <p:nvPr/>
        </p:nvSpPr>
        <p:spPr>
          <a:xfrm>
            <a:off x="10287000" y="2305159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feature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636024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6">
            <a:extLst>
              <a:ext uri="{FF2B5EF4-FFF2-40B4-BE49-F238E27FC236}">
                <a16:creationId xmlns="" xmlns:a16="http://schemas.microsoft.com/office/drawing/2014/main" id="{9C96C104-9428-4465-A47B-C507D0DC82FB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ブランチ操作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69" name="Google Shape;469;p26">
            <a:extLst>
              <a:ext uri="{FF2B5EF4-FFF2-40B4-BE49-F238E27FC236}">
                <a16:creationId xmlns="" xmlns:a16="http://schemas.microsoft.com/office/drawing/2014/main" id="{9D0547C9-48BB-443D-9A5C-40B55BD509BE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マージとは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70" name="Google Shape;470;p26">
            <a:extLst>
              <a:ext uri="{FF2B5EF4-FFF2-40B4-BE49-F238E27FC236}">
                <a16:creationId xmlns="" xmlns:a16="http://schemas.microsoft.com/office/drawing/2014/main" id="{D961179A-C2AF-40AE-B82F-7487F4F712CA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7 — ブランチ操作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71" name="Google Shape;471;p26">
            <a:extLst>
              <a:ext uri="{FF2B5EF4-FFF2-40B4-BE49-F238E27FC236}">
                <a16:creationId xmlns="" xmlns:a16="http://schemas.microsoft.com/office/drawing/2014/main" id="{13413CAE-0E73-488C-99D3-019D727B4373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26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72" name="Google Shape;472;p26">
            <a:extLst>
              <a:ext uri="{FF2B5EF4-FFF2-40B4-BE49-F238E27FC236}">
                <a16:creationId xmlns="" xmlns:a16="http://schemas.microsoft.com/office/drawing/2014/main" id="{65286B88-9075-4C91-A3A8-14E17DF842F1}"/>
              </a:ext>
            </a:extLst>
          </p:cNvPr>
          <p:cNvSpPr>
            <a:spLocks noGrp="1"/>
          </p:cNvSpPr>
          <p:nvPr/>
        </p:nvSpPr>
        <p:spPr>
          <a:xfrm>
            <a:off x="552450" y="1876425"/>
            <a:ext cx="4295775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複数ブランチの履歴を1つに統合する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両方に変更がある場合はマージコミットを作成する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元のコミット履歴は保持される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同じ箇所の変更はコンフリクトになる場合がある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73" name="Google Shape;473;p26">
            <a:extLst>
              <a:ext uri="{FF2B5EF4-FFF2-40B4-BE49-F238E27FC236}">
                <a16:creationId xmlns="" xmlns:a16="http://schemas.microsoft.com/office/drawing/2014/main" id="{9FAF8D13-70D0-47AC-8585-2F5ED8E8381D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6">
            <a:extLst>
              <a:ext uri="{FF2B5EF4-FFF2-40B4-BE49-F238E27FC236}">
                <a16:creationId xmlns="" xmlns:a16="http://schemas.microsoft.com/office/drawing/2014/main" id="{A3D63517-7ED1-4871-B776-6A5749B7322A}"/>
              </a:ext>
            </a:extLst>
          </p:cNvPr>
          <p:cNvSpPr>
            <a:spLocks noGrp="1"/>
          </p:cNvSpPr>
          <p:nvPr/>
        </p:nvSpPr>
        <p:spPr>
          <a:xfrm>
            <a:off x="552450" y="5257800"/>
            <a:ext cx="41148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merge &lt;ブランチ名&gt;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75" name="Google Shape;475;p26">
            <a:extLst>
              <a:ext uri="{FF2B5EF4-FFF2-40B4-BE49-F238E27FC236}">
                <a16:creationId xmlns="" xmlns:a16="http://schemas.microsoft.com/office/drawing/2014/main" id="{B0FD9A7F-0C73-41DE-8F93-6941D28DA4B6}"/>
              </a:ext>
            </a:extLst>
          </p:cNvPr>
          <p:cNvSpPr>
            <a:spLocks noGrp="1"/>
          </p:cNvSpPr>
          <p:nvPr/>
        </p:nvSpPr>
        <p:spPr>
          <a:xfrm>
            <a:off x="5120640" y="178308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0" name="Google Shape;476;p26"/>
          <p:cNvCxnSpPr/>
          <p:nvPr/>
        </p:nvCxnSpPr>
        <p:spPr>
          <a:xfrm>
            <a:off x="5760720" y="4643323"/>
            <a:ext cx="3657600" cy="914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1" name="Google Shape;477;p26"/>
          <p:cNvCxnSpPr/>
          <p:nvPr/>
        </p:nvCxnSpPr>
        <p:spPr>
          <a:xfrm rot="10800000" flipH="1">
            <a:off x="6675120" y="3044952"/>
            <a:ext cx="914400" cy="1598371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2" name="Google Shape;478;p26"/>
          <p:cNvCxnSpPr/>
          <p:nvPr/>
        </p:nvCxnSpPr>
        <p:spPr>
          <a:xfrm>
            <a:off x="7589520" y="3044952"/>
            <a:ext cx="1463040" cy="914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3" name="Google Shape;479;p26"/>
          <p:cNvCxnSpPr/>
          <p:nvPr/>
        </p:nvCxnSpPr>
        <p:spPr>
          <a:xfrm>
            <a:off x="9418320" y="4643323"/>
            <a:ext cx="274320" cy="18288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4" name="Google Shape;480;p26"/>
          <p:cNvCxnSpPr/>
          <p:nvPr/>
        </p:nvCxnSpPr>
        <p:spPr>
          <a:xfrm>
            <a:off x="9052560" y="3044952"/>
            <a:ext cx="640080" cy="1598371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1" name="Google Shape;481;p26">
            <a:extLst>
              <a:ext uri="{FF2B5EF4-FFF2-40B4-BE49-F238E27FC236}">
                <a16:creationId xmlns="" xmlns:a16="http://schemas.microsoft.com/office/drawing/2014/main" id="{2B688290-3395-4B08-9BDE-C153570C1119}"/>
              </a:ext>
            </a:extLst>
          </p:cNvPr>
          <p:cNvSpPr>
            <a:spLocks noGrp="1"/>
          </p:cNvSpPr>
          <p:nvPr/>
        </p:nvSpPr>
        <p:spPr>
          <a:xfrm>
            <a:off x="5596128" y="4478731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6">
            <a:extLst>
              <a:ext uri="{FF2B5EF4-FFF2-40B4-BE49-F238E27FC236}">
                <a16:creationId xmlns="" xmlns:a16="http://schemas.microsoft.com/office/drawing/2014/main" id="{9A2230EC-B5F9-4100-BCF9-15420E46FE0D}"/>
              </a:ext>
            </a:extLst>
          </p:cNvPr>
          <p:cNvSpPr>
            <a:spLocks noGrp="1"/>
          </p:cNvSpPr>
          <p:nvPr/>
        </p:nvSpPr>
        <p:spPr>
          <a:xfrm>
            <a:off x="6510528" y="4478731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6">
            <a:extLst>
              <a:ext uri="{FF2B5EF4-FFF2-40B4-BE49-F238E27FC236}">
                <a16:creationId xmlns="" xmlns:a16="http://schemas.microsoft.com/office/drawing/2014/main" id="{98F6F020-E4B2-4881-8484-3E19E9E27318}"/>
              </a:ext>
            </a:extLst>
          </p:cNvPr>
          <p:cNvSpPr>
            <a:spLocks noGrp="1"/>
          </p:cNvSpPr>
          <p:nvPr/>
        </p:nvSpPr>
        <p:spPr>
          <a:xfrm>
            <a:off x="7424928" y="4478731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6">
            <a:extLst>
              <a:ext uri="{FF2B5EF4-FFF2-40B4-BE49-F238E27FC236}">
                <a16:creationId xmlns="" xmlns:a16="http://schemas.microsoft.com/office/drawing/2014/main" id="{5514BEE9-C0F3-42F2-AF8B-BB0822C60129}"/>
              </a:ext>
            </a:extLst>
          </p:cNvPr>
          <p:cNvSpPr>
            <a:spLocks noGrp="1"/>
          </p:cNvSpPr>
          <p:nvPr/>
        </p:nvSpPr>
        <p:spPr>
          <a:xfrm>
            <a:off x="8339328" y="4478731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6">
            <a:extLst>
              <a:ext uri="{FF2B5EF4-FFF2-40B4-BE49-F238E27FC236}">
                <a16:creationId xmlns="" xmlns:a16="http://schemas.microsoft.com/office/drawing/2014/main" id="{65F8BD24-48A2-411F-B001-C5903E6CA05C}"/>
              </a:ext>
            </a:extLst>
          </p:cNvPr>
          <p:cNvSpPr>
            <a:spLocks noGrp="1"/>
          </p:cNvSpPr>
          <p:nvPr/>
        </p:nvSpPr>
        <p:spPr>
          <a:xfrm>
            <a:off x="7424928" y="2880360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6">
            <a:extLst>
              <a:ext uri="{FF2B5EF4-FFF2-40B4-BE49-F238E27FC236}">
                <a16:creationId xmlns="" xmlns:a16="http://schemas.microsoft.com/office/drawing/2014/main" id="{63680E9B-DAC0-4E4E-8659-53DC8FB18DB6}"/>
              </a:ext>
            </a:extLst>
          </p:cNvPr>
          <p:cNvSpPr>
            <a:spLocks noGrp="1"/>
          </p:cNvSpPr>
          <p:nvPr/>
        </p:nvSpPr>
        <p:spPr>
          <a:xfrm>
            <a:off x="8339328" y="2880360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6">
            <a:extLst>
              <a:ext uri="{FF2B5EF4-FFF2-40B4-BE49-F238E27FC236}">
                <a16:creationId xmlns="" xmlns:a16="http://schemas.microsoft.com/office/drawing/2014/main" id="{28994E94-8548-4980-ABCD-0CBEBE35AD69}"/>
              </a:ext>
            </a:extLst>
          </p:cNvPr>
          <p:cNvSpPr>
            <a:spLocks noGrp="1"/>
          </p:cNvSpPr>
          <p:nvPr/>
        </p:nvSpPr>
        <p:spPr>
          <a:xfrm>
            <a:off x="9482328" y="4433011"/>
            <a:ext cx="420624" cy="420624"/>
          </a:xfrm>
          <a:prstGeom prst="ellipse">
            <a:avLst/>
          </a:prstGeom>
          <a:solidFill>
            <a:srgbClr val="24292E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6">
            <a:extLst>
              <a:ext uri="{FF2B5EF4-FFF2-40B4-BE49-F238E27FC236}">
                <a16:creationId xmlns="" xmlns:a16="http://schemas.microsoft.com/office/drawing/2014/main" id="{32EC828D-0115-4258-9349-18091D2ABC7F}"/>
              </a:ext>
            </a:extLst>
          </p:cNvPr>
          <p:cNvSpPr>
            <a:spLocks noGrp="1"/>
          </p:cNvSpPr>
          <p:nvPr/>
        </p:nvSpPr>
        <p:spPr>
          <a:xfrm>
            <a:off x="9985248" y="4332427"/>
            <a:ext cx="960120" cy="493942"/>
          </a:xfrm>
          <a:prstGeom prst="roundRect">
            <a:avLst>
              <a:gd name="adj" fmla="val 50000"/>
            </a:avLst>
          </a:prstGeom>
          <a:solidFill>
            <a:srgbClr val="444C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6">
            <a:extLst>
              <a:ext uri="{FF2B5EF4-FFF2-40B4-BE49-F238E27FC236}">
                <a16:creationId xmlns="" xmlns:a16="http://schemas.microsoft.com/office/drawing/2014/main" id="{85BEE099-69B5-435F-B1AA-C6DCE7E407C1}"/>
              </a:ext>
            </a:extLst>
          </p:cNvPr>
          <p:cNvSpPr>
            <a:spLocks noGrp="1"/>
          </p:cNvSpPr>
          <p:nvPr/>
        </p:nvSpPr>
        <p:spPr>
          <a:xfrm>
            <a:off x="9985248" y="4332427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main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90" name="Google Shape;490;p26">
            <a:extLst>
              <a:ext uri="{FF2B5EF4-FFF2-40B4-BE49-F238E27FC236}">
                <a16:creationId xmlns="" xmlns:a16="http://schemas.microsoft.com/office/drawing/2014/main" id="{6EA28427-9655-45BD-895B-EDF8522A975D}"/>
              </a:ext>
            </a:extLst>
          </p:cNvPr>
          <p:cNvSpPr>
            <a:spLocks noGrp="1"/>
          </p:cNvSpPr>
          <p:nvPr/>
        </p:nvSpPr>
        <p:spPr>
          <a:xfrm>
            <a:off x="9052560" y="4899355"/>
            <a:ext cx="1463040" cy="418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マージコミット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91" name="Google Shape;491;p26">
            <a:extLst>
              <a:ext uri="{FF2B5EF4-FFF2-40B4-BE49-F238E27FC236}">
                <a16:creationId xmlns="" xmlns:a16="http://schemas.microsoft.com/office/drawing/2014/main" id="{5F187467-678D-4102-A877-BE8DEDC98B24}"/>
              </a:ext>
            </a:extLst>
          </p:cNvPr>
          <p:cNvSpPr>
            <a:spLocks noGrp="1"/>
          </p:cNvSpPr>
          <p:nvPr/>
        </p:nvSpPr>
        <p:spPr>
          <a:xfrm>
            <a:off x="5394960" y="5212080"/>
            <a:ext cx="5943600" cy="9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00"/>
              <a:buFont typeface="HG丸ｺﾞｼｯｸM-PRO"/>
              <a:buNone/>
            </a:pPr>
            <a:r>
              <a:rPr sz="1600" b="0" i="1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両方の変更履歴を取り込んだ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00"/>
              <a:buFont typeface="HG丸ｺﾞｼｯｸM-PRO"/>
              <a:buNone/>
            </a:pPr>
            <a:r>
              <a:rPr sz="1600" b="0" i="1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新しいコミットが作られる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850659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7">
            <a:extLst>
              <a:ext uri="{FF2B5EF4-FFF2-40B4-BE49-F238E27FC236}">
                <a16:creationId xmlns="" xmlns:a16="http://schemas.microsoft.com/office/drawing/2014/main" id="{0FDE1A37-FA32-4CC6-B08D-1855750E4C6A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ブランチ操作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98" name="Google Shape;498;p27">
            <a:extLst>
              <a:ext uri="{FF2B5EF4-FFF2-40B4-BE49-F238E27FC236}">
                <a16:creationId xmlns="" xmlns:a16="http://schemas.microsoft.com/office/drawing/2014/main" id="{98FFAC27-13F2-4535-8FCD-6C76BC41E9EC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リベースとは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99" name="Google Shape;499;p27">
            <a:extLst>
              <a:ext uri="{FF2B5EF4-FFF2-40B4-BE49-F238E27FC236}">
                <a16:creationId xmlns="" xmlns:a16="http://schemas.microsoft.com/office/drawing/2014/main" id="{0B64C5E5-073C-4CA3-95B1-D71575212DB2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7 — ブランチ操作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00" name="Google Shape;500;p27">
            <a:extLst>
              <a:ext uri="{FF2B5EF4-FFF2-40B4-BE49-F238E27FC236}">
                <a16:creationId xmlns="" xmlns:a16="http://schemas.microsoft.com/office/drawing/2014/main" id="{17409159-B405-4DA0-8AF8-8BCA12928137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27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01" name="Google Shape;501;p27">
            <a:extLst>
              <a:ext uri="{FF2B5EF4-FFF2-40B4-BE49-F238E27FC236}">
                <a16:creationId xmlns="" xmlns:a16="http://schemas.microsoft.com/office/drawing/2014/main" id="{F323A472-564F-4ADB-BA98-5B88F5BC98D5}"/>
              </a:ext>
            </a:extLst>
          </p:cNvPr>
          <p:cNvSpPr>
            <a:spLocks noGrp="1"/>
          </p:cNvSpPr>
          <p:nvPr/>
        </p:nvSpPr>
        <p:spPr>
          <a:xfrm>
            <a:off x="548640" y="1874520"/>
            <a:ext cx="4297680" cy="433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ブランチの分岐元（土台）を付け替え、コミット履歴を一直線に再構成する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feature の各コミットを、最新の main の上に「乗せ直す」イメージ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履歴がすっきりと見やすくなる一方、コミットのハッシュ値は変わる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共有済み（他人も使っている）ブランチへのリベースは注意して行う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02" name="Google Shape;502;p27">
            <a:extLst>
              <a:ext uri="{FF2B5EF4-FFF2-40B4-BE49-F238E27FC236}">
                <a16:creationId xmlns="" xmlns:a16="http://schemas.microsoft.com/office/drawing/2014/main" id="{0C14708C-A2A5-407F-B1D9-49523B00B856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4114800" cy="473746"/>
          </a:xfrm>
          <a:prstGeom prst="roundRect">
            <a:avLst>
              <a:gd name="adj" fmla="val 1764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7">
            <a:extLst>
              <a:ext uri="{FF2B5EF4-FFF2-40B4-BE49-F238E27FC236}">
                <a16:creationId xmlns="" xmlns:a16="http://schemas.microsoft.com/office/drawing/2014/main" id="{3C3FA623-535C-4ABE-B0F3-4057EFC3F1E1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411480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rebase main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04" name="Google Shape;504;p27">
            <a:extLst>
              <a:ext uri="{FF2B5EF4-FFF2-40B4-BE49-F238E27FC236}">
                <a16:creationId xmlns="" xmlns:a16="http://schemas.microsoft.com/office/drawing/2014/main" id="{CE4D5A9F-A1A0-496E-A9E2-2BD9C6EA478E}"/>
              </a:ext>
            </a:extLst>
          </p:cNvPr>
          <p:cNvSpPr>
            <a:spLocks noGrp="1"/>
          </p:cNvSpPr>
          <p:nvPr/>
        </p:nvSpPr>
        <p:spPr>
          <a:xfrm>
            <a:off x="5120640" y="178308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7">
            <a:extLst>
              <a:ext uri="{FF2B5EF4-FFF2-40B4-BE49-F238E27FC236}">
                <a16:creationId xmlns="" xmlns:a16="http://schemas.microsoft.com/office/drawing/2014/main" id="{176E4319-24E0-4991-A593-DF9024838C4E}"/>
              </a:ext>
            </a:extLst>
          </p:cNvPr>
          <p:cNvSpPr>
            <a:spLocks noGrp="1"/>
          </p:cNvSpPr>
          <p:nvPr/>
        </p:nvSpPr>
        <p:spPr>
          <a:xfrm>
            <a:off x="5394960" y="2176272"/>
            <a:ext cx="146304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05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BEFORE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540" name="Google Shape;506;p27"/>
          <p:cNvCxnSpPr/>
          <p:nvPr/>
        </p:nvCxnSpPr>
        <p:spPr>
          <a:xfrm>
            <a:off x="5760720" y="2743200"/>
            <a:ext cx="1975104" cy="914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1" name="Google Shape;507;p27"/>
          <p:cNvCxnSpPr/>
          <p:nvPr/>
        </p:nvCxnSpPr>
        <p:spPr>
          <a:xfrm rot="10800000" flipH="1">
            <a:off x="6419088" y="2057400"/>
            <a:ext cx="526694" cy="685800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2" name="Google Shape;508;p27"/>
          <p:cNvCxnSpPr/>
          <p:nvPr/>
        </p:nvCxnSpPr>
        <p:spPr>
          <a:xfrm>
            <a:off x="6945782" y="2057400"/>
            <a:ext cx="921715" cy="914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9" name="Google Shape;509;p27">
            <a:extLst>
              <a:ext uri="{FF2B5EF4-FFF2-40B4-BE49-F238E27FC236}">
                <a16:creationId xmlns="" xmlns:a16="http://schemas.microsoft.com/office/drawing/2014/main" id="{01A8C22E-856A-41C5-9F5F-5D76370797BD}"/>
              </a:ext>
            </a:extLst>
          </p:cNvPr>
          <p:cNvSpPr>
            <a:spLocks noGrp="1"/>
          </p:cNvSpPr>
          <p:nvPr/>
        </p:nvSpPr>
        <p:spPr>
          <a:xfrm>
            <a:off x="5623560" y="2606040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7">
            <a:extLst>
              <a:ext uri="{FF2B5EF4-FFF2-40B4-BE49-F238E27FC236}">
                <a16:creationId xmlns="" xmlns:a16="http://schemas.microsoft.com/office/drawing/2014/main" id="{4AAEA727-12D9-42C6-8EF0-F0D7B637A613}"/>
              </a:ext>
            </a:extLst>
          </p:cNvPr>
          <p:cNvSpPr>
            <a:spLocks noGrp="1"/>
          </p:cNvSpPr>
          <p:nvPr/>
        </p:nvSpPr>
        <p:spPr>
          <a:xfrm>
            <a:off x="6281928" y="2606040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7">
            <a:extLst>
              <a:ext uri="{FF2B5EF4-FFF2-40B4-BE49-F238E27FC236}">
                <a16:creationId xmlns="" xmlns:a16="http://schemas.microsoft.com/office/drawing/2014/main" id="{549B56BA-8A46-4D12-AE47-84B464604024}"/>
              </a:ext>
            </a:extLst>
          </p:cNvPr>
          <p:cNvSpPr>
            <a:spLocks noGrp="1"/>
          </p:cNvSpPr>
          <p:nvPr/>
        </p:nvSpPr>
        <p:spPr>
          <a:xfrm>
            <a:off x="6940296" y="2606040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7">
            <a:extLst>
              <a:ext uri="{FF2B5EF4-FFF2-40B4-BE49-F238E27FC236}">
                <a16:creationId xmlns="" xmlns:a16="http://schemas.microsoft.com/office/drawing/2014/main" id="{3CD77A8C-3E20-49FE-9DC4-D206AB11BC06}"/>
              </a:ext>
            </a:extLst>
          </p:cNvPr>
          <p:cNvSpPr>
            <a:spLocks noGrp="1"/>
          </p:cNvSpPr>
          <p:nvPr/>
        </p:nvSpPr>
        <p:spPr>
          <a:xfrm>
            <a:off x="7598664" y="2606040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7">
            <a:extLst>
              <a:ext uri="{FF2B5EF4-FFF2-40B4-BE49-F238E27FC236}">
                <a16:creationId xmlns="" xmlns:a16="http://schemas.microsoft.com/office/drawing/2014/main" id="{884CC661-8716-4750-9BB3-F58B37870483}"/>
              </a:ext>
            </a:extLst>
          </p:cNvPr>
          <p:cNvSpPr>
            <a:spLocks noGrp="1"/>
          </p:cNvSpPr>
          <p:nvPr/>
        </p:nvSpPr>
        <p:spPr>
          <a:xfrm>
            <a:off x="6808622" y="1920240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7">
            <a:extLst>
              <a:ext uri="{FF2B5EF4-FFF2-40B4-BE49-F238E27FC236}">
                <a16:creationId xmlns="" xmlns:a16="http://schemas.microsoft.com/office/drawing/2014/main" id="{D8786682-4A7A-4868-BD89-8861A54F508C}"/>
              </a:ext>
            </a:extLst>
          </p:cNvPr>
          <p:cNvSpPr>
            <a:spLocks noGrp="1"/>
          </p:cNvSpPr>
          <p:nvPr/>
        </p:nvSpPr>
        <p:spPr>
          <a:xfrm>
            <a:off x="7269480" y="1920240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7">
            <a:extLst>
              <a:ext uri="{FF2B5EF4-FFF2-40B4-BE49-F238E27FC236}">
                <a16:creationId xmlns="" xmlns:a16="http://schemas.microsoft.com/office/drawing/2014/main" id="{43B26E4E-6824-46C2-85CE-F2D682DA4764}"/>
              </a:ext>
            </a:extLst>
          </p:cNvPr>
          <p:cNvSpPr>
            <a:spLocks noGrp="1"/>
          </p:cNvSpPr>
          <p:nvPr/>
        </p:nvSpPr>
        <p:spPr>
          <a:xfrm>
            <a:off x="7730338" y="1920240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7">
            <a:extLst>
              <a:ext uri="{FF2B5EF4-FFF2-40B4-BE49-F238E27FC236}">
                <a16:creationId xmlns="" xmlns:a16="http://schemas.microsoft.com/office/drawing/2014/main" id="{475A49AB-6852-47BA-BFE3-95BB9E524F5B}"/>
              </a:ext>
            </a:extLst>
          </p:cNvPr>
          <p:cNvSpPr>
            <a:spLocks noGrp="1"/>
          </p:cNvSpPr>
          <p:nvPr/>
        </p:nvSpPr>
        <p:spPr>
          <a:xfrm>
            <a:off x="8067126" y="1765495"/>
            <a:ext cx="1158698" cy="47374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7">
            <a:extLst>
              <a:ext uri="{FF2B5EF4-FFF2-40B4-BE49-F238E27FC236}">
                <a16:creationId xmlns="" xmlns:a16="http://schemas.microsoft.com/office/drawing/2014/main" id="{844DD28A-A9C5-4B9A-B6FE-861E729FD090}"/>
              </a:ext>
            </a:extLst>
          </p:cNvPr>
          <p:cNvSpPr>
            <a:spLocks noGrp="1"/>
          </p:cNvSpPr>
          <p:nvPr/>
        </p:nvSpPr>
        <p:spPr>
          <a:xfrm>
            <a:off x="8106383" y="1734315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feature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552" name="Google Shape;518;p27"/>
          <p:cNvCxnSpPr/>
          <p:nvPr/>
        </p:nvCxnSpPr>
        <p:spPr>
          <a:xfrm>
            <a:off x="5394960" y="3931920"/>
            <a:ext cx="5943600" cy="0"/>
          </a:xfrm>
          <a:prstGeom prst="straightConnector1">
            <a:avLst/>
          </a:prstGeom>
          <a:ln w="12700" cap="flat">
            <a:solidFill>
              <a:srgbClr val="D0D7DE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19" name="Google Shape;519;p27">
            <a:extLst>
              <a:ext uri="{FF2B5EF4-FFF2-40B4-BE49-F238E27FC236}">
                <a16:creationId xmlns="" xmlns:a16="http://schemas.microsoft.com/office/drawing/2014/main" id="{DD67F178-8C6D-4E9E-9B23-1747FCCFA3F6}"/>
              </a:ext>
            </a:extLst>
          </p:cNvPr>
          <p:cNvSpPr>
            <a:spLocks noGrp="1"/>
          </p:cNvSpPr>
          <p:nvPr/>
        </p:nvSpPr>
        <p:spPr>
          <a:xfrm>
            <a:off x="5394960" y="4553712"/>
            <a:ext cx="146304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05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AFTER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554" name="Google Shape;520;p27"/>
          <p:cNvCxnSpPr/>
          <p:nvPr/>
        </p:nvCxnSpPr>
        <p:spPr>
          <a:xfrm>
            <a:off x="5760720" y="5120640"/>
            <a:ext cx="3950208" cy="914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1" name="Google Shape;521;p27">
            <a:extLst>
              <a:ext uri="{FF2B5EF4-FFF2-40B4-BE49-F238E27FC236}">
                <a16:creationId xmlns="" xmlns:a16="http://schemas.microsoft.com/office/drawing/2014/main" id="{D3630364-2C3F-4592-B386-6AE817B1B706}"/>
              </a:ext>
            </a:extLst>
          </p:cNvPr>
          <p:cNvSpPr>
            <a:spLocks noGrp="1"/>
          </p:cNvSpPr>
          <p:nvPr/>
        </p:nvSpPr>
        <p:spPr>
          <a:xfrm>
            <a:off x="5623560" y="4983480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7">
            <a:extLst>
              <a:ext uri="{FF2B5EF4-FFF2-40B4-BE49-F238E27FC236}">
                <a16:creationId xmlns="" xmlns:a16="http://schemas.microsoft.com/office/drawing/2014/main" id="{96D3451C-5BBD-40D1-9504-ADBA175C5651}"/>
              </a:ext>
            </a:extLst>
          </p:cNvPr>
          <p:cNvSpPr>
            <a:spLocks noGrp="1"/>
          </p:cNvSpPr>
          <p:nvPr/>
        </p:nvSpPr>
        <p:spPr>
          <a:xfrm>
            <a:off x="6281928" y="4983480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">
            <a:extLst>
              <a:ext uri="{FF2B5EF4-FFF2-40B4-BE49-F238E27FC236}">
                <a16:creationId xmlns="" xmlns:a16="http://schemas.microsoft.com/office/drawing/2014/main" id="{05AB3E50-81CD-417F-B33D-2FC427F28DAD}"/>
              </a:ext>
            </a:extLst>
          </p:cNvPr>
          <p:cNvSpPr>
            <a:spLocks noGrp="1"/>
          </p:cNvSpPr>
          <p:nvPr/>
        </p:nvSpPr>
        <p:spPr>
          <a:xfrm>
            <a:off x="6940296" y="4983480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7">
            <a:extLst>
              <a:ext uri="{FF2B5EF4-FFF2-40B4-BE49-F238E27FC236}">
                <a16:creationId xmlns="" xmlns:a16="http://schemas.microsoft.com/office/drawing/2014/main" id="{3BCA5799-01C9-4324-9CB2-78A6529F12CE}"/>
              </a:ext>
            </a:extLst>
          </p:cNvPr>
          <p:cNvSpPr>
            <a:spLocks noGrp="1"/>
          </p:cNvSpPr>
          <p:nvPr/>
        </p:nvSpPr>
        <p:spPr>
          <a:xfrm>
            <a:off x="7598664" y="4983480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7">
            <a:extLst>
              <a:ext uri="{FF2B5EF4-FFF2-40B4-BE49-F238E27FC236}">
                <a16:creationId xmlns="" xmlns:a16="http://schemas.microsoft.com/office/drawing/2014/main" id="{E8060D8C-C5D8-4344-B827-F8A7E0A6C87B}"/>
              </a:ext>
            </a:extLst>
          </p:cNvPr>
          <p:cNvSpPr>
            <a:spLocks noGrp="1"/>
          </p:cNvSpPr>
          <p:nvPr/>
        </p:nvSpPr>
        <p:spPr>
          <a:xfrm>
            <a:off x="8257032" y="4983480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7">
            <a:extLst>
              <a:ext uri="{FF2B5EF4-FFF2-40B4-BE49-F238E27FC236}">
                <a16:creationId xmlns="" xmlns:a16="http://schemas.microsoft.com/office/drawing/2014/main" id="{C979BFB2-979C-4A6B-9E7A-5A9A06D39880}"/>
              </a:ext>
            </a:extLst>
          </p:cNvPr>
          <p:cNvSpPr>
            <a:spLocks noGrp="1"/>
          </p:cNvSpPr>
          <p:nvPr/>
        </p:nvSpPr>
        <p:spPr>
          <a:xfrm>
            <a:off x="8915400" y="4983480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7">
            <a:extLst>
              <a:ext uri="{FF2B5EF4-FFF2-40B4-BE49-F238E27FC236}">
                <a16:creationId xmlns="" xmlns:a16="http://schemas.microsoft.com/office/drawing/2014/main" id="{7D4FDA10-5EB7-4C49-AA4C-C16D73DFE931}"/>
              </a:ext>
            </a:extLst>
          </p:cNvPr>
          <p:cNvSpPr>
            <a:spLocks noGrp="1"/>
          </p:cNvSpPr>
          <p:nvPr/>
        </p:nvSpPr>
        <p:spPr>
          <a:xfrm>
            <a:off x="9573768" y="4983480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7">
            <a:extLst>
              <a:ext uri="{FF2B5EF4-FFF2-40B4-BE49-F238E27FC236}">
                <a16:creationId xmlns="" xmlns:a16="http://schemas.microsoft.com/office/drawing/2014/main" id="{66F8224D-991A-455A-87F5-2DEB73DA7407}"/>
              </a:ext>
            </a:extLst>
          </p:cNvPr>
          <p:cNvSpPr>
            <a:spLocks noGrp="1"/>
          </p:cNvSpPr>
          <p:nvPr/>
        </p:nvSpPr>
        <p:spPr>
          <a:xfrm>
            <a:off x="9882107" y="4800691"/>
            <a:ext cx="960120" cy="473746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7">
            <a:extLst>
              <a:ext uri="{FF2B5EF4-FFF2-40B4-BE49-F238E27FC236}">
                <a16:creationId xmlns="" xmlns:a16="http://schemas.microsoft.com/office/drawing/2014/main" id="{1E9929EF-4F92-4ADD-B785-773897C8EE1D}"/>
              </a:ext>
            </a:extLst>
          </p:cNvPr>
          <p:cNvSpPr>
            <a:spLocks noGrp="1"/>
          </p:cNvSpPr>
          <p:nvPr/>
        </p:nvSpPr>
        <p:spPr>
          <a:xfrm>
            <a:off x="9882107" y="4800691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feature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30" name="Google Shape;530;p27">
            <a:extLst>
              <a:ext uri="{FF2B5EF4-FFF2-40B4-BE49-F238E27FC236}">
                <a16:creationId xmlns="" xmlns:a16="http://schemas.microsoft.com/office/drawing/2014/main" id="{C3C1EE30-B06A-48AD-ABBA-8FCBE9037C43}"/>
              </a:ext>
            </a:extLst>
          </p:cNvPr>
          <p:cNvSpPr>
            <a:spLocks noGrp="1"/>
          </p:cNvSpPr>
          <p:nvPr/>
        </p:nvSpPr>
        <p:spPr>
          <a:xfrm>
            <a:off x="5577840" y="5394960"/>
            <a:ext cx="5303520" cy="696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050"/>
              <a:buFont typeface="HG丸ｺﾞｼｯｸM-PRO"/>
              <a:buNone/>
            </a:pPr>
            <a:r>
              <a:rPr sz="1600" b="0" i="1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分岐元を最新の main に付け替え、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050"/>
              <a:buFont typeface="HG丸ｺﾞｼｯｸM-PRO"/>
              <a:buNone/>
            </a:pPr>
            <a:r>
              <a:rPr sz="1600" b="0" i="1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コミットを一直線に再構成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039362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8">
            <a:extLst>
              <a:ext uri="{FF2B5EF4-FFF2-40B4-BE49-F238E27FC236}">
                <a16:creationId xmlns="" xmlns:a16="http://schemas.microsoft.com/office/drawing/2014/main" id="{34E8A2FF-5318-44AB-8F8C-7C4554630B49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ブランチ操作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37" name="Google Shape;537;p28">
            <a:extLst>
              <a:ext uri="{FF2B5EF4-FFF2-40B4-BE49-F238E27FC236}">
                <a16:creationId xmlns="" xmlns:a16="http://schemas.microsoft.com/office/drawing/2014/main" id="{57F7117C-C5E4-46DE-BF86-2168A026A364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マージ とリベース の違い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38" name="Google Shape;538;p28">
            <a:extLst>
              <a:ext uri="{FF2B5EF4-FFF2-40B4-BE49-F238E27FC236}">
                <a16:creationId xmlns="" xmlns:a16="http://schemas.microsoft.com/office/drawing/2014/main" id="{4D3C53F7-EC41-44CB-BA6E-9D015892415B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5257800" cy="4745736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8">
            <a:extLst>
              <a:ext uri="{FF2B5EF4-FFF2-40B4-BE49-F238E27FC236}">
                <a16:creationId xmlns="" xmlns:a16="http://schemas.microsoft.com/office/drawing/2014/main" id="{D8AFDEA1-8C48-4055-9B2C-4CAF9B88AB5A}"/>
              </a:ext>
            </a:extLst>
          </p:cNvPr>
          <p:cNvSpPr>
            <a:spLocks noGrp="1"/>
          </p:cNvSpPr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6" name="Google Shape;540;p2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2267712"/>
            <a:ext cx="356616" cy="356616"/>
          </a:xfrm>
          <a:prstGeom prst="rect">
            <a:avLst/>
          </a:prstGeom>
          <a:ln>
            <a:noFill/>
          </a:ln>
        </p:spPr>
      </p:pic>
      <p:sp>
        <p:nvSpPr>
          <p:cNvPr id="541" name="Google Shape;541;p28">
            <a:extLst>
              <a:ext uri="{FF2B5EF4-FFF2-40B4-BE49-F238E27FC236}">
                <a16:creationId xmlns="" xmlns:a16="http://schemas.microsoft.com/office/drawing/2014/main" id="{B6F8444B-F7C9-45BA-866A-33E0657FC937}"/>
              </a:ext>
            </a:extLst>
          </p:cNvPr>
          <p:cNvSpPr>
            <a:spLocks noGrp="1"/>
          </p:cNvSpPr>
          <p:nvPr/>
        </p:nvSpPr>
        <p:spPr>
          <a:xfrm>
            <a:off x="1691640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HG丸ｺﾞｼｯｸM-PRO"/>
              <a:buNone/>
            </a:pPr>
            <a:r>
              <a:rPr sz="18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マージ（merge）</a:t>
            </a:r>
            <a:endParaRPr sz="18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42" name="Google Shape;542;p28">
            <a:extLst>
              <a:ext uri="{FF2B5EF4-FFF2-40B4-BE49-F238E27FC236}">
                <a16:creationId xmlns="" xmlns:a16="http://schemas.microsoft.com/office/drawing/2014/main" id="{C8C59512-9E64-448A-B46D-637EC1AE4919}"/>
              </a:ext>
            </a:extLst>
          </p:cNvPr>
          <p:cNvSpPr>
            <a:spLocks noGrp="1"/>
          </p:cNvSpPr>
          <p:nvPr/>
        </p:nvSpPr>
        <p:spPr>
          <a:xfrm>
            <a:off x="868680" y="3017520"/>
            <a:ext cx="4617720" cy="33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履歴をありのまま残す（分岐・統合の跡が残る）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新しいマージコミットが1つ追加される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共有ブランチに対しても安全に使える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履歴が枝分かれして複雑に見えることがある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43" name="Google Shape;543;p28">
            <a:extLst>
              <a:ext uri="{FF2B5EF4-FFF2-40B4-BE49-F238E27FC236}">
                <a16:creationId xmlns="" xmlns:a16="http://schemas.microsoft.com/office/drawing/2014/main" id="{E965443F-9181-4389-9CDD-5B96C1A5ADBF}"/>
              </a:ext>
            </a:extLst>
          </p:cNvPr>
          <p:cNvSpPr>
            <a:spLocks noGrp="1"/>
          </p:cNvSpPr>
          <p:nvPr/>
        </p:nvSpPr>
        <p:spPr>
          <a:xfrm>
            <a:off x="6126480" y="1783080"/>
            <a:ext cx="5257800" cy="4733062"/>
          </a:xfrm>
          <a:prstGeom prst="roundRect">
            <a:avLst>
              <a:gd name="adj" fmla="val 219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8">
            <a:extLst>
              <a:ext uri="{FF2B5EF4-FFF2-40B4-BE49-F238E27FC236}">
                <a16:creationId xmlns="" xmlns:a16="http://schemas.microsoft.com/office/drawing/2014/main" id="{F26AE8CF-9EB3-4867-882A-67D329B025DF}"/>
              </a:ext>
            </a:extLst>
          </p:cNvPr>
          <p:cNvSpPr>
            <a:spLocks noGrp="1"/>
          </p:cNvSpPr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1" name="Google Shape;545;p2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1112" y="2267712"/>
            <a:ext cx="356616" cy="356616"/>
          </a:xfrm>
          <a:prstGeom prst="rect">
            <a:avLst/>
          </a:prstGeom>
          <a:ln>
            <a:noFill/>
          </a:ln>
        </p:spPr>
      </p:pic>
      <p:sp>
        <p:nvSpPr>
          <p:cNvPr id="546" name="Google Shape;546;p28">
            <a:extLst>
              <a:ext uri="{FF2B5EF4-FFF2-40B4-BE49-F238E27FC236}">
                <a16:creationId xmlns="" xmlns:a16="http://schemas.microsoft.com/office/drawing/2014/main" id="{217E654B-0786-480B-BCCF-E6CB17564EEA}"/>
              </a:ext>
            </a:extLst>
          </p:cNvPr>
          <p:cNvSpPr>
            <a:spLocks noGrp="1"/>
          </p:cNvSpPr>
          <p:nvPr/>
        </p:nvSpPr>
        <p:spPr>
          <a:xfrm>
            <a:off x="7269480" y="2103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800"/>
              <a:buFont typeface="HG丸ｺﾞｼｯｸM-PRO"/>
              <a:buNone/>
            </a:pPr>
            <a:r>
              <a:rPr sz="18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リベース（rebase）</a:t>
            </a:r>
            <a:endParaRPr sz="18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47" name="Google Shape;547;p28">
            <a:extLst>
              <a:ext uri="{FF2B5EF4-FFF2-40B4-BE49-F238E27FC236}">
                <a16:creationId xmlns="" xmlns:a16="http://schemas.microsoft.com/office/drawing/2014/main" id="{AB030FC8-46A5-45DB-8E73-E1991C32982B}"/>
              </a:ext>
            </a:extLst>
          </p:cNvPr>
          <p:cNvSpPr>
            <a:spLocks noGrp="1"/>
          </p:cNvSpPr>
          <p:nvPr/>
        </p:nvSpPr>
        <p:spPr>
          <a:xfrm>
            <a:off x="6446520" y="3017520"/>
            <a:ext cx="4617720" cy="331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履歴を一直線に整理し、見た目をシンプルに保つ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新しいコミットは増えないが、既存コミットが作り直される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共有ブランチへの使用は要注意（履歴の書き換えになるため）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個人の作業ブランチを整理する用途でよく使われる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48" name="Google Shape;548;p28">
            <a:extLst>
              <a:ext uri="{FF2B5EF4-FFF2-40B4-BE49-F238E27FC236}">
                <a16:creationId xmlns="" xmlns:a16="http://schemas.microsoft.com/office/drawing/2014/main" id="{E46DFA94-4D27-464F-8349-77234554D09E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 dirty="0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7 — </a:t>
            </a:r>
            <a:r>
              <a:rPr sz="1600" b="0" i="0" u="none" cap="none" dirty="0" err="1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ブランチ操作</a:t>
            </a:r>
            <a:endParaRPr sz="9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49" name="Google Shape;549;p28">
            <a:extLst>
              <a:ext uri="{FF2B5EF4-FFF2-40B4-BE49-F238E27FC236}">
                <a16:creationId xmlns="" xmlns:a16="http://schemas.microsoft.com/office/drawing/2014/main" id="{A5720599-F6CE-482B-A452-72E034B8337B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28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566" name="Google Shape;476;p26"/>
          <p:cNvCxnSpPr/>
          <p:nvPr/>
        </p:nvCxnSpPr>
        <p:spPr>
          <a:xfrm>
            <a:off x="815642" y="5698088"/>
            <a:ext cx="3657600" cy="914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7" name="Google Shape;477;p26"/>
          <p:cNvCxnSpPr>
            <a:stCxn id="22" idx="7"/>
            <a:endCxn id="25" idx="3"/>
          </p:cNvCxnSpPr>
          <p:nvPr/>
        </p:nvCxnSpPr>
        <p:spPr>
          <a:xfrm flipV="1">
            <a:off x="1846426" y="5113255"/>
            <a:ext cx="182335" cy="468449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8" name="Google Shape;478;p26"/>
          <p:cNvCxnSpPr>
            <a:endCxn id="26" idx="2"/>
          </p:cNvCxnSpPr>
          <p:nvPr/>
        </p:nvCxnSpPr>
        <p:spPr>
          <a:xfrm flipV="1">
            <a:off x="2248626" y="4988386"/>
            <a:ext cx="1373716" cy="8485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9" name="Google Shape;479;p26"/>
          <p:cNvCxnSpPr/>
          <p:nvPr/>
        </p:nvCxnSpPr>
        <p:spPr>
          <a:xfrm>
            <a:off x="4473242" y="5698088"/>
            <a:ext cx="274320" cy="18288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0" name="Google Shape;480;p26"/>
          <p:cNvCxnSpPr>
            <a:stCxn id="26" idx="5"/>
          </p:cNvCxnSpPr>
          <p:nvPr/>
        </p:nvCxnSpPr>
        <p:spPr>
          <a:xfrm>
            <a:off x="3903318" y="5104770"/>
            <a:ext cx="844244" cy="593318"/>
          </a:xfrm>
          <a:prstGeom prst="straightConnector1">
            <a:avLst/>
          </a:prstGeom>
          <a:ln w="28575" cap="flat">
            <a:solidFill>
              <a:srgbClr val="F0503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481;p26">
            <a:extLst>
              <a:ext uri="{FF2B5EF4-FFF2-40B4-BE49-F238E27FC236}">
                <a16:creationId xmlns="" xmlns:a16="http://schemas.microsoft.com/office/drawing/2014/main" id="{7B9F2F13-807C-4A4A-93F2-F827BC9C3573}"/>
              </a:ext>
            </a:extLst>
          </p:cNvPr>
          <p:cNvSpPr>
            <a:spLocks noGrp="1"/>
          </p:cNvSpPr>
          <p:nvPr/>
        </p:nvSpPr>
        <p:spPr>
          <a:xfrm>
            <a:off x="651050" y="553349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482;p26">
            <a:extLst>
              <a:ext uri="{FF2B5EF4-FFF2-40B4-BE49-F238E27FC236}">
                <a16:creationId xmlns="" xmlns:a16="http://schemas.microsoft.com/office/drawing/2014/main" id="{82FE4DA4-7907-4917-9502-06130C2151D3}"/>
              </a:ext>
            </a:extLst>
          </p:cNvPr>
          <p:cNvSpPr>
            <a:spLocks noGrp="1"/>
          </p:cNvSpPr>
          <p:nvPr/>
        </p:nvSpPr>
        <p:spPr>
          <a:xfrm>
            <a:off x="1565450" y="553349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483;p26">
            <a:extLst>
              <a:ext uri="{FF2B5EF4-FFF2-40B4-BE49-F238E27FC236}">
                <a16:creationId xmlns="" xmlns:a16="http://schemas.microsoft.com/office/drawing/2014/main" id="{1FCB2C3E-D0A4-412C-8BF0-D02FFC49D9C3}"/>
              </a:ext>
            </a:extLst>
          </p:cNvPr>
          <p:cNvSpPr>
            <a:spLocks noGrp="1"/>
          </p:cNvSpPr>
          <p:nvPr/>
        </p:nvSpPr>
        <p:spPr>
          <a:xfrm>
            <a:off x="2479850" y="553349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484;p26">
            <a:extLst>
              <a:ext uri="{FF2B5EF4-FFF2-40B4-BE49-F238E27FC236}">
                <a16:creationId xmlns="" xmlns:a16="http://schemas.microsoft.com/office/drawing/2014/main" id="{20B8469A-FC7B-4F51-A13B-C68C2E0EDA66}"/>
              </a:ext>
            </a:extLst>
          </p:cNvPr>
          <p:cNvSpPr>
            <a:spLocks noGrp="1"/>
          </p:cNvSpPr>
          <p:nvPr/>
        </p:nvSpPr>
        <p:spPr>
          <a:xfrm>
            <a:off x="3394250" y="5533496"/>
            <a:ext cx="329184" cy="329184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485;p26">
            <a:extLst>
              <a:ext uri="{FF2B5EF4-FFF2-40B4-BE49-F238E27FC236}">
                <a16:creationId xmlns="" xmlns:a16="http://schemas.microsoft.com/office/drawing/2014/main" id="{142597A0-D94C-4040-A097-4EAB2E72C43B}"/>
              </a:ext>
            </a:extLst>
          </p:cNvPr>
          <p:cNvSpPr>
            <a:spLocks noGrp="1"/>
          </p:cNvSpPr>
          <p:nvPr/>
        </p:nvSpPr>
        <p:spPr>
          <a:xfrm>
            <a:off x="1980553" y="4832279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486;p26">
            <a:extLst>
              <a:ext uri="{FF2B5EF4-FFF2-40B4-BE49-F238E27FC236}">
                <a16:creationId xmlns="" xmlns:a16="http://schemas.microsoft.com/office/drawing/2014/main" id="{8B3E1776-DDC4-4A40-AF30-130614D39372}"/>
              </a:ext>
            </a:extLst>
          </p:cNvPr>
          <p:cNvSpPr>
            <a:spLocks noGrp="1"/>
          </p:cNvSpPr>
          <p:nvPr/>
        </p:nvSpPr>
        <p:spPr>
          <a:xfrm>
            <a:off x="3622342" y="4823794"/>
            <a:ext cx="329184" cy="329184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487;p26">
            <a:extLst>
              <a:ext uri="{FF2B5EF4-FFF2-40B4-BE49-F238E27FC236}">
                <a16:creationId xmlns="" xmlns:a16="http://schemas.microsoft.com/office/drawing/2014/main" id="{B3C31FBD-1959-476E-806F-551E4E83F0ED}"/>
              </a:ext>
            </a:extLst>
          </p:cNvPr>
          <p:cNvSpPr>
            <a:spLocks noGrp="1"/>
          </p:cNvSpPr>
          <p:nvPr/>
        </p:nvSpPr>
        <p:spPr>
          <a:xfrm>
            <a:off x="4537250" y="5487776"/>
            <a:ext cx="420624" cy="420624"/>
          </a:xfrm>
          <a:prstGeom prst="ellipse">
            <a:avLst/>
          </a:prstGeom>
          <a:solidFill>
            <a:srgbClr val="24292E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488;p26">
            <a:extLst>
              <a:ext uri="{FF2B5EF4-FFF2-40B4-BE49-F238E27FC236}">
                <a16:creationId xmlns="" xmlns:a16="http://schemas.microsoft.com/office/drawing/2014/main" id="{CA6F780E-3F95-492E-8AFA-3024908B5231}"/>
              </a:ext>
            </a:extLst>
          </p:cNvPr>
          <p:cNvSpPr>
            <a:spLocks noGrp="1"/>
          </p:cNvSpPr>
          <p:nvPr/>
        </p:nvSpPr>
        <p:spPr>
          <a:xfrm>
            <a:off x="4267502" y="5970643"/>
            <a:ext cx="960120" cy="428662"/>
          </a:xfrm>
          <a:prstGeom prst="roundRect">
            <a:avLst>
              <a:gd name="adj" fmla="val 50000"/>
            </a:avLst>
          </a:prstGeom>
          <a:solidFill>
            <a:srgbClr val="444C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489;p26">
            <a:extLst>
              <a:ext uri="{FF2B5EF4-FFF2-40B4-BE49-F238E27FC236}">
                <a16:creationId xmlns="" xmlns:a16="http://schemas.microsoft.com/office/drawing/2014/main" id="{AC0A1950-395F-4CD2-94EC-ABB5D15999F7}"/>
              </a:ext>
            </a:extLst>
          </p:cNvPr>
          <p:cNvSpPr>
            <a:spLocks noGrp="1"/>
          </p:cNvSpPr>
          <p:nvPr/>
        </p:nvSpPr>
        <p:spPr>
          <a:xfrm>
            <a:off x="4267502" y="5926082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main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" name="Google Shape;490;p26">
            <a:extLst>
              <a:ext uri="{FF2B5EF4-FFF2-40B4-BE49-F238E27FC236}">
                <a16:creationId xmlns="" xmlns:a16="http://schemas.microsoft.com/office/drawing/2014/main" id="{CD3DC9D7-750B-4785-9A47-8BA72D8E37C0}"/>
              </a:ext>
            </a:extLst>
          </p:cNvPr>
          <p:cNvSpPr>
            <a:spLocks noGrp="1"/>
          </p:cNvSpPr>
          <p:nvPr/>
        </p:nvSpPr>
        <p:spPr>
          <a:xfrm>
            <a:off x="457200" y="6522479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050"/>
              <a:buFont typeface="HG丸ｺﾞｼｯｸM-PRO"/>
              <a:buNone/>
            </a:pP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581" name="Google Shape;520;p27"/>
          <p:cNvCxnSpPr/>
          <p:nvPr/>
        </p:nvCxnSpPr>
        <p:spPr>
          <a:xfrm>
            <a:off x="6769736" y="5787743"/>
            <a:ext cx="3950208" cy="914"/>
          </a:xfrm>
          <a:prstGeom prst="straightConnector1">
            <a:avLst/>
          </a:prstGeom>
          <a:ln w="28575" cap="flat">
            <a:solidFill>
              <a:srgbClr val="8B94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521;p27">
            <a:extLst>
              <a:ext uri="{FF2B5EF4-FFF2-40B4-BE49-F238E27FC236}">
                <a16:creationId xmlns="" xmlns:a16="http://schemas.microsoft.com/office/drawing/2014/main" id="{5960DEE6-EC8B-479D-89D9-E1480875E9D0}"/>
              </a:ext>
            </a:extLst>
          </p:cNvPr>
          <p:cNvSpPr>
            <a:spLocks noGrp="1"/>
          </p:cNvSpPr>
          <p:nvPr/>
        </p:nvSpPr>
        <p:spPr>
          <a:xfrm>
            <a:off x="6632576" y="5650583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522;p27">
            <a:extLst>
              <a:ext uri="{FF2B5EF4-FFF2-40B4-BE49-F238E27FC236}">
                <a16:creationId xmlns="" xmlns:a16="http://schemas.microsoft.com/office/drawing/2014/main" id="{B15543AF-3802-4932-B399-E403CBBE196C}"/>
              </a:ext>
            </a:extLst>
          </p:cNvPr>
          <p:cNvSpPr>
            <a:spLocks noGrp="1"/>
          </p:cNvSpPr>
          <p:nvPr/>
        </p:nvSpPr>
        <p:spPr>
          <a:xfrm>
            <a:off x="7290944" y="5650583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523;p27">
            <a:extLst>
              <a:ext uri="{FF2B5EF4-FFF2-40B4-BE49-F238E27FC236}">
                <a16:creationId xmlns="" xmlns:a16="http://schemas.microsoft.com/office/drawing/2014/main" id="{7AB91C81-259B-4A7A-8F3B-A12ECCE23CB0}"/>
              </a:ext>
            </a:extLst>
          </p:cNvPr>
          <p:cNvSpPr>
            <a:spLocks noGrp="1"/>
          </p:cNvSpPr>
          <p:nvPr/>
        </p:nvSpPr>
        <p:spPr>
          <a:xfrm>
            <a:off x="7949312" y="5650583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524;p27">
            <a:extLst>
              <a:ext uri="{FF2B5EF4-FFF2-40B4-BE49-F238E27FC236}">
                <a16:creationId xmlns="" xmlns:a16="http://schemas.microsoft.com/office/drawing/2014/main" id="{78964D3E-CF69-43CA-9CC2-F9BD9CA34E3F}"/>
              </a:ext>
            </a:extLst>
          </p:cNvPr>
          <p:cNvSpPr>
            <a:spLocks noGrp="1"/>
          </p:cNvSpPr>
          <p:nvPr/>
        </p:nvSpPr>
        <p:spPr>
          <a:xfrm>
            <a:off x="8607680" y="5650583"/>
            <a:ext cx="274320" cy="274320"/>
          </a:xfrm>
          <a:prstGeom prst="ellipse">
            <a:avLst/>
          </a:prstGeom>
          <a:solidFill>
            <a:srgbClr val="6E7681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525;p27">
            <a:extLst>
              <a:ext uri="{FF2B5EF4-FFF2-40B4-BE49-F238E27FC236}">
                <a16:creationId xmlns="" xmlns:a16="http://schemas.microsoft.com/office/drawing/2014/main" id="{BB776F03-E4F7-4EC7-8511-EE90DB501372}"/>
              </a:ext>
            </a:extLst>
          </p:cNvPr>
          <p:cNvSpPr>
            <a:spLocks noGrp="1"/>
          </p:cNvSpPr>
          <p:nvPr/>
        </p:nvSpPr>
        <p:spPr>
          <a:xfrm>
            <a:off x="9266048" y="5650583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526;p27">
            <a:extLst>
              <a:ext uri="{FF2B5EF4-FFF2-40B4-BE49-F238E27FC236}">
                <a16:creationId xmlns="" xmlns:a16="http://schemas.microsoft.com/office/drawing/2014/main" id="{8106F012-D186-4772-8646-6D7D8ABAB2D1}"/>
              </a:ext>
            </a:extLst>
          </p:cNvPr>
          <p:cNvSpPr>
            <a:spLocks noGrp="1"/>
          </p:cNvSpPr>
          <p:nvPr/>
        </p:nvSpPr>
        <p:spPr>
          <a:xfrm>
            <a:off x="9924416" y="5650583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527;p27">
            <a:extLst>
              <a:ext uri="{FF2B5EF4-FFF2-40B4-BE49-F238E27FC236}">
                <a16:creationId xmlns="" xmlns:a16="http://schemas.microsoft.com/office/drawing/2014/main" id="{08842D1F-94BA-49A5-8DFF-8A878938DFD4}"/>
              </a:ext>
            </a:extLst>
          </p:cNvPr>
          <p:cNvSpPr>
            <a:spLocks noGrp="1"/>
          </p:cNvSpPr>
          <p:nvPr/>
        </p:nvSpPr>
        <p:spPr>
          <a:xfrm>
            <a:off x="10582784" y="5650583"/>
            <a:ext cx="274320" cy="274320"/>
          </a:xfrm>
          <a:prstGeom prst="ellipse">
            <a:avLst/>
          </a:prstGeom>
          <a:solidFill>
            <a:srgbClr val="F05033"/>
          </a:solidFill>
          <a:ln w="254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88;p26">
            <a:extLst>
              <a:ext uri="{FF2B5EF4-FFF2-40B4-BE49-F238E27FC236}">
                <a16:creationId xmlns="" xmlns:a16="http://schemas.microsoft.com/office/drawing/2014/main" id="{CEB9A7D7-E34E-4CA9-8AEB-2506C9A77324}"/>
              </a:ext>
            </a:extLst>
          </p:cNvPr>
          <p:cNvSpPr>
            <a:spLocks noGrp="1"/>
          </p:cNvSpPr>
          <p:nvPr/>
        </p:nvSpPr>
        <p:spPr>
          <a:xfrm>
            <a:off x="6335397" y="5968337"/>
            <a:ext cx="960120" cy="455684"/>
          </a:xfrm>
          <a:prstGeom prst="roundRect">
            <a:avLst>
              <a:gd name="adj" fmla="val 50000"/>
            </a:avLst>
          </a:prstGeom>
          <a:solidFill>
            <a:srgbClr val="444C5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89;p26">
            <a:extLst>
              <a:ext uri="{FF2B5EF4-FFF2-40B4-BE49-F238E27FC236}">
                <a16:creationId xmlns="" xmlns:a16="http://schemas.microsoft.com/office/drawing/2014/main" id="{AF300F82-06B8-4045-800D-0001DCCDB389}"/>
              </a:ext>
            </a:extLst>
          </p:cNvPr>
          <p:cNvSpPr>
            <a:spLocks noGrp="1"/>
          </p:cNvSpPr>
          <p:nvPr/>
        </p:nvSpPr>
        <p:spPr>
          <a:xfrm>
            <a:off x="6325656" y="5924903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main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5" name="Google Shape;528;p27">
            <a:extLst>
              <a:ext uri="{FF2B5EF4-FFF2-40B4-BE49-F238E27FC236}">
                <a16:creationId xmlns="" xmlns:a16="http://schemas.microsoft.com/office/drawing/2014/main" id="{274C13EE-13AB-4459-930A-7C5C8F80B145}"/>
              </a:ext>
            </a:extLst>
          </p:cNvPr>
          <p:cNvSpPr>
            <a:spLocks noGrp="1"/>
          </p:cNvSpPr>
          <p:nvPr/>
        </p:nvSpPr>
        <p:spPr>
          <a:xfrm>
            <a:off x="10102724" y="5969321"/>
            <a:ext cx="960120" cy="429983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529;p27">
            <a:extLst>
              <a:ext uri="{FF2B5EF4-FFF2-40B4-BE49-F238E27FC236}">
                <a16:creationId xmlns="" xmlns:a16="http://schemas.microsoft.com/office/drawing/2014/main" id="{2E95942B-ED17-4B52-86C8-F4806704F860}"/>
              </a:ext>
            </a:extLst>
          </p:cNvPr>
          <p:cNvSpPr>
            <a:spLocks noGrp="1"/>
          </p:cNvSpPr>
          <p:nvPr/>
        </p:nvSpPr>
        <p:spPr>
          <a:xfrm>
            <a:off x="10102724" y="5931872"/>
            <a:ext cx="960120" cy="4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feature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744568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9">
            <a:extLst>
              <a:ext uri="{FF2B5EF4-FFF2-40B4-BE49-F238E27FC236}">
                <a16:creationId xmlns="" xmlns:a16="http://schemas.microsoft.com/office/drawing/2014/main" id="{7090350D-12A5-4ED6-B928-C7CE5D6C4EE4}"/>
              </a:ext>
            </a:extLst>
          </p:cNvPr>
          <p:cNvSpPr>
            <a:spLocks noGrp="1"/>
          </p:cNvSpPr>
          <p:nvPr/>
        </p:nvSpPr>
        <p:spPr>
          <a:xfrm>
            <a:off x="640080" y="14744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56" name="Google Shape;556;p29">
            <a:extLst>
              <a:ext uri="{FF2B5EF4-FFF2-40B4-BE49-F238E27FC236}">
                <a16:creationId xmlns="" xmlns:a16="http://schemas.microsoft.com/office/drawing/2014/main" id="{E90B969C-C601-4D11-9267-FCDC6C902A7A}"/>
              </a:ext>
            </a:extLst>
          </p:cNvPr>
          <p:cNvSpPr>
            <a:spLocks noGrp="1"/>
          </p:cNvSpPr>
          <p:nvPr/>
        </p:nvSpPr>
        <p:spPr>
          <a:xfrm>
            <a:off x="594360" y="16573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08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675" name="Google Shape;557;p29"/>
          <p:cNvCxnSpPr/>
          <p:nvPr/>
        </p:nvCxnSpPr>
        <p:spPr>
          <a:xfrm>
            <a:off x="640080" y="32118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8" name="Google Shape;558;p29">
            <a:extLst>
              <a:ext uri="{FF2B5EF4-FFF2-40B4-BE49-F238E27FC236}">
                <a16:creationId xmlns="" xmlns:a16="http://schemas.microsoft.com/office/drawing/2014/main" id="{8DDE1097-19E4-4F9C-A9B6-903DCD6E949F}"/>
              </a:ext>
            </a:extLst>
          </p:cNvPr>
          <p:cNvSpPr>
            <a:spLocks noGrp="1"/>
          </p:cNvSpPr>
          <p:nvPr/>
        </p:nvSpPr>
        <p:spPr>
          <a:xfrm>
            <a:off x="621792" y="33947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コンフリクトが起きた場合</a:t>
            </a:r>
            <a:endParaRPr sz="34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59" name="Google Shape;559;p29">
            <a:extLst>
              <a:ext uri="{FF2B5EF4-FFF2-40B4-BE49-F238E27FC236}">
                <a16:creationId xmlns="" xmlns:a16="http://schemas.microsoft.com/office/drawing/2014/main" id="{32D28225-AF0D-45E2-9CB6-54A31EE7F319}"/>
              </a:ext>
            </a:extLst>
          </p:cNvPr>
          <p:cNvSpPr>
            <a:spLocks noGrp="1"/>
          </p:cNvSpPr>
          <p:nvPr/>
        </p:nvSpPr>
        <p:spPr>
          <a:xfrm>
            <a:off x="640080" y="43091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同じ箇所への変更が重なったときに何が起こり、どう対処するか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60" name="Google Shape;560;p29">
            <a:extLst>
              <a:ext uri="{FF2B5EF4-FFF2-40B4-BE49-F238E27FC236}">
                <a16:creationId xmlns="" xmlns:a16="http://schemas.microsoft.com/office/drawing/2014/main" id="{F7B72FBA-0457-41E1-AC12-92442DC53FE8}"/>
              </a:ext>
            </a:extLst>
          </p:cNvPr>
          <p:cNvSpPr>
            <a:spLocks noGrp="1"/>
          </p:cNvSpPr>
          <p:nvPr/>
        </p:nvSpPr>
        <p:spPr>
          <a:xfrm>
            <a:off x="9189720" y="18402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9" name="Google Shape;561;p2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3202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661" name="CmdPanelBg661">
            <a:extLst>
              <a:ext uri="{FF2B5EF4-FFF2-40B4-BE49-F238E27FC236}">
                <a16:creationId xmlns="" xmlns:a16="http://schemas.microsoft.com/office/drawing/2014/main" id="{CA49CC1C-794A-44D2-9368-A9F09EE54386}"/>
              </a:ext>
            </a:extLst>
          </p:cNvPr>
          <p:cNvSpPr>
            <a:spLocks noGrp="1"/>
          </p:cNvSpPr>
          <p:nvPr/>
        </p:nvSpPr>
        <p:spPr>
          <a:xfrm>
            <a:off x="594360" y="4928499"/>
            <a:ext cx="11003280" cy="1541183"/>
          </a:xfrm>
          <a:prstGeom prst="roundRect">
            <a:avLst>
              <a:gd name="adj" fmla="val 4000"/>
            </a:avLst>
          </a:prstGeom>
          <a:solidFill>
            <a:srgbClr val="2D333B"/>
          </a:solidFill>
          <a:ln w="9525">
            <a:solidFill>
              <a:srgbClr val="F05033"/>
            </a:solidFill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CmdPanelTitle661">
            <a:extLst>
              <a:ext uri="{FF2B5EF4-FFF2-40B4-BE49-F238E27FC236}">
                <a16:creationId xmlns="" xmlns:a16="http://schemas.microsoft.com/office/drawing/2014/main" id="{39862CE9-EC11-41D1-AEB9-29CBF4BEC1D1}"/>
              </a:ext>
            </a:extLst>
          </p:cNvPr>
          <p:cNvSpPr>
            <a:spLocks noGrp="1"/>
          </p:cNvSpPr>
          <p:nvPr/>
        </p:nvSpPr>
        <p:spPr>
          <a:xfrm>
            <a:off x="814360" y="4988500"/>
            <a:ext cx="10563280" cy="34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この Part で扱う主なコマンド</a:t>
            </a:r>
          </a:p>
        </p:txBody>
      </p:sp>
      <p:sp>
        <p:nvSpPr>
          <p:cNvPr id="663" name="CmdPill661_0">
            <a:extLst>
              <a:ext uri="{FF2B5EF4-FFF2-40B4-BE49-F238E27FC236}">
                <a16:creationId xmlns="" xmlns:a16="http://schemas.microsoft.com/office/drawing/2014/main" id="{30BC7774-DED7-405F-9BA2-6DCDC7E06ACB}"/>
              </a:ext>
            </a:extLst>
          </p:cNvPr>
          <p:cNvSpPr>
            <a:spLocks noGrp="1"/>
          </p:cNvSpPr>
          <p:nvPr/>
        </p:nvSpPr>
        <p:spPr>
          <a:xfrm>
            <a:off x="814360" y="5455363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CmdPillTxt661_0">
            <a:extLst>
              <a:ext uri="{FF2B5EF4-FFF2-40B4-BE49-F238E27FC236}">
                <a16:creationId xmlns="" xmlns:a16="http://schemas.microsoft.com/office/drawing/2014/main" id="{8EE7A8F2-519C-4651-A84A-336703BDDAFD}"/>
              </a:ext>
            </a:extLst>
          </p:cNvPr>
          <p:cNvSpPr>
            <a:spLocks noGrp="1"/>
          </p:cNvSpPr>
          <p:nvPr/>
        </p:nvSpPr>
        <p:spPr>
          <a:xfrm>
            <a:off x="904360" y="5364833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status</a:t>
            </a:r>
          </a:p>
        </p:txBody>
      </p:sp>
      <p:sp>
        <p:nvSpPr>
          <p:cNvPr id="665" name="CmdDesc661_0">
            <a:extLst>
              <a:ext uri="{FF2B5EF4-FFF2-40B4-BE49-F238E27FC236}">
                <a16:creationId xmlns="" xmlns:a16="http://schemas.microsoft.com/office/drawing/2014/main" id="{7EA3A943-A23A-4811-A89A-41FF8903A785}"/>
              </a:ext>
            </a:extLst>
          </p:cNvPr>
          <p:cNvSpPr>
            <a:spLocks noGrp="1"/>
          </p:cNvSpPr>
          <p:nvPr/>
        </p:nvSpPr>
        <p:spPr>
          <a:xfrm>
            <a:off x="4564360" y="5288500"/>
            <a:ext cx="6813280" cy="55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コンフリクトが発生しているファイルを確認する</a:t>
            </a:r>
          </a:p>
        </p:txBody>
      </p:sp>
      <p:sp>
        <p:nvSpPr>
          <p:cNvPr id="666" name="CmdPill661_1">
            <a:extLst>
              <a:ext uri="{FF2B5EF4-FFF2-40B4-BE49-F238E27FC236}">
                <a16:creationId xmlns="" xmlns:a16="http://schemas.microsoft.com/office/drawing/2014/main" id="{D2FD934D-DDAB-464A-8B25-E1596AD10A6F}"/>
              </a:ext>
            </a:extLst>
          </p:cNvPr>
          <p:cNvSpPr>
            <a:spLocks noGrp="1"/>
          </p:cNvSpPr>
          <p:nvPr/>
        </p:nvSpPr>
        <p:spPr>
          <a:xfrm>
            <a:off x="814360" y="5768029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CmdPillTxt661_1">
            <a:extLst>
              <a:ext uri="{FF2B5EF4-FFF2-40B4-BE49-F238E27FC236}">
                <a16:creationId xmlns="" xmlns:a16="http://schemas.microsoft.com/office/drawing/2014/main" id="{945B43DC-F0C8-4400-8C85-AA8BFA83058E}"/>
              </a:ext>
            </a:extLst>
          </p:cNvPr>
          <p:cNvSpPr>
            <a:spLocks noGrp="1"/>
          </p:cNvSpPr>
          <p:nvPr/>
        </p:nvSpPr>
        <p:spPr>
          <a:xfrm>
            <a:off x="904360" y="5677499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add &lt;ファイル名&gt;</a:t>
            </a:r>
          </a:p>
        </p:txBody>
      </p:sp>
      <p:sp>
        <p:nvSpPr>
          <p:cNvPr id="668" name="CmdDesc661_1">
            <a:extLst>
              <a:ext uri="{FF2B5EF4-FFF2-40B4-BE49-F238E27FC236}">
                <a16:creationId xmlns="" xmlns:a16="http://schemas.microsoft.com/office/drawing/2014/main" id="{96AD6CC6-6D2D-454F-97B9-C88E92D1E377}"/>
              </a:ext>
            </a:extLst>
          </p:cNvPr>
          <p:cNvSpPr>
            <a:spLocks noGrp="1"/>
          </p:cNvSpPr>
          <p:nvPr/>
        </p:nvSpPr>
        <p:spPr>
          <a:xfrm>
            <a:off x="4564360" y="5601166"/>
            <a:ext cx="6813280" cy="55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手動で解決した内容を「解決済み」としてマークする</a:t>
            </a:r>
          </a:p>
        </p:txBody>
      </p:sp>
      <p:sp>
        <p:nvSpPr>
          <p:cNvPr id="669" name="CmdPill661_2">
            <a:extLst>
              <a:ext uri="{FF2B5EF4-FFF2-40B4-BE49-F238E27FC236}">
                <a16:creationId xmlns="" xmlns:a16="http://schemas.microsoft.com/office/drawing/2014/main" id="{289F0E4A-9F59-4F88-9B3B-EAEC49B7B373}"/>
              </a:ext>
            </a:extLst>
          </p:cNvPr>
          <p:cNvSpPr>
            <a:spLocks noGrp="1"/>
          </p:cNvSpPr>
          <p:nvPr/>
        </p:nvSpPr>
        <p:spPr>
          <a:xfrm>
            <a:off x="814360" y="6080695"/>
            <a:ext cx="3600000" cy="160000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CmdPillTxt661_2">
            <a:extLst>
              <a:ext uri="{FF2B5EF4-FFF2-40B4-BE49-F238E27FC236}">
                <a16:creationId xmlns="" xmlns:a16="http://schemas.microsoft.com/office/drawing/2014/main" id="{E1A87009-67C1-4B88-9E4F-11C0714599EB}"/>
              </a:ext>
            </a:extLst>
          </p:cNvPr>
          <p:cNvSpPr>
            <a:spLocks noGrp="1"/>
          </p:cNvSpPr>
          <p:nvPr/>
        </p:nvSpPr>
        <p:spPr>
          <a:xfrm>
            <a:off x="904360" y="5990165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commit</a:t>
            </a:r>
          </a:p>
        </p:txBody>
      </p:sp>
      <p:sp>
        <p:nvSpPr>
          <p:cNvPr id="671" name="CmdDesc661_2">
            <a:extLst>
              <a:ext uri="{FF2B5EF4-FFF2-40B4-BE49-F238E27FC236}">
                <a16:creationId xmlns="" xmlns:a16="http://schemas.microsoft.com/office/drawing/2014/main" id="{F51B7F59-BEC9-479F-B59F-8E1D5E2FE3CA}"/>
              </a:ext>
            </a:extLst>
          </p:cNvPr>
          <p:cNvSpPr>
            <a:spLocks noGrp="1"/>
          </p:cNvSpPr>
          <p:nvPr/>
        </p:nvSpPr>
        <p:spPr>
          <a:xfrm>
            <a:off x="4564360" y="5913832"/>
            <a:ext cx="6813280" cy="55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dirty="0" err="1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コンフリクト解決後の内容をマージ結果として確定する</a:t>
            </a:r>
            <a:endParaRPr sz="1600" b="0" i="0" u="none" cap="none" dirty="0">
              <a:solidFill>
                <a:srgbClr val="C9D1D9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466905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0">
            <a:extLst>
              <a:ext uri="{FF2B5EF4-FFF2-40B4-BE49-F238E27FC236}">
                <a16:creationId xmlns="" xmlns:a16="http://schemas.microsoft.com/office/drawing/2014/main" id="{3DDEFE77-8DBF-45B7-9BE4-4013FE5D8B86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コンフリクト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68" name="Google Shape;568;p30">
            <a:extLst>
              <a:ext uri="{FF2B5EF4-FFF2-40B4-BE49-F238E27FC236}">
                <a16:creationId xmlns="" xmlns:a16="http://schemas.microsoft.com/office/drawing/2014/main" id="{AE8D8FEF-3507-4388-97E8-F731757F081A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コンフリクト（競合）とは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69" name="Google Shape;569;p30">
            <a:extLst>
              <a:ext uri="{FF2B5EF4-FFF2-40B4-BE49-F238E27FC236}">
                <a16:creationId xmlns="" xmlns:a16="http://schemas.microsoft.com/office/drawing/2014/main" id="{9B79F621-3447-4DFC-A4B4-3A1DABC35C36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8 — コンフリクト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70" name="Google Shape;570;p30">
            <a:extLst>
              <a:ext uri="{FF2B5EF4-FFF2-40B4-BE49-F238E27FC236}">
                <a16:creationId xmlns="" xmlns:a16="http://schemas.microsoft.com/office/drawing/2014/main" id="{9EDED8BF-AA9C-4F99-9159-AB51DDE177B4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30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71" name="Google Shape;571;p30">
            <a:extLst>
              <a:ext uri="{FF2B5EF4-FFF2-40B4-BE49-F238E27FC236}">
                <a16:creationId xmlns="" xmlns:a16="http://schemas.microsoft.com/office/drawing/2014/main" id="{34440A46-6E6E-4D3B-90CD-733108107F74}"/>
              </a:ext>
            </a:extLst>
          </p:cNvPr>
          <p:cNvSpPr>
            <a:spLocks noGrp="1"/>
          </p:cNvSpPr>
          <p:nvPr/>
        </p:nvSpPr>
        <p:spPr>
          <a:xfrm>
            <a:off x="552450" y="1828800"/>
            <a:ext cx="4295775" cy="200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同じ箇所を別々に変更し、Gitが自動統合できない状態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マージ、リベース、プルで発生する場合がある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競合ファイルには専用マーカーが入る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72" name="Google Shape;572;p30">
            <a:extLst>
              <a:ext uri="{FF2B5EF4-FFF2-40B4-BE49-F238E27FC236}">
                <a16:creationId xmlns="" xmlns:a16="http://schemas.microsoft.com/office/drawing/2014/main" id="{AFCD5649-8C5E-42C2-BD40-5D19A8236F79}"/>
              </a:ext>
            </a:extLst>
          </p:cNvPr>
          <p:cNvSpPr>
            <a:spLocks noGrp="1"/>
          </p:cNvSpPr>
          <p:nvPr/>
        </p:nvSpPr>
        <p:spPr>
          <a:xfrm>
            <a:off x="5120640" y="1783080"/>
            <a:ext cx="6492240" cy="233172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0">
            <a:extLst>
              <a:ext uri="{FF2B5EF4-FFF2-40B4-BE49-F238E27FC236}">
                <a16:creationId xmlns="" xmlns:a16="http://schemas.microsoft.com/office/drawing/2014/main" id="{E3D1B64F-6186-445D-87ED-F5D9BBB36114}"/>
              </a:ext>
            </a:extLst>
          </p:cNvPr>
          <p:cNvSpPr>
            <a:spLocks noGrp="1"/>
          </p:cNvSpPr>
          <p:nvPr/>
        </p:nvSpPr>
        <p:spPr>
          <a:xfrm>
            <a:off x="5440680" y="2057400"/>
            <a:ext cx="5852160" cy="1783080"/>
          </a:xfrm>
          <a:prstGeom prst="roundRect">
            <a:avLst>
              <a:gd name="adj" fmla="val 3077"/>
            </a:avLst>
          </a:prstGeom>
          <a:solidFill>
            <a:srgbClr val="1B1F23"/>
          </a:solidFill>
          <a:ln w="15875" cmpd="sng">
            <a:solidFill>
              <a:srgbClr val="F05033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0">
            <a:extLst>
              <a:ext uri="{FF2B5EF4-FFF2-40B4-BE49-F238E27FC236}">
                <a16:creationId xmlns="" xmlns:a16="http://schemas.microsoft.com/office/drawing/2014/main" id="{CC923C44-8930-4100-8370-FAA1687638F9}"/>
              </a:ext>
            </a:extLst>
          </p:cNvPr>
          <p:cNvSpPr>
            <a:spLocks noGrp="1"/>
          </p:cNvSpPr>
          <p:nvPr/>
        </p:nvSpPr>
        <p:spPr>
          <a:xfrm>
            <a:off x="5605272" y="2148840"/>
            <a:ext cx="5522976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&lt;&lt;&lt;&lt;&lt;&lt;&lt; HEAD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ここに自分の変更内容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=======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ここに相手（マージ元）の変更内容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&gt;&gt;&gt;&gt;&gt;&gt;&gt; feature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75" name="Google Shape;575;p30">
            <a:extLst>
              <a:ext uri="{FF2B5EF4-FFF2-40B4-BE49-F238E27FC236}">
                <a16:creationId xmlns="" xmlns:a16="http://schemas.microsoft.com/office/drawing/2014/main" id="{230EB6F1-22F4-422F-881C-E25CDF5B5527}"/>
              </a:ext>
            </a:extLst>
          </p:cNvPr>
          <p:cNvSpPr>
            <a:spLocks noGrp="1"/>
          </p:cNvSpPr>
          <p:nvPr/>
        </p:nvSpPr>
        <p:spPr>
          <a:xfrm>
            <a:off x="5120640" y="4187952"/>
            <a:ext cx="6492240" cy="3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00"/>
              <a:buFont typeface="HG丸ｺﾞｼｯｸM-PRO"/>
              <a:buNone/>
            </a:pPr>
            <a:r>
              <a:rPr sz="1600" b="0" i="1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コンフリクトマーカーの例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76" name="Google Shape;576;p30">
            <a:extLst>
              <a:ext uri="{FF2B5EF4-FFF2-40B4-BE49-F238E27FC236}">
                <a16:creationId xmlns="" xmlns:a16="http://schemas.microsoft.com/office/drawing/2014/main" id="{755FC4D1-8964-4EAC-895E-CF0F39D80D7C}"/>
              </a:ext>
            </a:extLst>
          </p:cNvPr>
          <p:cNvSpPr>
            <a:spLocks noGrp="1"/>
          </p:cNvSpPr>
          <p:nvPr/>
        </p:nvSpPr>
        <p:spPr>
          <a:xfrm>
            <a:off x="5120640" y="4526280"/>
            <a:ext cx="1451610" cy="1417320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0">
            <a:extLst>
              <a:ext uri="{FF2B5EF4-FFF2-40B4-BE49-F238E27FC236}">
                <a16:creationId xmlns="" xmlns:a16="http://schemas.microsoft.com/office/drawing/2014/main" id="{4D47BA27-8FCB-4320-BFD3-31770E727222}"/>
              </a:ext>
            </a:extLst>
          </p:cNvPr>
          <p:cNvSpPr>
            <a:spLocks noGrp="1"/>
          </p:cNvSpPr>
          <p:nvPr/>
        </p:nvSpPr>
        <p:spPr>
          <a:xfrm>
            <a:off x="5285232" y="4736137"/>
            <a:ext cx="347472" cy="347472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0">
            <a:extLst>
              <a:ext uri="{FF2B5EF4-FFF2-40B4-BE49-F238E27FC236}">
                <a16:creationId xmlns="" xmlns:a16="http://schemas.microsoft.com/office/drawing/2014/main" id="{E9991661-BA24-47DE-8C3A-279131FFB173}"/>
              </a:ext>
            </a:extLst>
          </p:cNvPr>
          <p:cNvSpPr>
            <a:spLocks noGrp="1"/>
          </p:cNvSpPr>
          <p:nvPr/>
        </p:nvSpPr>
        <p:spPr>
          <a:xfrm>
            <a:off x="5285232" y="4690872"/>
            <a:ext cx="34747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1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79" name="Google Shape;579;p30">
            <a:extLst>
              <a:ext uri="{FF2B5EF4-FFF2-40B4-BE49-F238E27FC236}">
                <a16:creationId xmlns="" xmlns:a16="http://schemas.microsoft.com/office/drawing/2014/main" id="{70E5CD47-755D-4172-B538-6F50101638E7}"/>
              </a:ext>
            </a:extLst>
          </p:cNvPr>
          <p:cNvSpPr>
            <a:spLocks noGrp="1"/>
          </p:cNvSpPr>
          <p:nvPr/>
        </p:nvSpPr>
        <p:spPr>
          <a:xfrm>
            <a:off x="5267325" y="5095875"/>
            <a:ext cx="11620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競合箇所を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確認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80" name="Google Shape;580;p30">
            <a:extLst>
              <a:ext uri="{FF2B5EF4-FFF2-40B4-BE49-F238E27FC236}">
                <a16:creationId xmlns="" xmlns:a16="http://schemas.microsoft.com/office/drawing/2014/main" id="{8A997E50-5046-4F58-B0BB-ACB883E77C0B}"/>
              </a:ext>
            </a:extLst>
          </p:cNvPr>
          <p:cNvSpPr>
            <a:spLocks noGrp="1"/>
          </p:cNvSpPr>
          <p:nvPr/>
        </p:nvSpPr>
        <p:spPr>
          <a:xfrm>
            <a:off x="6800850" y="4526280"/>
            <a:ext cx="1451610" cy="1417320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30">
            <a:extLst>
              <a:ext uri="{FF2B5EF4-FFF2-40B4-BE49-F238E27FC236}">
                <a16:creationId xmlns="" xmlns:a16="http://schemas.microsoft.com/office/drawing/2014/main" id="{D3A5A35B-48E2-476A-AE4F-81AF7FB4B2CC}"/>
              </a:ext>
            </a:extLst>
          </p:cNvPr>
          <p:cNvSpPr>
            <a:spLocks noGrp="1"/>
          </p:cNvSpPr>
          <p:nvPr/>
        </p:nvSpPr>
        <p:spPr>
          <a:xfrm>
            <a:off x="6965442" y="4736137"/>
            <a:ext cx="347472" cy="347472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0">
            <a:extLst>
              <a:ext uri="{FF2B5EF4-FFF2-40B4-BE49-F238E27FC236}">
                <a16:creationId xmlns="" xmlns:a16="http://schemas.microsoft.com/office/drawing/2014/main" id="{B614508A-27CF-41B5-A37B-AA02B6B764C9}"/>
              </a:ext>
            </a:extLst>
          </p:cNvPr>
          <p:cNvSpPr>
            <a:spLocks noGrp="1"/>
          </p:cNvSpPr>
          <p:nvPr/>
        </p:nvSpPr>
        <p:spPr>
          <a:xfrm>
            <a:off x="6965442" y="4690872"/>
            <a:ext cx="34747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2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83" name="Google Shape;583;p30">
            <a:extLst>
              <a:ext uri="{FF2B5EF4-FFF2-40B4-BE49-F238E27FC236}">
                <a16:creationId xmlns="" xmlns:a16="http://schemas.microsoft.com/office/drawing/2014/main" id="{9A16AAE2-93F0-426A-97EF-92ACFBAF19E1}"/>
              </a:ext>
            </a:extLst>
          </p:cNvPr>
          <p:cNvSpPr>
            <a:spLocks noGrp="1"/>
          </p:cNvSpPr>
          <p:nvPr/>
        </p:nvSpPr>
        <p:spPr>
          <a:xfrm>
            <a:off x="6943725" y="5095875"/>
            <a:ext cx="11620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内容を選び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マーカー削除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84" name="Google Shape;584;p30">
            <a:extLst>
              <a:ext uri="{FF2B5EF4-FFF2-40B4-BE49-F238E27FC236}">
                <a16:creationId xmlns="" xmlns:a16="http://schemas.microsoft.com/office/drawing/2014/main" id="{48C71FF1-36E2-406F-98A2-8F93756639B6}"/>
              </a:ext>
            </a:extLst>
          </p:cNvPr>
          <p:cNvSpPr>
            <a:spLocks noGrp="1"/>
          </p:cNvSpPr>
          <p:nvPr/>
        </p:nvSpPr>
        <p:spPr>
          <a:xfrm>
            <a:off x="8481060" y="4526280"/>
            <a:ext cx="1451610" cy="1417320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0">
            <a:extLst>
              <a:ext uri="{FF2B5EF4-FFF2-40B4-BE49-F238E27FC236}">
                <a16:creationId xmlns="" xmlns:a16="http://schemas.microsoft.com/office/drawing/2014/main" id="{12866E9F-35F9-4302-83D3-DE29F6E4282B}"/>
              </a:ext>
            </a:extLst>
          </p:cNvPr>
          <p:cNvSpPr>
            <a:spLocks noGrp="1"/>
          </p:cNvSpPr>
          <p:nvPr/>
        </p:nvSpPr>
        <p:spPr>
          <a:xfrm>
            <a:off x="8645652" y="4736137"/>
            <a:ext cx="347472" cy="347472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30">
            <a:extLst>
              <a:ext uri="{FF2B5EF4-FFF2-40B4-BE49-F238E27FC236}">
                <a16:creationId xmlns="" xmlns:a16="http://schemas.microsoft.com/office/drawing/2014/main" id="{1A0A81D7-50BC-46C8-B9E1-9D00624EED22}"/>
              </a:ext>
            </a:extLst>
          </p:cNvPr>
          <p:cNvSpPr>
            <a:spLocks noGrp="1"/>
          </p:cNvSpPr>
          <p:nvPr/>
        </p:nvSpPr>
        <p:spPr>
          <a:xfrm>
            <a:off x="8645652" y="4690872"/>
            <a:ext cx="34747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3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87" name="Google Shape;587;p30">
            <a:extLst>
              <a:ext uri="{FF2B5EF4-FFF2-40B4-BE49-F238E27FC236}">
                <a16:creationId xmlns="" xmlns:a16="http://schemas.microsoft.com/office/drawing/2014/main" id="{1E885DA0-581B-4F35-9272-C952AFA80744}"/>
              </a:ext>
            </a:extLst>
          </p:cNvPr>
          <p:cNvSpPr>
            <a:spLocks noGrp="1"/>
          </p:cNvSpPr>
          <p:nvPr/>
        </p:nvSpPr>
        <p:spPr>
          <a:xfrm>
            <a:off x="8629650" y="5095875"/>
            <a:ext cx="11620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addで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解決済み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88" name="Google Shape;588;p30">
            <a:extLst>
              <a:ext uri="{FF2B5EF4-FFF2-40B4-BE49-F238E27FC236}">
                <a16:creationId xmlns="" xmlns:a16="http://schemas.microsoft.com/office/drawing/2014/main" id="{7E87ACC8-D0AC-4A69-8D9D-AA23863F8410}"/>
              </a:ext>
            </a:extLst>
          </p:cNvPr>
          <p:cNvSpPr>
            <a:spLocks noGrp="1"/>
          </p:cNvSpPr>
          <p:nvPr/>
        </p:nvSpPr>
        <p:spPr>
          <a:xfrm>
            <a:off x="10161270" y="4526280"/>
            <a:ext cx="1451610" cy="1417320"/>
          </a:xfrm>
          <a:prstGeom prst="roundRect">
            <a:avLst>
              <a:gd name="adj" fmla="val 6452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30">
            <a:extLst>
              <a:ext uri="{FF2B5EF4-FFF2-40B4-BE49-F238E27FC236}">
                <a16:creationId xmlns="" xmlns:a16="http://schemas.microsoft.com/office/drawing/2014/main" id="{F0A8B356-2605-441C-9429-EB148785F235}"/>
              </a:ext>
            </a:extLst>
          </p:cNvPr>
          <p:cNvSpPr>
            <a:spLocks noGrp="1"/>
          </p:cNvSpPr>
          <p:nvPr/>
        </p:nvSpPr>
        <p:spPr>
          <a:xfrm>
            <a:off x="10325862" y="4736137"/>
            <a:ext cx="347472" cy="347472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0">
            <a:extLst>
              <a:ext uri="{FF2B5EF4-FFF2-40B4-BE49-F238E27FC236}">
                <a16:creationId xmlns="" xmlns:a16="http://schemas.microsoft.com/office/drawing/2014/main" id="{AEFA1B34-A28F-436C-99B2-BB4C8AE80EB8}"/>
              </a:ext>
            </a:extLst>
          </p:cNvPr>
          <p:cNvSpPr>
            <a:spLocks noGrp="1"/>
          </p:cNvSpPr>
          <p:nvPr/>
        </p:nvSpPr>
        <p:spPr>
          <a:xfrm>
            <a:off x="10325862" y="4690872"/>
            <a:ext cx="347472" cy="42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4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91" name="Google Shape;591;p30">
            <a:extLst>
              <a:ext uri="{FF2B5EF4-FFF2-40B4-BE49-F238E27FC236}">
                <a16:creationId xmlns="" xmlns:a16="http://schemas.microsoft.com/office/drawing/2014/main" id="{A66FFDF6-FE62-43AA-906F-D05BD901D9D4}"/>
              </a:ext>
            </a:extLst>
          </p:cNvPr>
          <p:cNvSpPr>
            <a:spLocks noGrp="1"/>
          </p:cNvSpPr>
          <p:nvPr/>
        </p:nvSpPr>
        <p:spPr>
          <a:xfrm>
            <a:off x="10306050" y="5095875"/>
            <a:ext cx="11620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commitで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確定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592" name="Google Shape;592;p30">
            <a:extLst>
              <a:ext uri="{FF2B5EF4-FFF2-40B4-BE49-F238E27FC236}">
                <a16:creationId xmlns="" xmlns:a16="http://schemas.microsoft.com/office/drawing/2014/main" id="{053BEE8C-21A1-47D4-878C-89090A025E12}"/>
              </a:ext>
            </a:extLst>
          </p:cNvPr>
          <p:cNvSpPr>
            <a:spLocks noGrp="1"/>
          </p:cNvSpPr>
          <p:nvPr/>
        </p:nvSpPr>
        <p:spPr>
          <a:xfrm>
            <a:off x="548640" y="416052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0">
            <a:extLst>
              <a:ext uri="{FF2B5EF4-FFF2-40B4-BE49-F238E27FC236}">
                <a16:creationId xmlns="" xmlns:a16="http://schemas.microsoft.com/office/drawing/2014/main" id="{CB46F890-A522-452A-B9E5-AD408B820553}"/>
              </a:ext>
            </a:extLst>
          </p:cNvPr>
          <p:cNvSpPr>
            <a:spLocks noGrp="1"/>
          </p:cNvSpPr>
          <p:nvPr/>
        </p:nvSpPr>
        <p:spPr>
          <a:xfrm>
            <a:off x="552450" y="4162425"/>
            <a:ext cx="41148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status で対象ファイルを確認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407073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1">
            <a:extLst>
              <a:ext uri="{FF2B5EF4-FFF2-40B4-BE49-F238E27FC236}">
                <a16:creationId xmlns="" xmlns:a16="http://schemas.microsoft.com/office/drawing/2014/main" id="{34FB8C44-CCC7-4E0D-A771-B06879B6B803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00" name="Google Shape;600;p31">
            <a:extLst>
              <a:ext uri="{FF2B5EF4-FFF2-40B4-BE49-F238E27FC236}">
                <a16:creationId xmlns="" xmlns:a16="http://schemas.microsoft.com/office/drawing/2014/main" id="{2D1A863E-1B6D-42B5-94C4-6ED24578F8A5}"/>
              </a:ext>
            </a:extLst>
          </p:cNvPr>
          <p:cNvSpPr>
            <a:spLocks noGrp="1"/>
          </p:cNvSpPr>
          <p:nvPr/>
        </p:nvSpPr>
        <p:spPr>
          <a:xfrm>
            <a:off x="594360" y="21488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09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608" name="Google Shape;601;p31"/>
          <p:cNvCxnSpPr/>
          <p:nvPr/>
        </p:nvCxnSpPr>
        <p:spPr>
          <a:xfrm>
            <a:off x="640080" y="37033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2" name="Google Shape;602;p31">
            <a:extLst>
              <a:ext uri="{FF2B5EF4-FFF2-40B4-BE49-F238E27FC236}">
                <a16:creationId xmlns="" xmlns:a16="http://schemas.microsoft.com/office/drawing/2014/main" id="{159A6200-C2CC-4F16-BF06-111994BCFFBE}"/>
              </a:ext>
            </a:extLst>
          </p:cNvPr>
          <p:cNvSpPr>
            <a:spLocks noGrp="1"/>
          </p:cNvSpPr>
          <p:nvPr/>
        </p:nvSpPr>
        <p:spPr>
          <a:xfrm>
            <a:off x="621792" y="38862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Gitツール・クライアント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03" name="Google Shape;603;p31">
            <a:extLst>
              <a:ext uri="{FF2B5EF4-FFF2-40B4-BE49-F238E27FC236}">
                <a16:creationId xmlns="" xmlns:a16="http://schemas.microsoft.com/office/drawing/2014/main" id="{0B7298F0-C624-4EC0-966C-CFC93E570021}"/>
              </a:ext>
            </a:extLst>
          </p:cNvPr>
          <p:cNvSpPr>
            <a:spLocks noGrp="1"/>
          </p:cNvSpPr>
          <p:nvPr/>
        </p:nvSpPr>
        <p:spPr>
          <a:xfrm>
            <a:off x="640080" y="48006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コマンド操作を補助・可視化する代表的なツール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04" name="Google Shape;604;p31">
            <a:extLst>
              <a:ext uri="{FF2B5EF4-FFF2-40B4-BE49-F238E27FC236}">
                <a16:creationId xmlns="" xmlns:a16="http://schemas.microsoft.com/office/drawing/2014/main" id="{20BD494D-AC65-42E0-A7FC-98AF10B49F24}"/>
              </a:ext>
            </a:extLst>
          </p:cNvPr>
          <p:cNvSpPr>
            <a:spLocks noGrp="1"/>
          </p:cNvSpPr>
          <p:nvPr/>
        </p:nvSpPr>
        <p:spPr>
          <a:xfrm>
            <a:off x="9189720" y="23317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2" name="Google Shape;605;p3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811780"/>
            <a:ext cx="960120" cy="960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5281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2">
            <a:extLst>
              <a:ext uri="{FF2B5EF4-FFF2-40B4-BE49-F238E27FC236}">
                <a16:creationId xmlns="" xmlns:a16="http://schemas.microsoft.com/office/drawing/2014/main" id="{DCAA30BD-93D9-4DED-878C-0DC2F0109B7B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GITツール・クライアント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12" name="Google Shape;612;p32">
            <a:extLst>
              <a:ext uri="{FF2B5EF4-FFF2-40B4-BE49-F238E27FC236}">
                <a16:creationId xmlns="" xmlns:a16="http://schemas.microsoft.com/office/drawing/2014/main" id="{758694A9-741C-468B-A3D9-FF68244E152F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代表的なGitツール・クライアント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13" name="Google Shape;613;p32">
            <a:extLst>
              <a:ext uri="{FF2B5EF4-FFF2-40B4-BE49-F238E27FC236}">
                <a16:creationId xmlns="" xmlns:a16="http://schemas.microsoft.com/office/drawing/2014/main" id="{F0FBC6B3-BAF0-4837-B92E-6C5C50BC790C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4951476" cy="194310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2">
            <a:extLst>
              <a:ext uri="{FF2B5EF4-FFF2-40B4-BE49-F238E27FC236}">
                <a16:creationId xmlns="" xmlns:a16="http://schemas.microsoft.com/office/drawing/2014/main" id="{90982652-7DDE-4123-9719-BB7665B6A52F}"/>
              </a:ext>
            </a:extLst>
          </p:cNvPr>
          <p:cNvSpPr>
            <a:spLocks noGrp="1"/>
          </p:cNvSpPr>
          <p:nvPr/>
        </p:nvSpPr>
        <p:spPr>
          <a:xfrm>
            <a:off x="822960" y="203911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3" name="Google Shape;615;p3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2190" y="2188342"/>
            <a:ext cx="323332" cy="323332"/>
          </a:xfrm>
          <a:prstGeom prst="rect">
            <a:avLst/>
          </a:prstGeom>
          <a:ln>
            <a:noFill/>
          </a:ln>
        </p:spPr>
      </p:pic>
      <p:sp>
        <p:nvSpPr>
          <p:cNvPr id="616" name="Google Shape;616;p32">
            <a:extLst>
              <a:ext uri="{FF2B5EF4-FFF2-40B4-BE49-F238E27FC236}">
                <a16:creationId xmlns="" xmlns:a16="http://schemas.microsoft.com/office/drawing/2014/main" id="{EBC968CE-CD4C-40E4-9B8F-AE7D224393E7}"/>
              </a:ext>
            </a:extLst>
          </p:cNvPr>
          <p:cNvSpPr>
            <a:spLocks noGrp="1"/>
          </p:cNvSpPr>
          <p:nvPr/>
        </p:nvSpPr>
        <p:spPr>
          <a:xfrm>
            <a:off x="1554480" y="2020824"/>
            <a:ext cx="3717036" cy="66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Bash</a:t>
            </a:r>
            <a:endParaRPr sz="15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17" name="Google Shape;617;p32">
            <a:extLst>
              <a:ext uri="{FF2B5EF4-FFF2-40B4-BE49-F238E27FC236}">
                <a16:creationId xmlns="" xmlns:a16="http://schemas.microsoft.com/office/drawing/2014/main" id="{454C117A-EDFB-4898-8013-AAC278139200}"/>
              </a:ext>
            </a:extLst>
          </p:cNvPr>
          <p:cNvSpPr>
            <a:spLocks noGrp="1"/>
          </p:cNvSpPr>
          <p:nvPr/>
        </p:nvSpPr>
        <p:spPr>
          <a:xfrm>
            <a:off x="819150" y="2714625"/>
            <a:ext cx="44005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WindowsでUnix系コマンドを使えるターミナル。Git公式インストーラに同梱。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18" name="Google Shape;618;p32">
            <a:extLst>
              <a:ext uri="{FF2B5EF4-FFF2-40B4-BE49-F238E27FC236}">
                <a16:creationId xmlns="" xmlns:a16="http://schemas.microsoft.com/office/drawing/2014/main" id="{AD16D9BC-A8B8-4B62-9109-E53666BD877F}"/>
              </a:ext>
            </a:extLst>
          </p:cNvPr>
          <p:cNvSpPr>
            <a:spLocks noGrp="1"/>
          </p:cNvSpPr>
          <p:nvPr/>
        </p:nvSpPr>
        <p:spPr>
          <a:xfrm>
            <a:off x="5774436" y="1783080"/>
            <a:ext cx="4951476" cy="194310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2">
            <a:extLst>
              <a:ext uri="{FF2B5EF4-FFF2-40B4-BE49-F238E27FC236}">
                <a16:creationId xmlns="" xmlns:a16="http://schemas.microsoft.com/office/drawing/2014/main" id="{0BDCC774-4EDD-492E-AF5F-EAC93D133DC3}"/>
              </a:ext>
            </a:extLst>
          </p:cNvPr>
          <p:cNvSpPr>
            <a:spLocks noGrp="1"/>
          </p:cNvSpPr>
          <p:nvPr/>
        </p:nvSpPr>
        <p:spPr>
          <a:xfrm>
            <a:off x="6048756" y="203911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8" name="Google Shape;620;p3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7986" y="2188342"/>
            <a:ext cx="323332" cy="323332"/>
          </a:xfrm>
          <a:prstGeom prst="rect">
            <a:avLst/>
          </a:prstGeom>
          <a:ln>
            <a:noFill/>
          </a:ln>
        </p:spPr>
      </p:pic>
      <p:sp>
        <p:nvSpPr>
          <p:cNvPr id="621" name="Google Shape;621;p32">
            <a:extLst>
              <a:ext uri="{FF2B5EF4-FFF2-40B4-BE49-F238E27FC236}">
                <a16:creationId xmlns="" xmlns:a16="http://schemas.microsoft.com/office/drawing/2014/main" id="{34FDABCE-BAC6-45BE-83C3-D0C7AC1B60E9}"/>
              </a:ext>
            </a:extLst>
          </p:cNvPr>
          <p:cNvSpPr>
            <a:spLocks noGrp="1"/>
          </p:cNvSpPr>
          <p:nvPr/>
        </p:nvSpPr>
        <p:spPr>
          <a:xfrm>
            <a:off x="6780276" y="2020824"/>
            <a:ext cx="3717036" cy="66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 GUI</a:t>
            </a:r>
            <a:endParaRPr sz="15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22" name="Google Shape;622;p32">
            <a:extLst>
              <a:ext uri="{FF2B5EF4-FFF2-40B4-BE49-F238E27FC236}">
                <a16:creationId xmlns="" xmlns:a16="http://schemas.microsoft.com/office/drawing/2014/main" id="{CF3DA7FB-58CE-43A6-B5CF-FCDD8ECD9563}"/>
              </a:ext>
            </a:extLst>
          </p:cNvPr>
          <p:cNvSpPr>
            <a:spLocks noGrp="1"/>
          </p:cNvSpPr>
          <p:nvPr/>
        </p:nvSpPr>
        <p:spPr>
          <a:xfrm>
            <a:off x="6048375" y="2714625"/>
            <a:ext cx="44005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Git公式のシンプルなGUI。コミットやブランチを画面で操作できる。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23" name="Google Shape;623;p32">
            <a:extLst>
              <a:ext uri="{FF2B5EF4-FFF2-40B4-BE49-F238E27FC236}">
                <a16:creationId xmlns="" xmlns:a16="http://schemas.microsoft.com/office/drawing/2014/main" id="{E33AD198-4B36-4CF1-93ED-2E10AFA09B38}"/>
              </a:ext>
            </a:extLst>
          </p:cNvPr>
          <p:cNvSpPr>
            <a:spLocks noGrp="1"/>
          </p:cNvSpPr>
          <p:nvPr/>
        </p:nvSpPr>
        <p:spPr>
          <a:xfrm>
            <a:off x="548640" y="4000500"/>
            <a:ext cx="4951476" cy="194310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32">
            <a:extLst>
              <a:ext uri="{FF2B5EF4-FFF2-40B4-BE49-F238E27FC236}">
                <a16:creationId xmlns="" xmlns:a16="http://schemas.microsoft.com/office/drawing/2014/main" id="{ED64B57E-36B2-4760-B1E8-A947C0EA074B}"/>
              </a:ext>
            </a:extLst>
          </p:cNvPr>
          <p:cNvSpPr>
            <a:spLocks noGrp="1"/>
          </p:cNvSpPr>
          <p:nvPr/>
        </p:nvSpPr>
        <p:spPr>
          <a:xfrm>
            <a:off x="822960" y="42565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3" name="Google Shape;625;p3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190" y="4405762"/>
            <a:ext cx="323332" cy="323332"/>
          </a:xfrm>
          <a:prstGeom prst="rect">
            <a:avLst/>
          </a:prstGeom>
          <a:ln>
            <a:noFill/>
          </a:ln>
        </p:spPr>
      </p:pic>
      <p:sp>
        <p:nvSpPr>
          <p:cNvPr id="626" name="Google Shape;626;p32">
            <a:extLst>
              <a:ext uri="{FF2B5EF4-FFF2-40B4-BE49-F238E27FC236}">
                <a16:creationId xmlns="" xmlns:a16="http://schemas.microsoft.com/office/drawing/2014/main" id="{D0642088-D1E9-4B5A-9CB0-E13E07B030ED}"/>
              </a:ext>
            </a:extLst>
          </p:cNvPr>
          <p:cNvSpPr>
            <a:spLocks noGrp="1"/>
          </p:cNvSpPr>
          <p:nvPr/>
        </p:nvSpPr>
        <p:spPr>
          <a:xfrm>
            <a:off x="1554480" y="4238244"/>
            <a:ext cx="3717036" cy="66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SourceTree</a:t>
            </a:r>
            <a:endParaRPr sz="15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27" name="Google Shape;627;p32">
            <a:extLst>
              <a:ext uri="{FF2B5EF4-FFF2-40B4-BE49-F238E27FC236}">
                <a16:creationId xmlns="" xmlns:a16="http://schemas.microsoft.com/office/drawing/2014/main" id="{0A739976-1CCB-49DF-8CE6-3CD36795A7D8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44005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Atlassian製の無料Gitクライアント。ブランチ履歴の可視化に優れる。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28" name="Google Shape;628;p32">
            <a:extLst>
              <a:ext uri="{FF2B5EF4-FFF2-40B4-BE49-F238E27FC236}">
                <a16:creationId xmlns="" xmlns:a16="http://schemas.microsoft.com/office/drawing/2014/main" id="{1CA9E06A-F569-40D9-9A8A-29834700B55E}"/>
              </a:ext>
            </a:extLst>
          </p:cNvPr>
          <p:cNvSpPr>
            <a:spLocks noGrp="1"/>
          </p:cNvSpPr>
          <p:nvPr/>
        </p:nvSpPr>
        <p:spPr>
          <a:xfrm>
            <a:off x="5774436" y="4000500"/>
            <a:ext cx="4951476" cy="194310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32">
            <a:extLst>
              <a:ext uri="{FF2B5EF4-FFF2-40B4-BE49-F238E27FC236}">
                <a16:creationId xmlns="" xmlns:a16="http://schemas.microsoft.com/office/drawing/2014/main" id="{99711ED7-AB02-46E3-BCB9-143D592FD3ED}"/>
              </a:ext>
            </a:extLst>
          </p:cNvPr>
          <p:cNvSpPr>
            <a:spLocks noGrp="1"/>
          </p:cNvSpPr>
          <p:nvPr/>
        </p:nvSpPr>
        <p:spPr>
          <a:xfrm>
            <a:off x="6048756" y="4256532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8" name="Google Shape;630;p32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7986" y="4405762"/>
            <a:ext cx="323332" cy="323332"/>
          </a:xfrm>
          <a:prstGeom prst="rect">
            <a:avLst/>
          </a:prstGeom>
          <a:ln>
            <a:noFill/>
          </a:ln>
        </p:spPr>
      </p:pic>
      <p:sp>
        <p:nvSpPr>
          <p:cNvPr id="631" name="Google Shape;631;p32">
            <a:extLst>
              <a:ext uri="{FF2B5EF4-FFF2-40B4-BE49-F238E27FC236}">
                <a16:creationId xmlns="" xmlns:a16="http://schemas.microsoft.com/office/drawing/2014/main" id="{903B03D1-AB56-44BA-BA45-A4BE08DDA6FE}"/>
              </a:ext>
            </a:extLst>
          </p:cNvPr>
          <p:cNvSpPr>
            <a:spLocks noGrp="1"/>
          </p:cNvSpPr>
          <p:nvPr/>
        </p:nvSpPr>
        <p:spPr>
          <a:xfrm>
            <a:off x="6780276" y="4238244"/>
            <a:ext cx="3717036" cy="66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TortoiseGit</a:t>
            </a:r>
            <a:endParaRPr sz="15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32" name="Google Shape;632;p32">
            <a:extLst>
              <a:ext uri="{FF2B5EF4-FFF2-40B4-BE49-F238E27FC236}">
                <a16:creationId xmlns="" xmlns:a16="http://schemas.microsoft.com/office/drawing/2014/main" id="{4386B4FC-D513-4353-997F-E1A73D3ECC93}"/>
              </a:ext>
            </a:extLst>
          </p:cNvPr>
          <p:cNvSpPr>
            <a:spLocks noGrp="1"/>
          </p:cNvSpPr>
          <p:nvPr/>
        </p:nvSpPr>
        <p:spPr>
          <a:xfrm>
            <a:off x="6048375" y="4933950"/>
            <a:ext cx="44005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Windowsエクスプローラーに統合。右クリックメニューからGitを操作できる。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33" name="Google Shape;633;p32">
            <a:extLst>
              <a:ext uri="{FF2B5EF4-FFF2-40B4-BE49-F238E27FC236}">
                <a16:creationId xmlns="" xmlns:a16="http://schemas.microsoft.com/office/drawing/2014/main" id="{B84E724D-D795-4AD6-89F0-7C3D7F46E732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9 — Gitツール・クライアント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34" name="Google Shape;634;p32">
            <a:extLst>
              <a:ext uri="{FF2B5EF4-FFF2-40B4-BE49-F238E27FC236}">
                <a16:creationId xmlns="" xmlns:a16="http://schemas.microsoft.com/office/drawing/2014/main" id="{CB38EE0E-813B-4641-8860-B1B9D258336C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32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757588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CmdPanelBg746">
            <a:extLst>
              <a:ext uri="{FF2B5EF4-FFF2-40B4-BE49-F238E27FC236}">
                <a16:creationId xmlns="" xmlns:a16="http://schemas.microsoft.com/office/drawing/2014/main" id="{F1076D61-D328-4C14-B975-1CD683DA2A49}"/>
              </a:ext>
            </a:extLst>
          </p:cNvPr>
          <p:cNvSpPr>
            <a:spLocks noGrp="1"/>
          </p:cNvSpPr>
          <p:nvPr/>
        </p:nvSpPr>
        <p:spPr>
          <a:xfrm>
            <a:off x="594360" y="4928499"/>
            <a:ext cx="11003280" cy="1698637"/>
          </a:xfrm>
          <a:prstGeom prst="roundRect">
            <a:avLst>
              <a:gd name="adj" fmla="val 4000"/>
            </a:avLst>
          </a:prstGeom>
          <a:solidFill>
            <a:srgbClr val="2D333B"/>
          </a:solidFill>
          <a:ln w="9525">
            <a:solidFill>
              <a:srgbClr val="F05033"/>
            </a:solidFill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CmdPill746_0">
            <a:extLst>
              <a:ext uri="{FF2B5EF4-FFF2-40B4-BE49-F238E27FC236}">
                <a16:creationId xmlns="" xmlns:a16="http://schemas.microsoft.com/office/drawing/2014/main" id="{F470F403-CCE0-4AF1-9D8A-FE9648D2D413}"/>
              </a:ext>
            </a:extLst>
          </p:cNvPr>
          <p:cNvSpPr>
            <a:spLocks noGrp="1"/>
          </p:cNvSpPr>
          <p:nvPr/>
        </p:nvSpPr>
        <p:spPr>
          <a:xfrm>
            <a:off x="814360" y="5628255"/>
            <a:ext cx="4735414" cy="210463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CmdPill746_0">
            <a:extLst>
              <a:ext uri="{FF2B5EF4-FFF2-40B4-BE49-F238E27FC236}">
                <a16:creationId xmlns="" xmlns:a16="http://schemas.microsoft.com/office/drawing/2014/main" id="{F470F403-CCE0-4AF1-9D8A-FE9648D2D413}"/>
              </a:ext>
            </a:extLst>
          </p:cNvPr>
          <p:cNvSpPr>
            <a:spLocks noGrp="1"/>
          </p:cNvSpPr>
          <p:nvPr/>
        </p:nvSpPr>
        <p:spPr>
          <a:xfrm>
            <a:off x="814360" y="5867156"/>
            <a:ext cx="4735414" cy="210463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CmdPill746_0">
            <a:extLst>
              <a:ext uri="{FF2B5EF4-FFF2-40B4-BE49-F238E27FC236}">
                <a16:creationId xmlns="" xmlns:a16="http://schemas.microsoft.com/office/drawing/2014/main" id="{F470F403-CCE0-4AF1-9D8A-FE9648D2D413}"/>
              </a:ext>
            </a:extLst>
          </p:cNvPr>
          <p:cNvSpPr>
            <a:spLocks noGrp="1"/>
          </p:cNvSpPr>
          <p:nvPr/>
        </p:nvSpPr>
        <p:spPr>
          <a:xfrm>
            <a:off x="814360" y="6090425"/>
            <a:ext cx="4735414" cy="210463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33">
            <a:extLst>
              <a:ext uri="{FF2B5EF4-FFF2-40B4-BE49-F238E27FC236}">
                <a16:creationId xmlns="" xmlns:a16="http://schemas.microsoft.com/office/drawing/2014/main" id="{48B497B9-D235-43AF-AAC1-DDEC28E485B4}"/>
              </a:ext>
            </a:extLst>
          </p:cNvPr>
          <p:cNvSpPr>
            <a:spLocks noGrp="1"/>
          </p:cNvSpPr>
          <p:nvPr/>
        </p:nvSpPr>
        <p:spPr>
          <a:xfrm>
            <a:off x="640080" y="1474460"/>
            <a:ext cx="27432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41" name="Google Shape;641;p33">
            <a:extLst>
              <a:ext uri="{FF2B5EF4-FFF2-40B4-BE49-F238E27FC236}">
                <a16:creationId xmlns="" xmlns:a16="http://schemas.microsoft.com/office/drawing/2014/main" id="{0E69BB35-D14F-4E83-A331-9FFE12593657}"/>
              </a:ext>
            </a:extLst>
          </p:cNvPr>
          <p:cNvSpPr>
            <a:spLocks noGrp="1"/>
          </p:cNvSpPr>
          <p:nvPr/>
        </p:nvSpPr>
        <p:spPr>
          <a:xfrm>
            <a:off x="594360" y="165734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9000"/>
              <a:buFont typeface="HG丸ｺﾞｼｯｸM-PRO"/>
              <a:buNone/>
            </a:pPr>
            <a:r>
              <a:rPr sz="90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10</a:t>
            </a:r>
            <a:endParaRPr sz="9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cxnSp>
        <p:nvCxnSpPr>
          <p:cNvPr id="763" name="Google Shape;642;p33"/>
          <p:cNvCxnSpPr/>
          <p:nvPr/>
        </p:nvCxnSpPr>
        <p:spPr>
          <a:xfrm>
            <a:off x="640080" y="3211820"/>
            <a:ext cx="1828800" cy="0"/>
          </a:xfrm>
          <a:prstGeom prst="straightConnector1">
            <a:avLst/>
          </a:prstGeom>
          <a:ln w="19050" cap="flat">
            <a:solidFill>
              <a:srgbClr val="3A41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3" name="Google Shape;643;p33">
            <a:extLst>
              <a:ext uri="{FF2B5EF4-FFF2-40B4-BE49-F238E27FC236}">
                <a16:creationId xmlns="" xmlns:a16="http://schemas.microsoft.com/office/drawing/2014/main" id="{D4D72FBF-47A1-41AD-BAF7-422774A5B717}"/>
              </a:ext>
            </a:extLst>
          </p:cNvPr>
          <p:cNvSpPr>
            <a:spLocks noGrp="1"/>
          </p:cNvSpPr>
          <p:nvPr/>
        </p:nvSpPr>
        <p:spPr>
          <a:xfrm>
            <a:off x="621792" y="339470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G丸ｺﾞｼｯｸM-PRO"/>
              <a:buNone/>
            </a:pPr>
            <a:r>
              <a:rPr sz="34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ローカル環境での実践</a:t>
            </a:r>
            <a:endParaRPr sz="3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44" name="Google Shape;644;p33">
            <a:extLst>
              <a:ext uri="{FF2B5EF4-FFF2-40B4-BE49-F238E27FC236}">
                <a16:creationId xmlns="" xmlns:a16="http://schemas.microsoft.com/office/drawing/2014/main" id="{4F1B3405-BE21-4C70-B226-9EAC9B2AA45A}"/>
              </a:ext>
            </a:extLst>
          </p:cNvPr>
          <p:cNvSpPr>
            <a:spLocks noGrp="1"/>
          </p:cNvSpPr>
          <p:nvPr/>
        </p:nvSpPr>
        <p:spPr>
          <a:xfrm>
            <a:off x="640080" y="4309100"/>
            <a:ext cx="8686800" cy="6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HG丸ｺﾞｼｯｸM-PRO"/>
              <a:buNone/>
            </a:pPr>
            <a:r>
              <a:rPr sz="1600" b="0" i="0" u="none" cap="none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インストールから、ブランチ作成・コミットまでの基本操作</a:t>
            </a:r>
            <a:endParaRPr sz="14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45" name="Google Shape;645;p33">
            <a:extLst>
              <a:ext uri="{FF2B5EF4-FFF2-40B4-BE49-F238E27FC236}">
                <a16:creationId xmlns="" xmlns:a16="http://schemas.microsoft.com/office/drawing/2014/main" id="{FC4F7915-26C0-41DC-A458-A771307B22B0}"/>
              </a:ext>
            </a:extLst>
          </p:cNvPr>
          <p:cNvSpPr>
            <a:spLocks noGrp="1"/>
          </p:cNvSpPr>
          <p:nvPr/>
        </p:nvSpPr>
        <p:spPr>
          <a:xfrm>
            <a:off x="9189720" y="1840220"/>
            <a:ext cx="1920240" cy="1920240"/>
          </a:xfrm>
          <a:prstGeom prst="ellipse">
            <a:avLst/>
          </a:prstGeom>
          <a:solidFill>
            <a:srgbClr val="24292E"/>
          </a:solidFill>
          <a:ln w="12700" cmpd="sng">
            <a:solidFill>
              <a:srgbClr val="3A4149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7" name="Google Shape;646;p3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69780" y="2320280"/>
            <a:ext cx="960120" cy="960120"/>
          </a:xfrm>
          <a:prstGeom prst="rect">
            <a:avLst/>
          </a:prstGeom>
          <a:ln>
            <a:noFill/>
          </a:ln>
        </p:spPr>
      </p:pic>
      <p:sp>
        <p:nvSpPr>
          <p:cNvPr id="747" name="CmdPanelTitle746">
            <a:extLst>
              <a:ext uri="{FF2B5EF4-FFF2-40B4-BE49-F238E27FC236}">
                <a16:creationId xmlns="" xmlns:a16="http://schemas.microsoft.com/office/drawing/2014/main" id="{B7C38CB4-0016-4202-8D2E-174D1EAE121D}"/>
              </a:ext>
            </a:extLst>
          </p:cNvPr>
          <p:cNvSpPr>
            <a:spLocks noGrp="1"/>
          </p:cNvSpPr>
          <p:nvPr/>
        </p:nvSpPr>
        <p:spPr>
          <a:xfrm>
            <a:off x="814360" y="4988500"/>
            <a:ext cx="10563280" cy="34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この Part で扱う主なコマンド</a:t>
            </a:r>
          </a:p>
        </p:txBody>
      </p:sp>
      <p:sp>
        <p:nvSpPr>
          <p:cNvPr id="748" name="CmdPill746_0">
            <a:extLst>
              <a:ext uri="{FF2B5EF4-FFF2-40B4-BE49-F238E27FC236}">
                <a16:creationId xmlns="" xmlns:a16="http://schemas.microsoft.com/office/drawing/2014/main" id="{F470F403-CCE0-4AF1-9D8A-FE9648D2D413}"/>
              </a:ext>
            </a:extLst>
          </p:cNvPr>
          <p:cNvSpPr>
            <a:spLocks noGrp="1"/>
          </p:cNvSpPr>
          <p:nvPr/>
        </p:nvSpPr>
        <p:spPr>
          <a:xfrm>
            <a:off x="814360" y="5383931"/>
            <a:ext cx="4735414" cy="210463"/>
          </a:xfrm>
          <a:prstGeom prst="roundRect">
            <a:avLst>
              <a:gd name="adj" fmla="val 14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CmdPillTxt746_0">
            <a:extLst>
              <a:ext uri="{FF2B5EF4-FFF2-40B4-BE49-F238E27FC236}">
                <a16:creationId xmlns="" xmlns:a16="http://schemas.microsoft.com/office/drawing/2014/main" id="{2A51FA1B-2CF3-40B5-A852-FEDC1EC75E5A}"/>
              </a:ext>
            </a:extLst>
          </p:cNvPr>
          <p:cNvSpPr>
            <a:spLocks noGrp="1"/>
          </p:cNvSpPr>
          <p:nvPr/>
        </p:nvSpPr>
        <p:spPr>
          <a:xfrm>
            <a:off x="905718" y="530787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--version</a:t>
            </a:r>
          </a:p>
        </p:txBody>
      </p:sp>
      <p:sp>
        <p:nvSpPr>
          <p:cNvPr id="750" name="CmdDesc746_0">
            <a:extLst>
              <a:ext uri="{FF2B5EF4-FFF2-40B4-BE49-F238E27FC236}">
                <a16:creationId xmlns="" xmlns:a16="http://schemas.microsoft.com/office/drawing/2014/main" id="{4EC2001C-A5FD-4C58-B5E6-FA396CA71B70}"/>
              </a:ext>
            </a:extLst>
          </p:cNvPr>
          <p:cNvSpPr>
            <a:spLocks noGrp="1"/>
          </p:cNvSpPr>
          <p:nvPr/>
        </p:nvSpPr>
        <p:spPr>
          <a:xfrm>
            <a:off x="5641717" y="5306606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dirty="0" err="1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 </a:t>
            </a:r>
            <a:r>
              <a:rPr sz="1600" b="0" i="0" u="none" cap="none" dirty="0" err="1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が正しくインストールされたかを確認する</a:t>
            </a:r>
            <a:endParaRPr sz="1600" b="0" i="0" u="none" cap="none" dirty="0">
              <a:solidFill>
                <a:srgbClr val="C9D1D9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2" name="CmdPillTxt746_1">
            <a:extLst>
              <a:ext uri="{FF2B5EF4-FFF2-40B4-BE49-F238E27FC236}">
                <a16:creationId xmlns="" xmlns:a16="http://schemas.microsoft.com/office/drawing/2014/main" id="{770783B3-7033-44E7-A321-0684C468E449}"/>
              </a:ext>
            </a:extLst>
          </p:cNvPr>
          <p:cNvSpPr>
            <a:spLocks noGrp="1"/>
          </p:cNvSpPr>
          <p:nvPr/>
        </p:nvSpPr>
        <p:spPr>
          <a:xfrm>
            <a:off x="904360" y="5560250"/>
            <a:ext cx="5157182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</a:t>
            </a:r>
            <a:r>
              <a:rPr sz="1600" b="1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config</a:t>
            </a: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--global user.name / </a:t>
            </a:r>
            <a:r>
              <a:rPr sz="1600" b="1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user.email</a:t>
            </a:r>
            <a:endParaRPr sz="1600" b="1" i="0" u="none" cap="none" dirty="0">
              <a:solidFill>
                <a:srgbClr val="FFFFFF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3" name="CmdDesc746_1">
            <a:extLst>
              <a:ext uri="{FF2B5EF4-FFF2-40B4-BE49-F238E27FC236}">
                <a16:creationId xmlns="" xmlns:a16="http://schemas.microsoft.com/office/drawing/2014/main" id="{58048804-9507-4F67-9446-9BE25E0D2C39}"/>
              </a:ext>
            </a:extLst>
          </p:cNvPr>
          <p:cNvSpPr>
            <a:spLocks noGrp="1"/>
          </p:cNvSpPr>
          <p:nvPr/>
        </p:nvSpPr>
        <p:spPr>
          <a:xfrm>
            <a:off x="5641717" y="5541106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dirty="0" err="1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コミットに記録するユーザー情報を設定する</a:t>
            </a:r>
            <a:endParaRPr sz="1600" b="0" i="0" u="none" cap="none" dirty="0">
              <a:solidFill>
                <a:srgbClr val="C9D1D9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5" name="CmdPillTxt746_2">
            <a:extLst>
              <a:ext uri="{FF2B5EF4-FFF2-40B4-BE49-F238E27FC236}">
                <a16:creationId xmlns="" xmlns:a16="http://schemas.microsoft.com/office/drawing/2014/main" id="{55DEB86E-4BB2-4578-98CC-0D5ABF97A7B7}"/>
              </a:ext>
            </a:extLst>
          </p:cNvPr>
          <p:cNvSpPr>
            <a:spLocks noGrp="1"/>
          </p:cNvSpPr>
          <p:nvPr/>
        </p:nvSpPr>
        <p:spPr>
          <a:xfrm>
            <a:off x="904360" y="5794750"/>
            <a:ext cx="38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branch / checkout / checkout -b</a:t>
            </a:r>
          </a:p>
        </p:txBody>
      </p:sp>
      <p:sp>
        <p:nvSpPr>
          <p:cNvPr id="756" name="CmdDesc746_2">
            <a:extLst>
              <a:ext uri="{FF2B5EF4-FFF2-40B4-BE49-F238E27FC236}">
                <a16:creationId xmlns="" xmlns:a16="http://schemas.microsoft.com/office/drawing/2014/main" id="{38595092-3919-4E66-9912-63EF82212C95}"/>
              </a:ext>
            </a:extLst>
          </p:cNvPr>
          <p:cNvSpPr>
            <a:spLocks noGrp="1"/>
          </p:cNvSpPr>
          <p:nvPr/>
        </p:nvSpPr>
        <p:spPr>
          <a:xfrm>
            <a:off x="5641717" y="5775606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dirty="0" err="1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作業ブランチ</a:t>
            </a:r>
            <a:r>
              <a:rPr lang="ja-JP" altLang="en-US" sz="1600" b="0" i="0" u="none" cap="none" dirty="0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の表示、切り替え、</a:t>
            </a:r>
            <a:r>
              <a:rPr lang="en-US" altLang="ja-JP" sz="1600" b="0" i="0" u="none" cap="none" dirty="0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-b</a:t>
            </a:r>
            <a:r>
              <a:rPr lang="ja-JP" altLang="en-US" sz="1600" b="0" i="0" u="none" cap="none" dirty="0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で作成して切り替え</a:t>
            </a:r>
            <a:endParaRPr sz="1600" b="0" i="0" u="none" cap="none" dirty="0">
              <a:solidFill>
                <a:srgbClr val="C9D1D9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8" name="CmdPillTxt746_3">
            <a:extLst>
              <a:ext uri="{FF2B5EF4-FFF2-40B4-BE49-F238E27FC236}">
                <a16:creationId xmlns="" xmlns:a16="http://schemas.microsoft.com/office/drawing/2014/main" id="{639F84F4-36EF-499B-B54B-78298DDE73E1}"/>
              </a:ext>
            </a:extLst>
          </p:cNvPr>
          <p:cNvSpPr>
            <a:spLocks noGrp="1"/>
          </p:cNvSpPr>
          <p:nvPr/>
        </p:nvSpPr>
        <p:spPr>
          <a:xfrm>
            <a:off x="904360" y="6029250"/>
            <a:ext cx="3420000" cy="28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1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add / commit -m "..." / log</a:t>
            </a:r>
          </a:p>
        </p:txBody>
      </p:sp>
      <p:sp>
        <p:nvSpPr>
          <p:cNvPr id="759" name="CmdDesc746_3">
            <a:extLst>
              <a:ext uri="{FF2B5EF4-FFF2-40B4-BE49-F238E27FC236}">
                <a16:creationId xmlns="" xmlns:a16="http://schemas.microsoft.com/office/drawing/2014/main" id="{EED93E31-D05B-433E-8249-FDD0712C2BDA}"/>
              </a:ext>
            </a:extLst>
          </p:cNvPr>
          <p:cNvSpPr>
            <a:spLocks noGrp="1"/>
          </p:cNvSpPr>
          <p:nvPr/>
        </p:nvSpPr>
        <p:spPr>
          <a:xfrm>
            <a:off x="5641717" y="6010106"/>
            <a:ext cx="6813280" cy="4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 dirty="0" err="1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変更をステージ</a:t>
            </a:r>
            <a:r>
              <a:rPr sz="1600" b="0" i="0" u="none" cap="none" dirty="0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、</a:t>
            </a:r>
            <a:r>
              <a:rPr lang="en-US" sz="1600" b="0" i="0" u="none" cap="none" dirty="0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-m</a:t>
            </a:r>
            <a:r>
              <a:rPr lang="ja-JP" altLang="en-US" sz="1600" b="0" i="0" u="none" cap="none" dirty="0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でメッセージを</a:t>
            </a:r>
            <a:r>
              <a:rPr sz="1600" b="0" i="0" u="none" cap="none" dirty="0" err="1" smtClean="0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記録し</a:t>
            </a:r>
            <a:r>
              <a:rPr sz="1600" b="0" i="0" u="none" cap="none" dirty="0" err="1">
                <a:solidFill>
                  <a:srgbClr val="C9D1D9"/>
                </a:solidFill>
                <a:latin typeface="HG丸ｺﾞｼｯｸM-PRO"/>
                <a:ea typeface="HG丸ｺﾞｼｯｸM-PRO"/>
                <a:cs typeface="HG丸ｺﾞｼｯｸM-PRO"/>
              </a:rPr>
              <a:t>、履歴を確認する</a:t>
            </a:r>
            <a:endParaRPr sz="1600" b="0" i="0" u="none" cap="none" dirty="0">
              <a:solidFill>
                <a:srgbClr val="C9D1D9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1196989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4">
            <a:extLst>
              <a:ext uri="{FF2B5EF4-FFF2-40B4-BE49-F238E27FC236}">
                <a16:creationId xmlns="" xmlns:a16="http://schemas.microsoft.com/office/drawing/2014/main" id="{78E2E312-5A0F-4DA6-8F0C-956C056D221A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ローカルでの操作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53" name="Google Shape;653;p34">
            <a:extLst>
              <a:ext uri="{FF2B5EF4-FFF2-40B4-BE49-F238E27FC236}">
                <a16:creationId xmlns="" xmlns:a16="http://schemas.microsoft.com/office/drawing/2014/main" id="{D6AA0D0B-FE1D-4D23-A26D-0DCFC677B396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Gitのインストール方法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54" name="Google Shape;654;p34">
            <a:extLst>
              <a:ext uri="{FF2B5EF4-FFF2-40B4-BE49-F238E27FC236}">
                <a16:creationId xmlns="" xmlns:a16="http://schemas.microsoft.com/office/drawing/2014/main" id="{66E67336-DE00-4228-AD87-E8D4629D386F}"/>
              </a:ext>
            </a:extLst>
          </p:cNvPr>
          <p:cNvSpPr>
            <a:spLocks noGrp="1"/>
          </p:cNvSpPr>
          <p:nvPr/>
        </p:nvSpPr>
        <p:spPr>
          <a:xfrm>
            <a:off x="548640" y="1783080"/>
            <a:ext cx="68580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3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公式サイトからインストーラーをダウンロードし、OSに合わせてインストールします。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55" name="Google Shape;655;p34">
            <a:extLst>
              <a:ext uri="{FF2B5EF4-FFF2-40B4-BE49-F238E27FC236}">
                <a16:creationId xmlns="" xmlns:a16="http://schemas.microsoft.com/office/drawing/2014/main" id="{256C7156-736E-4EF1-AA8E-AD74052389C6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4">
            <a:extLst>
              <a:ext uri="{FF2B5EF4-FFF2-40B4-BE49-F238E27FC236}">
                <a16:creationId xmlns="" xmlns:a16="http://schemas.microsoft.com/office/drawing/2014/main" id="{E3216BFC-519B-4CA7-B7DC-7BEA68C944D2}"/>
              </a:ext>
            </a:extLst>
          </p:cNvPr>
          <p:cNvSpPr>
            <a:spLocks noGrp="1"/>
          </p:cNvSpPr>
          <p:nvPr/>
        </p:nvSpPr>
        <p:spPr>
          <a:xfrm>
            <a:off x="777240" y="2286000"/>
            <a:ext cx="6400800" cy="56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https://git-scm.com/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57" name="Google Shape;657;p34">
            <a:extLst>
              <a:ext uri="{FF2B5EF4-FFF2-40B4-BE49-F238E27FC236}">
                <a16:creationId xmlns="" xmlns:a16="http://schemas.microsoft.com/office/drawing/2014/main" id="{3FA9EEA3-2730-4503-A408-19197E9D58DE}"/>
              </a:ext>
            </a:extLst>
          </p:cNvPr>
          <p:cNvSpPr>
            <a:spLocks noGrp="1"/>
          </p:cNvSpPr>
          <p:nvPr/>
        </p:nvSpPr>
        <p:spPr>
          <a:xfrm>
            <a:off x="777240" y="2852928"/>
            <a:ext cx="6400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Git公式サイト。Windows / Mac / Linux 用のインストーラーが配布されている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58" name="Google Shape;658;p34">
            <a:extLst>
              <a:ext uri="{FF2B5EF4-FFF2-40B4-BE49-F238E27FC236}">
                <a16:creationId xmlns="" xmlns:a16="http://schemas.microsoft.com/office/drawing/2014/main" id="{94E832EC-133B-4876-B825-8EEBF463CA94}"/>
              </a:ext>
            </a:extLst>
          </p:cNvPr>
          <p:cNvSpPr>
            <a:spLocks noGrp="1"/>
          </p:cNvSpPr>
          <p:nvPr/>
        </p:nvSpPr>
        <p:spPr>
          <a:xfrm>
            <a:off x="548640" y="3236976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34">
            <a:extLst>
              <a:ext uri="{FF2B5EF4-FFF2-40B4-BE49-F238E27FC236}">
                <a16:creationId xmlns="" xmlns:a16="http://schemas.microsoft.com/office/drawing/2014/main" id="{8A69A33D-23B9-4105-8770-98AFF981EBC6}"/>
              </a:ext>
            </a:extLst>
          </p:cNvPr>
          <p:cNvSpPr>
            <a:spLocks noGrp="1"/>
          </p:cNvSpPr>
          <p:nvPr/>
        </p:nvSpPr>
        <p:spPr>
          <a:xfrm>
            <a:off x="777240" y="3236976"/>
            <a:ext cx="6400800" cy="56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--version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60" name="Google Shape;660;p34">
            <a:extLst>
              <a:ext uri="{FF2B5EF4-FFF2-40B4-BE49-F238E27FC236}">
                <a16:creationId xmlns="" xmlns:a16="http://schemas.microsoft.com/office/drawing/2014/main" id="{66B3AE7C-DCA8-4CD3-AFF0-2B39CCE362CF}"/>
              </a:ext>
            </a:extLst>
          </p:cNvPr>
          <p:cNvSpPr>
            <a:spLocks noGrp="1"/>
          </p:cNvSpPr>
          <p:nvPr/>
        </p:nvSpPr>
        <p:spPr>
          <a:xfrm>
            <a:off x="777240" y="3803904"/>
            <a:ext cx="6400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インストール後、ターミナル（Git Bashなど）で実行しバージョンが表示されれば完了</a:t>
            </a:r>
            <a:endParaRPr sz="12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61" name="Google Shape;661;p34">
            <a:extLst>
              <a:ext uri="{FF2B5EF4-FFF2-40B4-BE49-F238E27FC236}">
                <a16:creationId xmlns="" xmlns:a16="http://schemas.microsoft.com/office/drawing/2014/main" id="{69F23C56-2CD1-42E3-93D5-9C423D33656C}"/>
              </a:ext>
            </a:extLst>
          </p:cNvPr>
          <p:cNvSpPr>
            <a:spLocks noGrp="1"/>
          </p:cNvSpPr>
          <p:nvPr/>
        </p:nvSpPr>
        <p:spPr>
          <a:xfrm>
            <a:off x="7772400" y="1783080"/>
            <a:ext cx="3886200" cy="4160520"/>
          </a:xfrm>
          <a:prstGeom prst="roundRect">
            <a:avLst>
              <a:gd name="adj" fmla="val 2353"/>
            </a:avLst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4">
            <a:extLst>
              <a:ext uri="{FF2B5EF4-FFF2-40B4-BE49-F238E27FC236}">
                <a16:creationId xmlns="" xmlns:a16="http://schemas.microsoft.com/office/drawing/2014/main" id="{D19FD3E0-2997-4C3F-AF7A-BF885CDD961B}"/>
              </a:ext>
            </a:extLst>
          </p:cNvPr>
          <p:cNvSpPr>
            <a:spLocks noGrp="1"/>
          </p:cNvSpPr>
          <p:nvPr/>
        </p:nvSpPr>
        <p:spPr>
          <a:xfrm>
            <a:off x="8046720" y="2011680"/>
            <a:ext cx="33375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23B22"/>
              </a:buClr>
              <a:buSzPts val="1100"/>
              <a:buFont typeface="HG丸ｺﾞｼｯｸM-PRO"/>
              <a:buNone/>
            </a:pPr>
            <a:r>
              <a:rPr sz="1600" b="1" i="0" u="none" cap="none">
                <a:solidFill>
                  <a:srgbClr val="C23B22"/>
                </a:solidFill>
                <a:latin typeface="HG丸ｺﾞｼｯｸM-PRO"/>
                <a:ea typeface="HG丸ｺﾞｼｯｸM-PRO"/>
                <a:cs typeface="HG丸ｺﾞｼｯｸM-PRO"/>
              </a:rPr>
              <a:t>手順</a:t>
            </a:r>
            <a:endParaRPr sz="11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63" name="Google Shape;663;p34">
            <a:extLst>
              <a:ext uri="{FF2B5EF4-FFF2-40B4-BE49-F238E27FC236}">
                <a16:creationId xmlns="" xmlns:a16="http://schemas.microsoft.com/office/drawing/2014/main" id="{AF2ED599-1954-45A6-B7B0-AD967A8412A9}"/>
              </a:ext>
            </a:extLst>
          </p:cNvPr>
          <p:cNvSpPr>
            <a:spLocks noGrp="1"/>
          </p:cNvSpPr>
          <p:nvPr/>
        </p:nvSpPr>
        <p:spPr>
          <a:xfrm>
            <a:off x="8046720" y="2404872"/>
            <a:ext cx="3337560" cy="399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① 公式サイトにアクセス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② OSに合ったインストーラーをダウンロード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③ インストーラーを実行（基本的に既定値のままで進めてよい）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④ ターミナルで動作確認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64" name="Google Shape;664;p34">
            <a:extLst>
              <a:ext uri="{FF2B5EF4-FFF2-40B4-BE49-F238E27FC236}">
                <a16:creationId xmlns="" xmlns:a16="http://schemas.microsoft.com/office/drawing/2014/main" id="{CF6478B5-802F-46D9-BB80-D728C5EF820A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10 — ローカルでの操作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65" name="Google Shape;665;p34">
            <a:extLst>
              <a:ext uri="{FF2B5EF4-FFF2-40B4-BE49-F238E27FC236}">
                <a16:creationId xmlns="" xmlns:a16="http://schemas.microsoft.com/office/drawing/2014/main" id="{F0A81976-CCE8-4FF2-B350-27B6C35E088C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34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369014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680;p35">
            <a:extLst>
              <a:ext uri="{FF2B5EF4-FFF2-40B4-BE49-F238E27FC236}">
                <a16:creationId xmlns="" xmlns:a16="http://schemas.microsoft.com/office/drawing/2014/main" id="{169D45D6-CEE6-4225-A897-75ECFBBE39FA}"/>
              </a:ext>
            </a:extLst>
          </p:cNvPr>
          <p:cNvSpPr>
            <a:spLocks noGrp="1"/>
          </p:cNvSpPr>
          <p:nvPr/>
        </p:nvSpPr>
        <p:spPr>
          <a:xfrm>
            <a:off x="548640" y="5930461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5">
            <a:extLst>
              <a:ext uri="{FF2B5EF4-FFF2-40B4-BE49-F238E27FC236}">
                <a16:creationId xmlns="" xmlns:a16="http://schemas.microsoft.com/office/drawing/2014/main" id="{169D45D6-CEE6-4225-A897-75ECFBBE39FA}"/>
              </a:ext>
            </a:extLst>
          </p:cNvPr>
          <p:cNvSpPr>
            <a:spLocks noGrp="1"/>
          </p:cNvSpPr>
          <p:nvPr/>
        </p:nvSpPr>
        <p:spPr>
          <a:xfrm>
            <a:off x="548640" y="4187952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727" y="4060645"/>
            <a:ext cx="3471713" cy="2553081"/>
          </a:xfrm>
          <a:prstGeom prst="rect">
            <a:avLst/>
          </a:prstGeom>
        </p:spPr>
      </p:pic>
      <p:sp>
        <p:nvSpPr>
          <p:cNvPr id="671" name="Google Shape;671;p35">
            <a:extLst>
              <a:ext uri="{FF2B5EF4-FFF2-40B4-BE49-F238E27FC236}">
                <a16:creationId xmlns="" xmlns:a16="http://schemas.microsoft.com/office/drawing/2014/main" id="{C242B249-14BF-441B-A278-3813ED1A3114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ローカルでの操作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72" name="Google Shape;672;p35">
            <a:extLst>
              <a:ext uri="{FF2B5EF4-FFF2-40B4-BE49-F238E27FC236}">
                <a16:creationId xmlns="" xmlns:a16="http://schemas.microsoft.com/office/drawing/2014/main" id="{7E38DC82-336A-4DBC-A14C-7E92E4D3B427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Gitの環境設定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73" name="Google Shape;673;p35">
            <a:extLst>
              <a:ext uri="{FF2B5EF4-FFF2-40B4-BE49-F238E27FC236}">
                <a16:creationId xmlns="" xmlns:a16="http://schemas.microsoft.com/office/drawing/2014/main" id="{A376BBA3-0C50-4286-B2FD-542D3A0E39B3}"/>
              </a:ext>
            </a:extLst>
          </p:cNvPr>
          <p:cNvSpPr>
            <a:spLocks noGrp="1"/>
          </p:cNvSpPr>
          <p:nvPr/>
        </p:nvSpPr>
        <p:spPr>
          <a:xfrm>
            <a:off x="548640" y="1268440"/>
            <a:ext cx="68580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350"/>
              <a:buFont typeface="HG丸ｺﾞｼｯｸM-PRO"/>
              <a:buNone/>
            </a:pPr>
            <a:r>
              <a:rPr sz="1600" b="0" i="0" u="none" cap="none" dirty="0" err="1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初回利用時に、コミットの記録者情報としてユーザー名とメールアドレスを設定します</a:t>
            </a:r>
            <a:r>
              <a:rPr sz="1600" b="0" i="0" u="none" cap="none" dirty="0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。</a:t>
            </a:r>
            <a:endParaRPr sz="13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74" name="Google Shape;674;p35">
            <a:extLst>
              <a:ext uri="{FF2B5EF4-FFF2-40B4-BE49-F238E27FC236}">
                <a16:creationId xmlns="" xmlns:a16="http://schemas.microsoft.com/office/drawing/2014/main" id="{C2071BDD-CF96-4C14-8573-BA14C587C180}"/>
              </a:ext>
            </a:extLst>
          </p:cNvPr>
          <p:cNvSpPr>
            <a:spLocks noGrp="1"/>
          </p:cNvSpPr>
          <p:nvPr/>
        </p:nvSpPr>
        <p:spPr>
          <a:xfrm>
            <a:off x="548640" y="2286000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5">
            <a:extLst>
              <a:ext uri="{FF2B5EF4-FFF2-40B4-BE49-F238E27FC236}">
                <a16:creationId xmlns="" xmlns:a16="http://schemas.microsoft.com/office/drawing/2014/main" id="{C2E35CC2-1A52-4980-B229-55F2DE0DB89B}"/>
              </a:ext>
            </a:extLst>
          </p:cNvPr>
          <p:cNvSpPr>
            <a:spLocks noGrp="1"/>
          </p:cNvSpPr>
          <p:nvPr/>
        </p:nvSpPr>
        <p:spPr>
          <a:xfrm>
            <a:off x="777240" y="2222629"/>
            <a:ext cx="6400800" cy="56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</a:t>
            </a: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config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--global user.name  "username"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76" name="Google Shape;676;p35">
            <a:extLst>
              <a:ext uri="{FF2B5EF4-FFF2-40B4-BE49-F238E27FC236}">
                <a16:creationId xmlns="" xmlns:a16="http://schemas.microsoft.com/office/drawing/2014/main" id="{802CDC6E-FE56-4D3B-AFCE-6115DB9D4E8E}"/>
              </a:ext>
            </a:extLst>
          </p:cNvPr>
          <p:cNvSpPr>
            <a:spLocks noGrp="1"/>
          </p:cNvSpPr>
          <p:nvPr/>
        </p:nvSpPr>
        <p:spPr>
          <a:xfrm>
            <a:off x="548640" y="1938795"/>
            <a:ext cx="6400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 dirty="0" err="1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コミットに記録される名前を設定する</a:t>
            </a:r>
            <a:endParaRPr sz="12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77" name="Google Shape;677;p35">
            <a:extLst>
              <a:ext uri="{FF2B5EF4-FFF2-40B4-BE49-F238E27FC236}">
                <a16:creationId xmlns="" xmlns:a16="http://schemas.microsoft.com/office/drawing/2014/main" id="{6E22A739-4E8F-4511-8076-7385E6CFFD2C}"/>
              </a:ext>
            </a:extLst>
          </p:cNvPr>
          <p:cNvSpPr>
            <a:spLocks noGrp="1"/>
          </p:cNvSpPr>
          <p:nvPr/>
        </p:nvSpPr>
        <p:spPr>
          <a:xfrm>
            <a:off x="548640" y="3236976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5">
            <a:extLst>
              <a:ext uri="{FF2B5EF4-FFF2-40B4-BE49-F238E27FC236}">
                <a16:creationId xmlns="" xmlns:a16="http://schemas.microsoft.com/office/drawing/2014/main" id="{54E3D0B9-7923-4502-BE96-77DFE0B7BA8A}"/>
              </a:ext>
            </a:extLst>
          </p:cNvPr>
          <p:cNvSpPr>
            <a:spLocks noGrp="1"/>
          </p:cNvSpPr>
          <p:nvPr/>
        </p:nvSpPr>
        <p:spPr>
          <a:xfrm>
            <a:off x="777240" y="3182658"/>
            <a:ext cx="6400800" cy="56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</a:t>
            </a: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config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--global </a:t>
            </a: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user.email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"username@user.com"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79" name="Google Shape;679;p35">
            <a:extLst>
              <a:ext uri="{FF2B5EF4-FFF2-40B4-BE49-F238E27FC236}">
                <a16:creationId xmlns="" xmlns:a16="http://schemas.microsoft.com/office/drawing/2014/main" id="{3E5318E8-2A03-4463-B025-9B08D9714BA8}"/>
              </a:ext>
            </a:extLst>
          </p:cNvPr>
          <p:cNvSpPr>
            <a:spLocks noGrp="1"/>
          </p:cNvSpPr>
          <p:nvPr/>
        </p:nvSpPr>
        <p:spPr>
          <a:xfrm>
            <a:off x="548640" y="2880546"/>
            <a:ext cx="6400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 dirty="0" err="1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コミットに記録されるメールアドレスを設定する</a:t>
            </a:r>
            <a:endParaRPr sz="12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81" name="Google Shape;681;p35">
            <a:extLst>
              <a:ext uri="{FF2B5EF4-FFF2-40B4-BE49-F238E27FC236}">
                <a16:creationId xmlns="" xmlns:a16="http://schemas.microsoft.com/office/drawing/2014/main" id="{03524A59-AA1E-434B-9723-DE0188FC16BC}"/>
              </a:ext>
            </a:extLst>
          </p:cNvPr>
          <p:cNvSpPr>
            <a:spLocks noGrp="1"/>
          </p:cNvSpPr>
          <p:nvPr/>
        </p:nvSpPr>
        <p:spPr>
          <a:xfrm>
            <a:off x="777240" y="4133634"/>
            <a:ext cx="6400800" cy="56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</a:t>
            </a: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config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--list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82" name="Google Shape;682;p35">
            <a:extLst>
              <a:ext uri="{FF2B5EF4-FFF2-40B4-BE49-F238E27FC236}">
                <a16:creationId xmlns="" xmlns:a16="http://schemas.microsoft.com/office/drawing/2014/main" id="{7F7C51C0-E158-4D55-9BA8-4A49A9BA2B0D}"/>
              </a:ext>
            </a:extLst>
          </p:cNvPr>
          <p:cNvSpPr>
            <a:spLocks noGrp="1"/>
          </p:cNvSpPr>
          <p:nvPr/>
        </p:nvSpPr>
        <p:spPr>
          <a:xfrm>
            <a:off x="548640" y="3813565"/>
            <a:ext cx="6400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200"/>
              <a:buFont typeface="HG丸ｺﾞｼｯｸM-PRO"/>
              <a:buNone/>
            </a:pPr>
            <a:r>
              <a:rPr sz="1600" b="0" i="0" u="none" cap="none" dirty="0" err="1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設定内容を確認する</a:t>
            </a:r>
            <a:endParaRPr sz="12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83" name="Google Shape;683;p35">
            <a:extLst>
              <a:ext uri="{FF2B5EF4-FFF2-40B4-BE49-F238E27FC236}">
                <a16:creationId xmlns="" xmlns:a16="http://schemas.microsoft.com/office/drawing/2014/main" id="{DAEAA3DA-9172-40F8-8041-CD232FF4AFD9}"/>
              </a:ext>
            </a:extLst>
          </p:cNvPr>
          <p:cNvSpPr>
            <a:spLocks noGrp="1"/>
          </p:cNvSpPr>
          <p:nvPr/>
        </p:nvSpPr>
        <p:spPr>
          <a:xfrm>
            <a:off x="7772400" y="1783080"/>
            <a:ext cx="3886200" cy="4545292"/>
          </a:xfrm>
          <a:prstGeom prst="roundRect">
            <a:avLst>
              <a:gd name="adj" fmla="val 2353"/>
            </a:avLst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5">
            <a:extLst>
              <a:ext uri="{FF2B5EF4-FFF2-40B4-BE49-F238E27FC236}">
                <a16:creationId xmlns="" xmlns:a16="http://schemas.microsoft.com/office/drawing/2014/main" id="{DE24F09F-F345-4C3B-8F33-4784345BE65D}"/>
              </a:ext>
            </a:extLst>
          </p:cNvPr>
          <p:cNvSpPr>
            <a:spLocks noGrp="1"/>
          </p:cNvSpPr>
          <p:nvPr/>
        </p:nvSpPr>
        <p:spPr>
          <a:xfrm>
            <a:off x="8046720" y="2011680"/>
            <a:ext cx="3337560" cy="46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23B22"/>
              </a:buClr>
              <a:buSzPts val="1100"/>
              <a:buFont typeface="HG丸ｺﾞｼｯｸM-PRO"/>
              <a:buNone/>
            </a:pPr>
            <a:r>
              <a:rPr sz="1600" b="1" i="0" u="none" cap="none" dirty="0" err="1">
                <a:solidFill>
                  <a:srgbClr val="C23B22"/>
                </a:solidFill>
                <a:latin typeface="HG丸ｺﾞｼｯｸM-PRO"/>
                <a:ea typeface="HG丸ｺﾞｼｯｸM-PRO"/>
                <a:cs typeface="HG丸ｺﾞｼｯｸM-PRO"/>
              </a:rPr>
              <a:t>重要</a:t>
            </a:r>
            <a:endParaRPr sz="11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85" name="Google Shape;685;p35">
            <a:extLst>
              <a:ext uri="{FF2B5EF4-FFF2-40B4-BE49-F238E27FC236}">
                <a16:creationId xmlns="" xmlns:a16="http://schemas.microsoft.com/office/drawing/2014/main" id="{A8705045-E642-4948-AF86-B2ECFEE634F9}"/>
              </a:ext>
            </a:extLst>
          </p:cNvPr>
          <p:cNvSpPr>
            <a:spLocks noGrp="1"/>
          </p:cNvSpPr>
          <p:nvPr/>
        </p:nvSpPr>
        <p:spPr>
          <a:xfrm>
            <a:off x="8046720" y="2404872"/>
            <a:ext cx="3337560" cy="399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r>
              <a:rPr lang="ja-JP" altLang="en-US" sz="1600" b="0" i="0" u="none" cap="none" dirty="0" smtClean="0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・</a:t>
            </a:r>
            <a:r>
              <a:rPr sz="1600" b="0" i="0" u="none" cap="none" dirty="0" smtClean="0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ここで設定する名前・メールアドレスは、実在のものである必要はなく、仮の名称・アドレスでも設定可能です。</a:t>
            </a:r>
            <a:r>
              <a:rPr sz="1600" b="0" i="0" u="none" cap="none" dirty="0" smtClean="0">
                <a:solidFill>
                  <a:srgbClr val="24292E"/>
                </a:solidFill>
                <a:latin typeface="+mj-lt"/>
                <a:ea typeface="HG丸ｺﾞｼｯｸM-PRO"/>
                <a:cs typeface="HG丸ｺﾞｼｯｸM-PRO"/>
              </a:rPr>
              <a:t>あくまでコミット履歴上の識別用の情報です。</a:t>
            </a:r>
            <a:endParaRPr lang="en-US" sz="1600" b="0" i="0" u="none" cap="none" dirty="0" smtClean="0">
              <a:solidFill>
                <a:srgbClr val="24292E"/>
              </a:solidFill>
              <a:latin typeface="+mj-lt"/>
              <a:ea typeface="HG丸ｺﾞｼｯｸM-PRO"/>
              <a:cs typeface="HG丸ｺﾞｼｯｸM-PRO"/>
            </a:endParaRPr>
          </a:p>
          <a:p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HG丸ｺﾞｼｯｸM-PRO"/>
              <a:buNone/>
            </a:pPr>
            <a:endParaRPr lang="en-US" sz="1600" b="0" i="0" u="none" cap="none" dirty="0" smtClean="0">
              <a:solidFill>
                <a:srgbClr val="24292E"/>
              </a:solidFill>
              <a:latin typeface="+mj-lt"/>
              <a:ea typeface="HG丸ｺﾞｼｯｸM-PRO"/>
              <a:cs typeface="HG丸ｺﾞｼｯｸM-PRO"/>
            </a:endParaRPr>
          </a:p>
          <a:p>
            <a:pPr lvl="0">
              <a:lnSpc>
                <a:spcPct val="135000"/>
              </a:lnSpc>
              <a:buClr>
                <a:srgbClr val="24292E"/>
              </a:buClr>
              <a:buSzPts val="1300"/>
            </a:pPr>
            <a:r>
              <a:rPr lang="ja-JP" altLang="en-US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・グローバル設定の実体は </a:t>
            </a:r>
            <a:r>
              <a:rPr lang="en-US" altLang="ja-JP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~/.</a:t>
            </a:r>
            <a:r>
              <a:rPr lang="en-US" altLang="ja-JP" sz="1600" dirty="0" err="1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gitconfig</a:t>
            </a:r>
            <a:r>
              <a:rPr lang="en-US" altLang="ja-JP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(Windows</a:t>
            </a:r>
            <a:r>
              <a:rPr lang="ja-JP" altLang="en-US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なら </a:t>
            </a:r>
            <a:r>
              <a:rPr lang="en-US" altLang="ja-JP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C:\Users\</a:t>
            </a:r>
            <a:r>
              <a:rPr lang="ja-JP" altLang="en-US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ユーザー名</a:t>
            </a:r>
            <a:r>
              <a:rPr lang="en-US" altLang="ja-JP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\.</a:t>
            </a:r>
            <a:r>
              <a:rPr lang="en-US" altLang="ja-JP" sz="1600" dirty="0" err="1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gitconfig</a:t>
            </a:r>
            <a:r>
              <a:rPr lang="en-US" altLang="ja-JP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)</a:t>
            </a:r>
            <a:r>
              <a:rPr lang="ja-JP" altLang="en-US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なので、</a:t>
            </a:r>
            <a:r>
              <a:rPr lang="en-US" altLang="ja-JP" sz="1600" dirty="0" err="1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VSCode</a:t>
            </a:r>
            <a:r>
              <a:rPr lang="ja-JP" altLang="en-US" sz="1600" dirty="0" smtClean="0">
                <a:solidFill>
                  <a:schemeClr val="dk1"/>
                </a:solidFill>
                <a:latin typeface="+mj-lt"/>
                <a:ea typeface="HG丸ｺﾞｼｯｸM-PRO"/>
                <a:cs typeface="HG丸ｺﾞｼｯｸM-PRO"/>
              </a:rPr>
              <a:t>で直接開いて編集することもできます。</a:t>
            </a:r>
            <a:endParaRPr sz="1600" b="0" i="0" u="none" cap="none" dirty="0">
              <a:solidFill>
                <a:schemeClr val="dk1"/>
              </a:solidFill>
              <a:latin typeface="+mj-lt"/>
              <a:ea typeface="HG丸ｺﾞｼｯｸM-PRO"/>
              <a:cs typeface="HG丸ｺﾞｼｯｸM-PRO"/>
            </a:endParaRPr>
          </a:p>
        </p:txBody>
      </p:sp>
      <p:sp>
        <p:nvSpPr>
          <p:cNvPr id="686" name="Google Shape;686;p35">
            <a:extLst>
              <a:ext uri="{FF2B5EF4-FFF2-40B4-BE49-F238E27FC236}">
                <a16:creationId xmlns="" xmlns:a16="http://schemas.microsoft.com/office/drawing/2014/main" id="{A5D5F787-8E2B-4F37-8F94-A2BBF045D81E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10 — ローカルでの操作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87" name="Google Shape;687;p35">
            <a:extLst>
              <a:ext uri="{FF2B5EF4-FFF2-40B4-BE49-F238E27FC236}">
                <a16:creationId xmlns="" xmlns:a16="http://schemas.microsoft.com/office/drawing/2014/main" id="{DD0C27E8-07A9-48D2-9CCB-704F05DA5269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35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" name="角丸四角形 1"/>
          <p:cNvSpPr/>
          <p:nvPr/>
        </p:nvSpPr>
        <p:spPr>
          <a:xfrm>
            <a:off x="7912728" y="2037031"/>
            <a:ext cx="669957" cy="39835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角丸四角形 20"/>
          <p:cNvSpPr/>
          <p:nvPr/>
        </p:nvSpPr>
        <p:spPr>
          <a:xfrm>
            <a:off x="5156477" y="5037958"/>
            <a:ext cx="2676657" cy="39835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Google Shape;682;p35">
            <a:extLst>
              <a:ext uri="{FF2B5EF4-FFF2-40B4-BE49-F238E27FC236}">
                <a16:creationId xmlns="" xmlns:a16="http://schemas.microsoft.com/office/drawing/2014/main" id="{7F7C51C0-E158-4D55-9BA8-4A49A9BA2B0D}"/>
              </a:ext>
            </a:extLst>
          </p:cNvPr>
          <p:cNvSpPr>
            <a:spLocks noGrp="1"/>
          </p:cNvSpPr>
          <p:nvPr/>
        </p:nvSpPr>
        <p:spPr>
          <a:xfrm>
            <a:off x="548640" y="4946904"/>
            <a:ext cx="6400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lvl="0">
              <a:buClr>
                <a:srgbClr val="57606A"/>
              </a:buClr>
              <a:buSzPts val="1200"/>
            </a:pPr>
            <a:r>
              <a:rPr lang="ja-JP" altLang="en-US" sz="1600" dirty="0" smtClean="0">
                <a:solidFill>
                  <a:schemeClr val="dk1"/>
                </a:solidFill>
                <a:ea typeface="HG丸ｺﾞｼｯｸM-PRO"/>
                <a:cs typeface="HG丸ｺﾞｼｯｸM-PRO"/>
              </a:rPr>
              <a:t>直接ファイルを編集することも可能</a:t>
            </a:r>
            <a:endParaRPr lang="en-US" altLang="ja-JP" sz="1600" dirty="0" smtClean="0">
              <a:solidFill>
                <a:schemeClr val="dk1"/>
              </a:solidFill>
              <a:ea typeface="HG丸ｺﾞｼｯｸM-PRO"/>
              <a:cs typeface="HG丸ｺﾞｼｯｸM-PRO"/>
            </a:endParaRPr>
          </a:p>
          <a:p>
            <a:pPr lvl="0">
              <a:buClr>
                <a:srgbClr val="57606A"/>
              </a:buClr>
              <a:buSzPts val="1200"/>
            </a:pPr>
            <a:r>
              <a:rPr lang="en-US" altLang="ja-JP" sz="1600" dirty="0" smtClean="0">
                <a:solidFill>
                  <a:schemeClr val="dk1"/>
                </a:solidFill>
                <a:ea typeface="HG丸ｺﾞｼｯｸM-PRO"/>
                <a:cs typeface="HG丸ｺﾞｼｯｸM-PRO"/>
              </a:rPr>
              <a:t>C</a:t>
            </a:r>
            <a:r>
              <a:rPr lang="en-US" altLang="ja-JP" sz="1600" dirty="0">
                <a:solidFill>
                  <a:schemeClr val="dk1"/>
                </a:solidFill>
                <a:ea typeface="HG丸ｺﾞｼｯｸM-PRO"/>
                <a:cs typeface="HG丸ｺﾞｼｯｸM-PRO"/>
              </a:rPr>
              <a:t>:\Users\</a:t>
            </a:r>
            <a:r>
              <a:rPr lang="ja-JP" altLang="en-US" sz="1600" dirty="0">
                <a:solidFill>
                  <a:schemeClr val="dk1"/>
                </a:solidFill>
                <a:ea typeface="HG丸ｺﾞｼｯｸM-PRO"/>
                <a:cs typeface="HG丸ｺﾞｼｯｸM-PRO"/>
              </a:rPr>
              <a:t>ユーザー名</a:t>
            </a:r>
            <a:r>
              <a:rPr lang="en-US" altLang="ja-JP" sz="1600" dirty="0">
                <a:solidFill>
                  <a:schemeClr val="dk1"/>
                </a:solidFill>
                <a:ea typeface="HG丸ｺﾞｼｯｸM-PRO"/>
                <a:cs typeface="HG丸ｺﾞｼｯｸM-PRO"/>
              </a:rPr>
              <a:t>\.</a:t>
            </a:r>
            <a:r>
              <a:rPr lang="en-US" altLang="ja-JP" sz="1600" dirty="0" err="1">
                <a:solidFill>
                  <a:schemeClr val="dk1"/>
                </a:solidFill>
                <a:ea typeface="HG丸ｺﾞｼｯｸM-PRO"/>
                <a:cs typeface="HG丸ｺﾞｼｯｸM-PRO"/>
              </a:rPr>
              <a:t>gitconfig</a:t>
            </a:r>
            <a:endParaRPr sz="12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3" name="Google Shape;682;p35">
            <a:extLst>
              <a:ext uri="{FF2B5EF4-FFF2-40B4-BE49-F238E27FC236}">
                <a16:creationId xmlns="" xmlns:a16="http://schemas.microsoft.com/office/drawing/2014/main" id="{7F7C51C0-E158-4D55-9BA8-4A49A9BA2B0D}"/>
              </a:ext>
            </a:extLst>
          </p:cNvPr>
          <p:cNvSpPr>
            <a:spLocks noGrp="1"/>
          </p:cNvSpPr>
          <p:nvPr/>
        </p:nvSpPr>
        <p:spPr>
          <a:xfrm>
            <a:off x="539198" y="5578369"/>
            <a:ext cx="640080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lvl="0">
              <a:buClr>
                <a:srgbClr val="57606A"/>
              </a:buClr>
              <a:buSzPts val="1200"/>
            </a:pPr>
            <a:r>
              <a:rPr lang="ja-JP" altLang="en-US" sz="1600" dirty="0">
                <a:solidFill>
                  <a:srgbClr val="57606A"/>
                </a:solidFill>
                <a:ea typeface="HG丸ｺﾞｼｯｸM-PRO"/>
                <a:cs typeface="HG丸ｺﾞｼｯｸM-PRO"/>
              </a:rPr>
              <a:t>設定を丸ごと消したい場合は </a:t>
            </a:r>
            <a:r>
              <a:rPr lang="en-US" altLang="ja-JP" sz="1600" dirty="0">
                <a:solidFill>
                  <a:srgbClr val="57606A"/>
                </a:solidFill>
                <a:ea typeface="HG丸ｺﾞｼｯｸM-PRO"/>
                <a:cs typeface="HG丸ｺﾞｼｯｸM-PRO"/>
              </a:rPr>
              <a:t>--</a:t>
            </a:r>
            <a:r>
              <a:rPr lang="en-US" altLang="ja-JP" sz="1600" dirty="0" smtClean="0">
                <a:solidFill>
                  <a:srgbClr val="57606A"/>
                </a:solidFill>
                <a:ea typeface="HG丸ｺﾞｼｯｸM-PRO"/>
                <a:cs typeface="HG丸ｺﾞｼｯｸM-PRO"/>
              </a:rPr>
              <a:t>unset</a:t>
            </a:r>
            <a:endParaRPr sz="12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25" name="Google Shape;681;p35">
            <a:extLst>
              <a:ext uri="{FF2B5EF4-FFF2-40B4-BE49-F238E27FC236}">
                <a16:creationId xmlns="" xmlns:a16="http://schemas.microsoft.com/office/drawing/2014/main" id="{03524A59-AA1E-434B-9723-DE0188FC16BC}"/>
              </a:ext>
            </a:extLst>
          </p:cNvPr>
          <p:cNvSpPr>
            <a:spLocks noGrp="1"/>
          </p:cNvSpPr>
          <p:nvPr/>
        </p:nvSpPr>
        <p:spPr>
          <a:xfrm>
            <a:off x="777240" y="5876143"/>
            <a:ext cx="6400800" cy="562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lvl="0">
              <a:lnSpc>
                <a:spcPct val="115000"/>
              </a:lnSpc>
              <a:buClr>
                <a:srgbClr val="FFFFFF"/>
              </a:buClr>
              <a:buSzPts val="1300"/>
            </a:pPr>
            <a:r>
              <a:rPr lang="en-US" sz="1600" dirty="0" err="1" smtClean="0">
                <a:solidFill>
                  <a:srgbClr val="FFFFFF"/>
                </a:solidFill>
                <a:ea typeface="HG丸ｺﾞｼｯｸM-PRO"/>
                <a:cs typeface="HG丸ｺﾞｼｯｸM-PRO"/>
              </a:rPr>
              <a:t>git</a:t>
            </a:r>
            <a:r>
              <a:rPr lang="en-US" sz="1600" dirty="0" smtClean="0">
                <a:solidFill>
                  <a:srgbClr val="FFFFFF"/>
                </a:solidFill>
                <a:ea typeface="HG丸ｺﾞｼｯｸM-PRO"/>
                <a:cs typeface="HG丸ｺﾞｼｯｸM-PRO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HG丸ｺﾞｼｯｸM-PRO"/>
                <a:cs typeface="HG丸ｺﾞｼｯｸM-PRO"/>
              </a:rPr>
              <a:t>config</a:t>
            </a:r>
            <a:r>
              <a:rPr lang="en-US" sz="1600" dirty="0">
                <a:solidFill>
                  <a:srgbClr val="FFFFFF"/>
                </a:solidFill>
                <a:ea typeface="HG丸ｺﾞｼｯｸM-PRO"/>
                <a:cs typeface="HG丸ｺﾞｼｯｸM-PRO"/>
              </a:rPr>
              <a:t> --global --unset user.name</a:t>
            </a:r>
            <a:endParaRPr sz="130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716692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6">
            <a:extLst>
              <a:ext uri="{FF2B5EF4-FFF2-40B4-BE49-F238E27FC236}">
                <a16:creationId xmlns="" xmlns:a16="http://schemas.microsoft.com/office/drawing/2014/main" id="{D0C1CF81-3E8A-43C8-B44A-A7509A1B6305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ローカルでの操作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94" name="Google Shape;694;p36">
            <a:extLst>
              <a:ext uri="{FF2B5EF4-FFF2-40B4-BE49-F238E27FC236}">
                <a16:creationId xmlns="" xmlns:a16="http://schemas.microsoft.com/office/drawing/2014/main" id="{5A0B49FF-D685-4933-B5EC-F3AF88A9A61D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作業ブランチの作成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95" name="Google Shape;695;p36">
            <a:extLst>
              <a:ext uri="{FF2B5EF4-FFF2-40B4-BE49-F238E27FC236}">
                <a16:creationId xmlns="" xmlns:a16="http://schemas.microsoft.com/office/drawing/2014/main" id="{02A7F3F3-8C98-46EB-8079-2868121445B2}"/>
              </a:ext>
            </a:extLst>
          </p:cNvPr>
          <p:cNvSpPr>
            <a:spLocks noGrp="1"/>
          </p:cNvSpPr>
          <p:nvPr/>
        </p:nvSpPr>
        <p:spPr>
          <a:xfrm>
            <a:off x="207159" y="1965960"/>
            <a:ext cx="3112008" cy="3566160"/>
          </a:xfrm>
          <a:prstGeom prst="roundRect">
            <a:avLst>
              <a:gd name="adj" fmla="val 283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6">
            <a:extLst>
              <a:ext uri="{FF2B5EF4-FFF2-40B4-BE49-F238E27FC236}">
                <a16:creationId xmlns="" xmlns:a16="http://schemas.microsoft.com/office/drawing/2014/main" id="{7E3CAC4C-AEB5-473C-A50D-7BBFB86700D4}"/>
              </a:ext>
            </a:extLst>
          </p:cNvPr>
          <p:cNvSpPr>
            <a:spLocks noGrp="1"/>
          </p:cNvSpPr>
          <p:nvPr/>
        </p:nvSpPr>
        <p:spPr>
          <a:xfrm>
            <a:off x="435759" y="2194560"/>
            <a:ext cx="457200" cy="457200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6">
            <a:extLst>
              <a:ext uri="{FF2B5EF4-FFF2-40B4-BE49-F238E27FC236}">
                <a16:creationId xmlns="" xmlns:a16="http://schemas.microsoft.com/office/drawing/2014/main" id="{50D9D225-130A-47B4-A8B3-C2EE46533E85}"/>
              </a:ext>
            </a:extLst>
          </p:cNvPr>
          <p:cNvSpPr>
            <a:spLocks noGrp="1"/>
          </p:cNvSpPr>
          <p:nvPr/>
        </p:nvSpPr>
        <p:spPr>
          <a:xfrm>
            <a:off x="435759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1</a:t>
            </a:r>
            <a:endParaRPr sz="16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98" name="Google Shape;698;p36">
            <a:extLst>
              <a:ext uri="{FF2B5EF4-FFF2-40B4-BE49-F238E27FC236}">
                <a16:creationId xmlns="" xmlns:a16="http://schemas.microsoft.com/office/drawing/2014/main" id="{3C561C7A-D05D-4D10-9D7A-FC78688945F3}"/>
              </a:ext>
            </a:extLst>
          </p:cNvPr>
          <p:cNvSpPr>
            <a:spLocks noGrp="1"/>
          </p:cNvSpPr>
          <p:nvPr/>
        </p:nvSpPr>
        <p:spPr>
          <a:xfrm>
            <a:off x="435759" y="2788920"/>
            <a:ext cx="2764536" cy="65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ブランチを作成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699" name="Google Shape;699;p36">
            <a:extLst>
              <a:ext uri="{FF2B5EF4-FFF2-40B4-BE49-F238E27FC236}">
                <a16:creationId xmlns="" xmlns:a16="http://schemas.microsoft.com/office/drawing/2014/main" id="{5B92406A-C45B-4767-8A88-8C6BE5EB0E61}"/>
              </a:ext>
            </a:extLst>
          </p:cNvPr>
          <p:cNvSpPr>
            <a:spLocks noGrp="1"/>
          </p:cNvSpPr>
          <p:nvPr/>
        </p:nvSpPr>
        <p:spPr>
          <a:xfrm>
            <a:off x="435759" y="3383280"/>
            <a:ext cx="2764536" cy="365760"/>
          </a:xfrm>
          <a:prstGeom prst="roundRect">
            <a:avLst>
              <a:gd name="adj" fmla="val 125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6">
            <a:extLst>
              <a:ext uri="{FF2B5EF4-FFF2-40B4-BE49-F238E27FC236}">
                <a16:creationId xmlns="" xmlns:a16="http://schemas.microsoft.com/office/drawing/2014/main" id="{AD8F7581-A660-4567-86FC-18632C84973E}"/>
              </a:ext>
            </a:extLst>
          </p:cNvPr>
          <p:cNvSpPr>
            <a:spLocks noGrp="1"/>
          </p:cNvSpPr>
          <p:nvPr/>
        </p:nvSpPr>
        <p:spPr>
          <a:xfrm>
            <a:off x="527199" y="3274644"/>
            <a:ext cx="2581656" cy="55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branch &lt;</a:t>
            </a: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名前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&gt;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01" name="Google Shape;701;p36">
            <a:extLst>
              <a:ext uri="{FF2B5EF4-FFF2-40B4-BE49-F238E27FC236}">
                <a16:creationId xmlns="" xmlns:a16="http://schemas.microsoft.com/office/drawing/2014/main" id="{5BAD5791-03BF-46A4-A56C-C3E5C1593BA3}"/>
              </a:ext>
            </a:extLst>
          </p:cNvPr>
          <p:cNvSpPr>
            <a:spLocks noGrp="1"/>
          </p:cNvSpPr>
          <p:nvPr/>
        </p:nvSpPr>
        <p:spPr>
          <a:xfrm>
            <a:off x="435759" y="3840480"/>
            <a:ext cx="2764536" cy="203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現在のブランチから分岐して、新しい作業ブランチを作成する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02" name="Google Shape;702;p36">
            <a:extLst>
              <a:ext uri="{FF2B5EF4-FFF2-40B4-BE49-F238E27FC236}">
                <a16:creationId xmlns="" xmlns:a16="http://schemas.microsoft.com/office/drawing/2014/main" id="{53244A71-4D88-4C2D-89EE-C4299D1EF0B4}"/>
              </a:ext>
            </a:extLst>
          </p:cNvPr>
          <p:cNvSpPr>
            <a:spLocks noGrp="1"/>
          </p:cNvSpPr>
          <p:nvPr/>
        </p:nvSpPr>
        <p:spPr>
          <a:xfrm>
            <a:off x="3669023" y="3173398"/>
            <a:ext cx="534924" cy="13341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6">
            <a:extLst>
              <a:ext uri="{FF2B5EF4-FFF2-40B4-BE49-F238E27FC236}">
                <a16:creationId xmlns="" xmlns:a16="http://schemas.microsoft.com/office/drawing/2014/main" id="{09D76111-0E0A-459C-903C-A3FC4E71C97A}"/>
              </a:ext>
            </a:extLst>
          </p:cNvPr>
          <p:cNvSpPr>
            <a:spLocks noGrp="1"/>
          </p:cNvSpPr>
          <p:nvPr/>
        </p:nvSpPr>
        <p:spPr>
          <a:xfrm>
            <a:off x="4407740" y="1965960"/>
            <a:ext cx="3112008" cy="3566160"/>
          </a:xfrm>
          <a:prstGeom prst="roundRect">
            <a:avLst>
              <a:gd name="adj" fmla="val 283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6">
            <a:extLst>
              <a:ext uri="{FF2B5EF4-FFF2-40B4-BE49-F238E27FC236}">
                <a16:creationId xmlns="" xmlns:a16="http://schemas.microsoft.com/office/drawing/2014/main" id="{A7F340D6-A684-4862-B237-363B3E5B1ABB}"/>
              </a:ext>
            </a:extLst>
          </p:cNvPr>
          <p:cNvSpPr>
            <a:spLocks noGrp="1"/>
          </p:cNvSpPr>
          <p:nvPr/>
        </p:nvSpPr>
        <p:spPr>
          <a:xfrm>
            <a:off x="4526612" y="2194560"/>
            <a:ext cx="457200" cy="457200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6">
            <a:extLst>
              <a:ext uri="{FF2B5EF4-FFF2-40B4-BE49-F238E27FC236}">
                <a16:creationId xmlns="" xmlns:a16="http://schemas.microsoft.com/office/drawing/2014/main" id="{9EDA0900-6277-40D0-9A27-7DFE64E4E6E4}"/>
              </a:ext>
            </a:extLst>
          </p:cNvPr>
          <p:cNvSpPr>
            <a:spLocks noGrp="1"/>
          </p:cNvSpPr>
          <p:nvPr/>
        </p:nvSpPr>
        <p:spPr>
          <a:xfrm>
            <a:off x="4526612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2</a:t>
            </a:r>
            <a:endParaRPr sz="16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06" name="Google Shape;706;p36">
            <a:extLst>
              <a:ext uri="{FF2B5EF4-FFF2-40B4-BE49-F238E27FC236}">
                <a16:creationId xmlns="" xmlns:a16="http://schemas.microsoft.com/office/drawing/2014/main" id="{496B1AE7-F297-4D81-A538-5D9A9629A204}"/>
              </a:ext>
            </a:extLst>
          </p:cNvPr>
          <p:cNvSpPr>
            <a:spLocks noGrp="1"/>
          </p:cNvSpPr>
          <p:nvPr/>
        </p:nvSpPr>
        <p:spPr>
          <a:xfrm>
            <a:off x="4526612" y="2788920"/>
            <a:ext cx="2764536" cy="65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ブランチを切り替え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07" name="Google Shape;707;p36">
            <a:extLst>
              <a:ext uri="{FF2B5EF4-FFF2-40B4-BE49-F238E27FC236}">
                <a16:creationId xmlns="" xmlns:a16="http://schemas.microsoft.com/office/drawing/2014/main" id="{A90C980A-EEC7-44D8-9002-8C6F3D7FC1BB}"/>
              </a:ext>
            </a:extLst>
          </p:cNvPr>
          <p:cNvSpPr>
            <a:spLocks noGrp="1"/>
          </p:cNvSpPr>
          <p:nvPr/>
        </p:nvSpPr>
        <p:spPr>
          <a:xfrm>
            <a:off x="4526612" y="3383280"/>
            <a:ext cx="2764536" cy="365760"/>
          </a:xfrm>
          <a:prstGeom prst="roundRect">
            <a:avLst>
              <a:gd name="adj" fmla="val 125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6">
            <a:extLst>
              <a:ext uri="{FF2B5EF4-FFF2-40B4-BE49-F238E27FC236}">
                <a16:creationId xmlns="" xmlns:a16="http://schemas.microsoft.com/office/drawing/2014/main" id="{C490A808-7A6A-4BAD-A907-D4C88B028EB7}"/>
              </a:ext>
            </a:extLst>
          </p:cNvPr>
          <p:cNvSpPr>
            <a:spLocks noGrp="1"/>
          </p:cNvSpPr>
          <p:nvPr/>
        </p:nvSpPr>
        <p:spPr>
          <a:xfrm>
            <a:off x="4618052" y="3265587"/>
            <a:ext cx="2581656" cy="55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checkout &lt;</a:t>
            </a: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名前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&gt;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09" name="Google Shape;709;p36">
            <a:extLst>
              <a:ext uri="{FF2B5EF4-FFF2-40B4-BE49-F238E27FC236}">
                <a16:creationId xmlns="" xmlns:a16="http://schemas.microsoft.com/office/drawing/2014/main" id="{F8A2F637-AF9C-4E0C-B572-7A831B920171}"/>
              </a:ext>
            </a:extLst>
          </p:cNvPr>
          <p:cNvSpPr>
            <a:spLocks noGrp="1"/>
          </p:cNvSpPr>
          <p:nvPr/>
        </p:nvSpPr>
        <p:spPr>
          <a:xfrm>
            <a:off x="4526612" y="3840480"/>
            <a:ext cx="2764536" cy="203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作成したブランチに切り替えて、作業対象を移動する（git switch も同様）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11" name="Google Shape;711;p36">
            <a:extLst>
              <a:ext uri="{FF2B5EF4-FFF2-40B4-BE49-F238E27FC236}">
                <a16:creationId xmlns="" xmlns:a16="http://schemas.microsoft.com/office/drawing/2014/main" id="{CD6458E7-2AC0-4B25-A898-BA051F577850}"/>
              </a:ext>
            </a:extLst>
          </p:cNvPr>
          <p:cNvSpPr>
            <a:spLocks noGrp="1"/>
          </p:cNvSpPr>
          <p:nvPr/>
        </p:nvSpPr>
        <p:spPr>
          <a:xfrm>
            <a:off x="8735448" y="1965960"/>
            <a:ext cx="3221736" cy="3566160"/>
          </a:xfrm>
          <a:prstGeom prst="roundRect">
            <a:avLst>
              <a:gd name="adj" fmla="val 2838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6">
            <a:extLst>
              <a:ext uri="{FF2B5EF4-FFF2-40B4-BE49-F238E27FC236}">
                <a16:creationId xmlns="" xmlns:a16="http://schemas.microsoft.com/office/drawing/2014/main" id="{7CC9A013-E66D-4642-9383-1A39ED196FC6}"/>
              </a:ext>
            </a:extLst>
          </p:cNvPr>
          <p:cNvSpPr>
            <a:spLocks noGrp="1"/>
          </p:cNvSpPr>
          <p:nvPr/>
        </p:nvSpPr>
        <p:spPr>
          <a:xfrm>
            <a:off x="8964048" y="2194560"/>
            <a:ext cx="457200" cy="457200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6">
            <a:extLst>
              <a:ext uri="{FF2B5EF4-FFF2-40B4-BE49-F238E27FC236}">
                <a16:creationId xmlns="" xmlns:a16="http://schemas.microsoft.com/office/drawing/2014/main" id="{F527C6DC-66D5-410E-9D8F-8EA4D723ACB8}"/>
              </a:ext>
            </a:extLst>
          </p:cNvPr>
          <p:cNvSpPr>
            <a:spLocks noGrp="1"/>
          </p:cNvSpPr>
          <p:nvPr/>
        </p:nvSpPr>
        <p:spPr>
          <a:xfrm>
            <a:off x="8964048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3</a:t>
            </a:r>
            <a:endParaRPr sz="16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14" name="Google Shape;714;p36">
            <a:extLst>
              <a:ext uri="{FF2B5EF4-FFF2-40B4-BE49-F238E27FC236}">
                <a16:creationId xmlns="" xmlns:a16="http://schemas.microsoft.com/office/drawing/2014/main" id="{7A171B66-3535-43EC-AA21-AFD92327CE87}"/>
              </a:ext>
            </a:extLst>
          </p:cNvPr>
          <p:cNvSpPr>
            <a:spLocks noGrp="1"/>
          </p:cNvSpPr>
          <p:nvPr/>
        </p:nvSpPr>
        <p:spPr>
          <a:xfrm>
            <a:off x="8964048" y="2788920"/>
            <a:ext cx="2764536" cy="65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作成と切替を同時に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15" name="Google Shape;715;p36">
            <a:extLst>
              <a:ext uri="{FF2B5EF4-FFF2-40B4-BE49-F238E27FC236}">
                <a16:creationId xmlns="" xmlns:a16="http://schemas.microsoft.com/office/drawing/2014/main" id="{3DA4D3F9-5C1F-49E0-B2B5-DA6F7F5B788D}"/>
              </a:ext>
            </a:extLst>
          </p:cNvPr>
          <p:cNvSpPr>
            <a:spLocks noGrp="1"/>
          </p:cNvSpPr>
          <p:nvPr/>
        </p:nvSpPr>
        <p:spPr>
          <a:xfrm>
            <a:off x="8964048" y="3383280"/>
            <a:ext cx="2764536" cy="365760"/>
          </a:xfrm>
          <a:prstGeom prst="roundRect">
            <a:avLst>
              <a:gd name="adj" fmla="val 125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36">
            <a:extLst>
              <a:ext uri="{FF2B5EF4-FFF2-40B4-BE49-F238E27FC236}">
                <a16:creationId xmlns="" xmlns:a16="http://schemas.microsoft.com/office/drawing/2014/main" id="{219F7E83-0E3F-4369-813B-B65A70B72939}"/>
              </a:ext>
            </a:extLst>
          </p:cNvPr>
          <p:cNvSpPr>
            <a:spLocks noGrp="1"/>
          </p:cNvSpPr>
          <p:nvPr/>
        </p:nvSpPr>
        <p:spPr>
          <a:xfrm>
            <a:off x="9055488" y="3274643"/>
            <a:ext cx="2581656" cy="55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 checkout -b &lt;</a:t>
            </a:r>
            <a:r>
              <a:rPr sz="1600" b="0" i="0" u="none" cap="none" dirty="0" err="1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名前</a:t>
            </a:r>
            <a:r>
              <a:rPr sz="1600" b="0" i="0" u="none" cap="none" dirty="0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&gt;</a:t>
            </a:r>
            <a:endParaRPr sz="1050" b="0" i="0" u="none" cap="none" dirty="0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17" name="Google Shape;717;p36">
            <a:extLst>
              <a:ext uri="{FF2B5EF4-FFF2-40B4-BE49-F238E27FC236}">
                <a16:creationId xmlns="" xmlns:a16="http://schemas.microsoft.com/office/drawing/2014/main" id="{792DAF06-A4E5-4CB0-A0F6-9CFC04AD2BFE}"/>
              </a:ext>
            </a:extLst>
          </p:cNvPr>
          <p:cNvSpPr>
            <a:spLocks noGrp="1"/>
          </p:cNvSpPr>
          <p:nvPr/>
        </p:nvSpPr>
        <p:spPr>
          <a:xfrm>
            <a:off x="8964048" y="3840480"/>
            <a:ext cx="2764536" cy="203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ブランチの作成と切り替えを1つのコマンドでまとめて行える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18" name="Google Shape;718;p36">
            <a:extLst>
              <a:ext uri="{FF2B5EF4-FFF2-40B4-BE49-F238E27FC236}">
                <a16:creationId xmlns="" xmlns:a16="http://schemas.microsoft.com/office/drawing/2014/main" id="{E5A95EAE-A902-4B56-87FA-E80D29EE8755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10 — ローカルでの操作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19" name="Google Shape;719;p36">
            <a:extLst>
              <a:ext uri="{FF2B5EF4-FFF2-40B4-BE49-F238E27FC236}">
                <a16:creationId xmlns="" xmlns:a16="http://schemas.microsoft.com/office/drawing/2014/main" id="{9E6BC4CD-58BB-4D26-A6CB-19A85BD978A6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36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30" name="Google Shape;702;p36">
            <a:extLst>
              <a:ext uri="{FF2B5EF4-FFF2-40B4-BE49-F238E27FC236}">
                <a16:creationId xmlns="" xmlns:a16="http://schemas.microsoft.com/office/drawing/2014/main" id="{CF095236-1E2B-4D08-992D-D24F87470660}"/>
              </a:ext>
            </a:extLst>
          </p:cNvPr>
          <p:cNvSpPr>
            <a:spLocks noGrp="1"/>
          </p:cNvSpPr>
          <p:nvPr/>
        </p:nvSpPr>
        <p:spPr>
          <a:xfrm>
            <a:off x="7860136" y="3173398"/>
            <a:ext cx="534924" cy="13341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8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7">
            <a:extLst>
              <a:ext uri="{FF2B5EF4-FFF2-40B4-BE49-F238E27FC236}">
                <a16:creationId xmlns="" xmlns:a16="http://schemas.microsoft.com/office/drawing/2014/main" id="{BD1B5173-61B1-4807-BA4C-34C6C1F50638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ローカルでの操作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26" name="Google Shape;726;p37">
            <a:extLst>
              <a:ext uri="{FF2B5EF4-FFF2-40B4-BE49-F238E27FC236}">
                <a16:creationId xmlns="" xmlns:a16="http://schemas.microsoft.com/office/drawing/2014/main" id="{7771FB95-2244-4211-8112-9EB2064E9429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ファイルを追加してコミット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27" name="Google Shape;727;p37">
            <a:extLst>
              <a:ext uri="{FF2B5EF4-FFF2-40B4-BE49-F238E27FC236}">
                <a16:creationId xmlns="" xmlns:a16="http://schemas.microsoft.com/office/drawing/2014/main" id="{B07A354D-8DCD-41C5-B481-CBC14A1ED85B}"/>
              </a:ext>
            </a:extLst>
          </p:cNvPr>
          <p:cNvSpPr>
            <a:spLocks noGrp="1"/>
          </p:cNvSpPr>
          <p:nvPr/>
        </p:nvSpPr>
        <p:spPr>
          <a:xfrm>
            <a:off x="95972" y="1965960"/>
            <a:ext cx="1830629" cy="3566160"/>
          </a:xfrm>
          <a:prstGeom prst="roundRect">
            <a:avLst>
              <a:gd name="adj" fmla="val 4995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>
            <a:extLst>
              <a:ext uri="{FF2B5EF4-FFF2-40B4-BE49-F238E27FC236}">
                <a16:creationId xmlns="" xmlns:a16="http://schemas.microsoft.com/office/drawing/2014/main" id="{B185D86D-4C37-4918-853D-9807DAE23987}"/>
              </a:ext>
            </a:extLst>
          </p:cNvPr>
          <p:cNvSpPr>
            <a:spLocks noGrp="1"/>
          </p:cNvSpPr>
          <p:nvPr/>
        </p:nvSpPr>
        <p:spPr>
          <a:xfrm>
            <a:off x="324572" y="2194560"/>
            <a:ext cx="457200" cy="457200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7">
            <a:extLst>
              <a:ext uri="{FF2B5EF4-FFF2-40B4-BE49-F238E27FC236}">
                <a16:creationId xmlns="" xmlns:a16="http://schemas.microsoft.com/office/drawing/2014/main" id="{5B38BE46-7E21-4D3C-8D21-964A2871C482}"/>
              </a:ext>
            </a:extLst>
          </p:cNvPr>
          <p:cNvSpPr>
            <a:spLocks noGrp="1"/>
          </p:cNvSpPr>
          <p:nvPr/>
        </p:nvSpPr>
        <p:spPr>
          <a:xfrm>
            <a:off x="324572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1</a:t>
            </a:r>
            <a:endParaRPr sz="16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30" name="Google Shape;730;p37">
            <a:extLst>
              <a:ext uri="{FF2B5EF4-FFF2-40B4-BE49-F238E27FC236}">
                <a16:creationId xmlns="" xmlns:a16="http://schemas.microsoft.com/office/drawing/2014/main" id="{0929D8AA-5C2F-4535-878C-FE8CA1A65C5E}"/>
              </a:ext>
            </a:extLst>
          </p:cNvPr>
          <p:cNvSpPr>
            <a:spLocks noGrp="1"/>
          </p:cNvSpPr>
          <p:nvPr/>
        </p:nvSpPr>
        <p:spPr>
          <a:xfrm>
            <a:off x="323850" y="2790825"/>
            <a:ext cx="137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編集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31" name="Google Shape;731;p37">
            <a:extLst>
              <a:ext uri="{FF2B5EF4-FFF2-40B4-BE49-F238E27FC236}">
                <a16:creationId xmlns="" xmlns:a16="http://schemas.microsoft.com/office/drawing/2014/main" id="{7AE51988-A9E2-42EC-A891-700408C5ED97}"/>
              </a:ext>
            </a:extLst>
          </p:cNvPr>
          <p:cNvSpPr>
            <a:spLocks noGrp="1"/>
          </p:cNvSpPr>
          <p:nvPr/>
        </p:nvSpPr>
        <p:spPr>
          <a:xfrm>
            <a:off x="323850" y="3857625"/>
            <a:ext cx="13716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ファイルを作成・編集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33" name="Google Shape;733;p37">
            <a:extLst>
              <a:ext uri="{FF2B5EF4-FFF2-40B4-BE49-F238E27FC236}">
                <a16:creationId xmlns="" xmlns:a16="http://schemas.microsoft.com/office/drawing/2014/main" id="{3BD601E9-2202-48C1-B1AC-3FA952A9CD87}"/>
              </a:ext>
            </a:extLst>
          </p:cNvPr>
          <p:cNvSpPr>
            <a:spLocks noGrp="1"/>
          </p:cNvSpPr>
          <p:nvPr/>
        </p:nvSpPr>
        <p:spPr>
          <a:xfrm>
            <a:off x="2576738" y="1965960"/>
            <a:ext cx="1830629" cy="3566160"/>
          </a:xfrm>
          <a:prstGeom prst="roundRect">
            <a:avLst>
              <a:gd name="adj" fmla="val 4995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7">
            <a:extLst>
              <a:ext uri="{FF2B5EF4-FFF2-40B4-BE49-F238E27FC236}">
                <a16:creationId xmlns="" xmlns:a16="http://schemas.microsoft.com/office/drawing/2014/main" id="{8B02F37B-B0F8-46FB-89FB-47B3ABEF79C1}"/>
              </a:ext>
            </a:extLst>
          </p:cNvPr>
          <p:cNvSpPr>
            <a:spLocks noGrp="1"/>
          </p:cNvSpPr>
          <p:nvPr/>
        </p:nvSpPr>
        <p:spPr>
          <a:xfrm>
            <a:off x="2805338" y="2194560"/>
            <a:ext cx="457200" cy="457200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7">
            <a:extLst>
              <a:ext uri="{FF2B5EF4-FFF2-40B4-BE49-F238E27FC236}">
                <a16:creationId xmlns="" xmlns:a16="http://schemas.microsoft.com/office/drawing/2014/main" id="{B01DC9E2-DE41-40F8-A76B-EF97CA45A4C2}"/>
              </a:ext>
            </a:extLst>
          </p:cNvPr>
          <p:cNvSpPr>
            <a:spLocks noGrp="1"/>
          </p:cNvSpPr>
          <p:nvPr/>
        </p:nvSpPr>
        <p:spPr>
          <a:xfrm>
            <a:off x="2805338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2</a:t>
            </a:r>
            <a:endParaRPr sz="16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36" name="Google Shape;736;p37">
            <a:extLst>
              <a:ext uri="{FF2B5EF4-FFF2-40B4-BE49-F238E27FC236}">
                <a16:creationId xmlns="" xmlns:a16="http://schemas.microsoft.com/office/drawing/2014/main" id="{CCBFB940-22CA-4D9B-8408-5FCC62950358}"/>
              </a:ext>
            </a:extLst>
          </p:cNvPr>
          <p:cNvSpPr>
            <a:spLocks noGrp="1"/>
          </p:cNvSpPr>
          <p:nvPr/>
        </p:nvSpPr>
        <p:spPr>
          <a:xfrm>
            <a:off x="2809875" y="2790825"/>
            <a:ext cx="137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確認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37" name="Google Shape;737;p37">
            <a:extLst>
              <a:ext uri="{FF2B5EF4-FFF2-40B4-BE49-F238E27FC236}">
                <a16:creationId xmlns="" xmlns:a16="http://schemas.microsoft.com/office/drawing/2014/main" id="{9C25F297-FD71-422F-B10C-1056345D16CA}"/>
              </a:ext>
            </a:extLst>
          </p:cNvPr>
          <p:cNvSpPr>
            <a:spLocks noGrp="1"/>
          </p:cNvSpPr>
          <p:nvPr/>
        </p:nvSpPr>
        <p:spPr>
          <a:xfrm>
            <a:off x="2805338" y="3383280"/>
            <a:ext cx="1373429" cy="365760"/>
          </a:xfrm>
          <a:prstGeom prst="roundRect">
            <a:avLst>
              <a:gd name="adj" fmla="val 125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7">
            <a:extLst>
              <a:ext uri="{FF2B5EF4-FFF2-40B4-BE49-F238E27FC236}">
                <a16:creationId xmlns="" xmlns:a16="http://schemas.microsoft.com/office/drawing/2014/main" id="{698EFC03-7DED-4590-849E-E7EF90D3E0F2}"/>
              </a:ext>
            </a:extLst>
          </p:cNvPr>
          <p:cNvSpPr>
            <a:spLocks noGrp="1"/>
          </p:cNvSpPr>
          <p:nvPr/>
        </p:nvSpPr>
        <p:spPr>
          <a:xfrm>
            <a:off x="2895600" y="3381375"/>
            <a:ext cx="11906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status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39" name="Google Shape;739;p37">
            <a:extLst>
              <a:ext uri="{FF2B5EF4-FFF2-40B4-BE49-F238E27FC236}">
                <a16:creationId xmlns="" xmlns:a16="http://schemas.microsoft.com/office/drawing/2014/main" id="{78A3C4EF-A7CB-4AB6-9DB2-43C1E28089A8}"/>
              </a:ext>
            </a:extLst>
          </p:cNvPr>
          <p:cNvSpPr>
            <a:spLocks noGrp="1"/>
          </p:cNvSpPr>
          <p:nvPr/>
        </p:nvSpPr>
        <p:spPr>
          <a:xfrm>
            <a:off x="2809875" y="3857625"/>
            <a:ext cx="13716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変更を確認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40" name="Google Shape;740;p37">
            <a:extLst>
              <a:ext uri="{FF2B5EF4-FFF2-40B4-BE49-F238E27FC236}">
                <a16:creationId xmlns="" xmlns:a16="http://schemas.microsoft.com/office/drawing/2014/main" id="{BBD948DA-F3F1-4068-982C-CC486333165C}"/>
              </a:ext>
            </a:extLst>
          </p:cNvPr>
          <p:cNvSpPr>
            <a:spLocks noGrp="1"/>
          </p:cNvSpPr>
          <p:nvPr/>
        </p:nvSpPr>
        <p:spPr>
          <a:xfrm>
            <a:off x="2072126" y="3103120"/>
            <a:ext cx="342943" cy="92607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7">
            <a:extLst>
              <a:ext uri="{FF2B5EF4-FFF2-40B4-BE49-F238E27FC236}">
                <a16:creationId xmlns="" xmlns:a16="http://schemas.microsoft.com/office/drawing/2014/main" id="{93FC0AF4-DAC7-4924-8AD3-E2B0D092931D}"/>
              </a:ext>
            </a:extLst>
          </p:cNvPr>
          <p:cNvSpPr>
            <a:spLocks noGrp="1"/>
          </p:cNvSpPr>
          <p:nvPr/>
        </p:nvSpPr>
        <p:spPr>
          <a:xfrm>
            <a:off x="5038823" y="1965960"/>
            <a:ext cx="1830629" cy="3566160"/>
          </a:xfrm>
          <a:prstGeom prst="roundRect">
            <a:avLst>
              <a:gd name="adj" fmla="val 4995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7">
            <a:extLst>
              <a:ext uri="{FF2B5EF4-FFF2-40B4-BE49-F238E27FC236}">
                <a16:creationId xmlns="" xmlns:a16="http://schemas.microsoft.com/office/drawing/2014/main" id="{8870680B-1CB7-4186-B5CA-798665B71550}"/>
              </a:ext>
            </a:extLst>
          </p:cNvPr>
          <p:cNvSpPr>
            <a:spLocks noGrp="1"/>
          </p:cNvSpPr>
          <p:nvPr/>
        </p:nvSpPr>
        <p:spPr>
          <a:xfrm>
            <a:off x="5267423" y="2194560"/>
            <a:ext cx="457200" cy="457200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7">
            <a:extLst>
              <a:ext uri="{FF2B5EF4-FFF2-40B4-BE49-F238E27FC236}">
                <a16:creationId xmlns="" xmlns:a16="http://schemas.microsoft.com/office/drawing/2014/main" id="{029E1BD2-3641-4E77-A7DE-9D587EED3FE5}"/>
              </a:ext>
            </a:extLst>
          </p:cNvPr>
          <p:cNvSpPr>
            <a:spLocks noGrp="1"/>
          </p:cNvSpPr>
          <p:nvPr/>
        </p:nvSpPr>
        <p:spPr>
          <a:xfrm>
            <a:off x="5267423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3</a:t>
            </a:r>
            <a:endParaRPr sz="16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44" name="Google Shape;744;p37">
            <a:extLst>
              <a:ext uri="{FF2B5EF4-FFF2-40B4-BE49-F238E27FC236}">
                <a16:creationId xmlns="" xmlns:a16="http://schemas.microsoft.com/office/drawing/2014/main" id="{4BD4E58B-35EA-4146-B2F2-DBE9DE3189C4}"/>
              </a:ext>
            </a:extLst>
          </p:cNvPr>
          <p:cNvSpPr>
            <a:spLocks noGrp="1"/>
          </p:cNvSpPr>
          <p:nvPr/>
        </p:nvSpPr>
        <p:spPr>
          <a:xfrm>
            <a:off x="5267325" y="2790825"/>
            <a:ext cx="137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ステージ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45" name="Google Shape;745;p37">
            <a:extLst>
              <a:ext uri="{FF2B5EF4-FFF2-40B4-BE49-F238E27FC236}">
                <a16:creationId xmlns="" xmlns:a16="http://schemas.microsoft.com/office/drawing/2014/main" id="{A1F96B96-DE37-43FC-87D3-B45A9FA94F3E}"/>
              </a:ext>
            </a:extLst>
          </p:cNvPr>
          <p:cNvSpPr>
            <a:spLocks noGrp="1"/>
          </p:cNvSpPr>
          <p:nvPr/>
        </p:nvSpPr>
        <p:spPr>
          <a:xfrm>
            <a:off x="5267423" y="3383280"/>
            <a:ext cx="1373429" cy="365760"/>
          </a:xfrm>
          <a:prstGeom prst="roundRect">
            <a:avLst>
              <a:gd name="adj" fmla="val 125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7">
            <a:extLst>
              <a:ext uri="{FF2B5EF4-FFF2-40B4-BE49-F238E27FC236}">
                <a16:creationId xmlns="" xmlns:a16="http://schemas.microsoft.com/office/drawing/2014/main" id="{C0C6A4AD-47F1-440F-AAFA-3E0746A04114}"/>
              </a:ext>
            </a:extLst>
          </p:cNvPr>
          <p:cNvSpPr>
            <a:spLocks noGrp="1"/>
          </p:cNvSpPr>
          <p:nvPr/>
        </p:nvSpPr>
        <p:spPr>
          <a:xfrm>
            <a:off x="5362575" y="3381375"/>
            <a:ext cx="11906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add .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47" name="Google Shape;747;p37">
            <a:extLst>
              <a:ext uri="{FF2B5EF4-FFF2-40B4-BE49-F238E27FC236}">
                <a16:creationId xmlns="" xmlns:a16="http://schemas.microsoft.com/office/drawing/2014/main" id="{F12A4B74-B61E-4FAF-9FD9-1E20C6026B2D}"/>
              </a:ext>
            </a:extLst>
          </p:cNvPr>
          <p:cNvSpPr>
            <a:spLocks noGrp="1"/>
          </p:cNvSpPr>
          <p:nvPr/>
        </p:nvSpPr>
        <p:spPr>
          <a:xfrm>
            <a:off x="5267325" y="3857625"/>
            <a:ext cx="13716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変更をインデックスへ登録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49" name="Google Shape;749;p37">
            <a:extLst>
              <a:ext uri="{FF2B5EF4-FFF2-40B4-BE49-F238E27FC236}">
                <a16:creationId xmlns="" xmlns:a16="http://schemas.microsoft.com/office/drawing/2014/main" id="{3A34D684-1F3D-4314-8276-25A65C29C3C2}"/>
              </a:ext>
            </a:extLst>
          </p:cNvPr>
          <p:cNvSpPr>
            <a:spLocks noGrp="1"/>
          </p:cNvSpPr>
          <p:nvPr/>
        </p:nvSpPr>
        <p:spPr>
          <a:xfrm>
            <a:off x="7668687" y="1965960"/>
            <a:ext cx="1830629" cy="3566160"/>
          </a:xfrm>
          <a:prstGeom prst="roundRect">
            <a:avLst>
              <a:gd name="adj" fmla="val 4995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7">
            <a:extLst>
              <a:ext uri="{FF2B5EF4-FFF2-40B4-BE49-F238E27FC236}">
                <a16:creationId xmlns="" xmlns:a16="http://schemas.microsoft.com/office/drawing/2014/main" id="{92939431-ED3C-4DE4-83CF-945979406062}"/>
              </a:ext>
            </a:extLst>
          </p:cNvPr>
          <p:cNvSpPr>
            <a:spLocks noGrp="1"/>
          </p:cNvSpPr>
          <p:nvPr/>
        </p:nvSpPr>
        <p:spPr>
          <a:xfrm>
            <a:off x="7897287" y="2194560"/>
            <a:ext cx="457200" cy="457200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7">
            <a:extLst>
              <a:ext uri="{FF2B5EF4-FFF2-40B4-BE49-F238E27FC236}">
                <a16:creationId xmlns="" xmlns:a16="http://schemas.microsoft.com/office/drawing/2014/main" id="{902FA5E4-DCBD-4E75-9367-242D0BCA16E4}"/>
              </a:ext>
            </a:extLst>
          </p:cNvPr>
          <p:cNvSpPr>
            <a:spLocks noGrp="1"/>
          </p:cNvSpPr>
          <p:nvPr/>
        </p:nvSpPr>
        <p:spPr>
          <a:xfrm>
            <a:off x="7897287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4</a:t>
            </a:r>
            <a:endParaRPr sz="16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2" name="Google Shape;752;p37">
            <a:extLst>
              <a:ext uri="{FF2B5EF4-FFF2-40B4-BE49-F238E27FC236}">
                <a16:creationId xmlns="" xmlns:a16="http://schemas.microsoft.com/office/drawing/2014/main" id="{5226DFD8-8AD4-46AF-9D1E-C241454DE85B}"/>
              </a:ext>
            </a:extLst>
          </p:cNvPr>
          <p:cNvSpPr>
            <a:spLocks noGrp="1"/>
          </p:cNvSpPr>
          <p:nvPr/>
        </p:nvSpPr>
        <p:spPr>
          <a:xfrm>
            <a:off x="7896225" y="2790825"/>
            <a:ext cx="137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コミット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3" name="Google Shape;753;p37">
            <a:extLst>
              <a:ext uri="{FF2B5EF4-FFF2-40B4-BE49-F238E27FC236}">
                <a16:creationId xmlns="" xmlns:a16="http://schemas.microsoft.com/office/drawing/2014/main" id="{F02B1AF3-BC33-437C-ACD4-106C886B53F1}"/>
              </a:ext>
            </a:extLst>
          </p:cNvPr>
          <p:cNvSpPr>
            <a:spLocks noGrp="1"/>
          </p:cNvSpPr>
          <p:nvPr/>
        </p:nvSpPr>
        <p:spPr>
          <a:xfrm>
            <a:off x="7897287" y="3383280"/>
            <a:ext cx="1373429" cy="365760"/>
          </a:xfrm>
          <a:prstGeom prst="roundRect">
            <a:avLst>
              <a:gd name="adj" fmla="val 125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>
            <a:extLst>
              <a:ext uri="{FF2B5EF4-FFF2-40B4-BE49-F238E27FC236}">
                <a16:creationId xmlns="" xmlns:a16="http://schemas.microsoft.com/office/drawing/2014/main" id="{73E56D56-ECDC-49D0-8596-76B429601E6E}"/>
              </a:ext>
            </a:extLst>
          </p:cNvPr>
          <p:cNvSpPr>
            <a:spLocks noGrp="1"/>
          </p:cNvSpPr>
          <p:nvPr/>
        </p:nvSpPr>
        <p:spPr>
          <a:xfrm>
            <a:off x="7991475" y="3381375"/>
            <a:ext cx="11906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commit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5" name="Google Shape;755;p37">
            <a:extLst>
              <a:ext uri="{FF2B5EF4-FFF2-40B4-BE49-F238E27FC236}">
                <a16:creationId xmlns="" xmlns:a16="http://schemas.microsoft.com/office/drawing/2014/main" id="{464939C6-A50D-4F17-A239-C3FC19D1BF93}"/>
              </a:ext>
            </a:extLst>
          </p:cNvPr>
          <p:cNvSpPr>
            <a:spLocks noGrp="1"/>
          </p:cNvSpPr>
          <p:nvPr/>
        </p:nvSpPr>
        <p:spPr>
          <a:xfrm>
            <a:off x="7896225" y="3857625"/>
            <a:ext cx="13716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変更を履歴へ記録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57" name="Google Shape;757;p37">
            <a:extLst>
              <a:ext uri="{FF2B5EF4-FFF2-40B4-BE49-F238E27FC236}">
                <a16:creationId xmlns="" xmlns:a16="http://schemas.microsoft.com/office/drawing/2014/main" id="{51BC041A-0E3C-41BA-947B-E22713728E3D}"/>
              </a:ext>
            </a:extLst>
          </p:cNvPr>
          <p:cNvSpPr>
            <a:spLocks noGrp="1"/>
          </p:cNvSpPr>
          <p:nvPr/>
        </p:nvSpPr>
        <p:spPr>
          <a:xfrm>
            <a:off x="10208026" y="1965960"/>
            <a:ext cx="1830629" cy="3566160"/>
          </a:xfrm>
          <a:prstGeom prst="roundRect">
            <a:avLst>
              <a:gd name="adj" fmla="val 4995"/>
            </a:avLst>
          </a:prstGeom>
          <a:solidFill>
            <a:srgbClr val="F6F8FA"/>
          </a:solidFill>
          <a:ln w="9525" cmpd="sng">
            <a:solidFill>
              <a:srgbClr val="D0D7D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7">
            <a:extLst>
              <a:ext uri="{FF2B5EF4-FFF2-40B4-BE49-F238E27FC236}">
                <a16:creationId xmlns="" xmlns:a16="http://schemas.microsoft.com/office/drawing/2014/main" id="{69783046-8ED8-48AC-B87F-25D1DB420AB9}"/>
              </a:ext>
            </a:extLst>
          </p:cNvPr>
          <p:cNvSpPr>
            <a:spLocks noGrp="1"/>
          </p:cNvSpPr>
          <p:nvPr/>
        </p:nvSpPr>
        <p:spPr>
          <a:xfrm>
            <a:off x="10436626" y="2194560"/>
            <a:ext cx="457200" cy="457200"/>
          </a:xfrm>
          <a:prstGeom prst="ellipse">
            <a:avLst/>
          </a:prstGeom>
          <a:solidFill>
            <a:srgbClr val="F0503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7">
            <a:extLst>
              <a:ext uri="{FF2B5EF4-FFF2-40B4-BE49-F238E27FC236}">
                <a16:creationId xmlns="" xmlns:a16="http://schemas.microsoft.com/office/drawing/2014/main" id="{3FBF72A4-E4EC-4ACF-A841-0D79DE853581}"/>
              </a:ext>
            </a:extLst>
          </p:cNvPr>
          <p:cNvSpPr>
            <a:spLocks noGrp="1"/>
          </p:cNvSpPr>
          <p:nvPr/>
        </p:nvSpPr>
        <p:spPr>
          <a:xfrm>
            <a:off x="10436626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G丸ｺﾞｼｯｸM-PRO"/>
              <a:buNone/>
            </a:pPr>
            <a:r>
              <a:rPr sz="1600" b="1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5</a:t>
            </a:r>
            <a:endParaRPr sz="16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60" name="Google Shape;760;p37">
            <a:extLst>
              <a:ext uri="{FF2B5EF4-FFF2-40B4-BE49-F238E27FC236}">
                <a16:creationId xmlns="" xmlns:a16="http://schemas.microsoft.com/office/drawing/2014/main" id="{48EEC98D-9C2C-41B3-826E-49FDEBC6B2AC}"/>
              </a:ext>
            </a:extLst>
          </p:cNvPr>
          <p:cNvSpPr>
            <a:spLocks noGrp="1"/>
          </p:cNvSpPr>
          <p:nvPr/>
        </p:nvSpPr>
        <p:spPr>
          <a:xfrm>
            <a:off x="10439400" y="2790825"/>
            <a:ext cx="137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50"/>
              <a:buFont typeface="HG丸ｺﾞｼｯｸM-PRO"/>
              <a:buNone/>
            </a:pPr>
            <a:r>
              <a:rPr sz="16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履歴確認</a:t>
            </a:r>
            <a:endParaRPr sz="13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61" name="Google Shape;761;p37">
            <a:extLst>
              <a:ext uri="{FF2B5EF4-FFF2-40B4-BE49-F238E27FC236}">
                <a16:creationId xmlns="" xmlns:a16="http://schemas.microsoft.com/office/drawing/2014/main" id="{90E21478-BEEF-499C-A43A-DADBCF8E3B16}"/>
              </a:ext>
            </a:extLst>
          </p:cNvPr>
          <p:cNvSpPr>
            <a:spLocks noGrp="1"/>
          </p:cNvSpPr>
          <p:nvPr/>
        </p:nvSpPr>
        <p:spPr>
          <a:xfrm>
            <a:off x="10436626" y="3383280"/>
            <a:ext cx="1373429" cy="365760"/>
          </a:xfrm>
          <a:prstGeom prst="roundRect">
            <a:avLst>
              <a:gd name="adj" fmla="val 12500"/>
            </a:avLst>
          </a:prstGeom>
          <a:solidFill>
            <a:srgbClr val="1B1F2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7">
            <a:extLst>
              <a:ext uri="{FF2B5EF4-FFF2-40B4-BE49-F238E27FC236}">
                <a16:creationId xmlns="" xmlns:a16="http://schemas.microsoft.com/office/drawing/2014/main" id="{30E2C604-69DB-40AF-8DD6-D312C0B602D4}"/>
              </a:ext>
            </a:extLst>
          </p:cNvPr>
          <p:cNvSpPr>
            <a:spLocks noGrp="1"/>
          </p:cNvSpPr>
          <p:nvPr/>
        </p:nvSpPr>
        <p:spPr>
          <a:xfrm>
            <a:off x="10525125" y="3381375"/>
            <a:ext cx="11906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HG丸ｺﾞｼｯｸM-PRO"/>
              <a:buNone/>
            </a:pPr>
            <a:r>
              <a:rPr sz="1600" b="0" i="0" u="none" cap="none">
                <a:solidFill>
                  <a:srgbClr val="FFFFFF"/>
                </a:solidFill>
                <a:latin typeface="HG丸ｺﾞｼｯｸM-PRO"/>
                <a:ea typeface="HG丸ｺﾞｼｯｸM-PRO"/>
                <a:cs typeface="HG丸ｺﾞｼｯｸM-PRO"/>
              </a:rPr>
              <a:t>git log</a:t>
            </a:r>
            <a:endParaRPr sz="10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63" name="Google Shape;763;p37">
            <a:extLst>
              <a:ext uri="{FF2B5EF4-FFF2-40B4-BE49-F238E27FC236}">
                <a16:creationId xmlns="" xmlns:a16="http://schemas.microsoft.com/office/drawing/2014/main" id="{AEBA14F7-F9CB-40DE-A895-80A2CA08D532}"/>
              </a:ext>
            </a:extLst>
          </p:cNvPr>
          <p:cNvSpPr>
            <a:spLocks noGrp="1"/>
          </p:cNvSpPr>
          <p:nvPr/>
        </p:nvSpPr>
        <p:spPr>
          <a:xfrm>
            <a:off x="10439400" y="3857625"/>
            <a:ext cx="13716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606A"/>
              </a:buClr>
              <a:buSzPts val="1150"/>
              <a:buFont typeface="HG丸ｺﾞｼｯｸM-PRO"/>
              <a:buNone/>
            </a:pPr>
            <a:r>
              <a:rPr sz="1600" b="0" i="0" u="none" cap="none">
                <a:solidFill>
                  <a:srgbClr val="57606A"/>
                </a:solidFill>
                <a:latin typeface="HG丸ｺﾞｼｯｸM-PRO"/>
                <a:ea typeface="HG丸ｺﾞｼｯｸM-PRO"/>
                <a:cs typeface="HG丸ｺﾞｼｯｸM-PRO"/>
              </a:rPr>
              <a:t>コミット履歴を確認</a:t>
            </a:r>
            <a:endParaRPr sz="115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64" name="Google Shape;764;p37">
            <a:extLst>
              <a:ext uri="{FF2B5EF4-FFF2-40B4-BE49-F238E27FC236}">
                <a16:creationId xmlns="" xmlns:a16="http://schemas.microsoft.com/office/drawing/2014/main" id="{178B3E0C-B6D0-4689-BE82-DE8045A60DF9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10 — ローカルでの操作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65" name="Google Shape;765;p37">
            <a:extLst>
              <a:ext uri="{FF2B5EF4-FFF2-40B4-BE49-F238E27FC236}">
                <a16:creationId xmlns="" xmlns:a16="http://schemas.microsoft.com/office/drawing/2014/main" id="{5628AD91-6C9F-454B-9EE8-1E9835176B56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37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43" name="Google Shape;740;p37">
            <a:extLst>
              <a:ext uri="{FF2B5EF4-FFF2-40B4-BE49-F238E27FC236}">
                <a16:creationId xmlns="" xmlns:a16="http://schemas.microsoft.com/office/drawing/2014/main" id="{779F0196-52C3-4941-9EEF-C59FEAAEBE86}"/>
              </a:ext>
            </a:extLst>
          </p:cNvPr>
          <p:cNvSpPr>
            <a:spLocks noGrp="1"/>
          </p:cNvSpPr>
          <p:nvPr/>
        </p:nvSpPr>
        <p:spPr>
          <a:xfrm>
            <a:off x="9716514" y="3103120"/>
            <a:ext cx="342943" cy="92607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740;p37">
            <a:extLst>
              <a:ext uri="{FF2B5EF4-FFF2-40B4-BE49-F238E27FC236}">
                <a16:creationId xmlns="" xmlns:a16="http://schemas.microsoft.com/office/drawing/2014/main" id="{356BEA8C-5997-494F-AC01-EAF3B2B3EE7E}"/>
              </a:ext>
            </a:extLst>
          </p:cNvPr>
          <p:cNvSpPr>
            <a:spLocks noGrp="1"/>
          </p:cNvSpPr>
          <p:nvPr/>
        </p:nvSpPr>
        <p:spPr>
          <a:xfrm>
            <a:off x="4523438" y="3103120"/>
            <a:ext cx="342943" cy="92607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740;p37">
            <a:extLst>
              <a:ext uri="{FF2B5EF4-FFF2-40B4-BE49-F238E27FC236}">
                <a16:creationId xmlns="" xmlns:a16="http://schemas.microsoft.com/office/drawing/2014/main" id="{C8C86716-FA24-4C14-B07B-FE48D31DF123}"/>
              </a:ext>
            </a:extLst>
          </p:cNvPr>
          <p:cNvSpPr>
            <a:spLocks noGrp="1"/>
          </p:cNvSpPr>
          <p:nvPr/>
        </p:nvSpPr>
        <p:spPr>
          <a:xfrm>
            <a:off x="7088139" y="3103120"/>
            <a:ext cx="342943" cy="92607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B94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370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8">
            <a:extLst>
              <a:ext uri="{FF2B5EF4-FFF2-40B4-BE49-F238E27FC236}">
                <a16:creationId xmlns="" xmlns:a16="http://schemas.microsoft.com/office/drawing/2014/main" id="{FBB39D47-6B69-4717-9B74-5CB6C17D718C}"/>
              </a:ext>
            </a:extLst>
          </p:cNvPr>
          <p:cNvSpPr>
            <a:spLocks noGrp="1"/>
          </p:cNvSpPr>
          <p:nvPr/>
        </p:nvSpPr>
        <p:spPr>
          <a:xfrm>
            <a:off x="552450" y="411480"/>
            <a:ext cx="8572500" cy="39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05033"/>
              </a:buClr>
              <a:buSzPts val="1300"/>
              <a:buFont typeface="HG丸ｺﾞｼｯｸM-PRO"/>
              <a:buNone/>
            </a:pPr>
            <a:r>
              <a:rPr sz="1600" b="1" i="0" u="none" cap="none">
                <a:solidFill>
                  <a:srgbClr val="F05033"/>
                </a:solidFill>
                <a:latin typeface="HG丸ｺﾞｼｯｸM-PRO"/>
                <a:ea typeface="HG丸ｺﾞｼｯｸM-PRO"/>
                <a:cs typeface="HG丸ｺﾞｼｯｸM-PRO"/>
              </a:rPr>
              <a:t>まとめ</a:t>
            </a:r>
            <a:endParaRPr sz="13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72" name="Google Shape;772;p38">
            <a:extLst>
              <a:ext uri="{FF2B5EF4-FFF2-40B4-BE49-F238E27FC236}">
                <a16:creationId xmlns="" xmlns:a16="http://schemas.microsoft.com/office/drawing/2014/main" id="{8851556E-D9C3-4D40-9A8D-F85C3789B559}"/>
              </a:ext>
            </a:extLst>
          </p:cNvPr>
          <p:cNvSpPr>
            <a:spLocks noGrp="1"/>
          </p:cNvSpPr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3000"/>
              <a:buFont typeface="HG丸ｺﾞｼｯｸM-PRO"/>
              <a:buNone/>
            </a:pPr>
            <a:r>
              <a:rPr sz="3000" b="1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まとめ</a:t>
            </a:r>
            <a:endParaRPr sz="30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73" name="Google Shape;773;p38">
            <a:extLst>
              <a:ext uri="{FF2B5EF4-FFF2-40B4-BE49-F238E27FC236}">
                <a16:creationId xmlns="" xmlns:a16="http://schemas.microsoft.com/office/drawing/2014/main" id="{C92A9D77-1BA0-4BF6-BDA8-D78DE5873D3B}"/>
              </a:ext>
            </a:extLst>
          </p:cNvPr>
          <p:cNvSpPr>
            <a:spLocks noGrp="1"/>
          </p:cNvSpPr>
          <p:nvPr/>
        </p:nvSpPr>
        <p:spPr>
          <a:xfrm>
            <a:off x="594360" y="1783080"/>
            <a:ext cx="960120" cy="960120"/>
          </a:xfrm>
          <a:prstGeom prst="ellipse">
            <a:avLst/>
          </a:prstGeom>
          <a:solidFill>
            <a:srgbClr val="FDECE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2" name="Google Shape;774;p3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89" y="2013509"/>
            <a:ext cx="499262" cy="499262"/>
          </a:xfrm>
          <a:prstGeom prst="rect">
            <a:avLst/>
          </a:prstGeom>
          <a:ln>
            <a:noFill/>
          </a:ln>
        </p:spPr>
      </p:pic>
      <p:sp>
        <p:nvSpPr>
          <p:cNvPr id="775" name="Google Shape;775;p38">
            <a:extLst>
              <a:ext uri="{FF2B5EF4-FFF2-40B4-BE49-F238E27FC236}">
                <a16:creationId xmlns="" xmlns:a16="http://schemas.microsoft.com/office/drawing/2014/main" id="{5B0575A8-DEF1-44EF-A6BE-A74A8B82AF1C}"/>
              </a:ext>
            </a:extLst>
          </p:cNvPr>
          <p:cNvSpPr>
            <a:spLocks noGrp="1"/>
          </p:cNvSpPr>
          <p:nvPr/>
        </p:nvSpPr>
        <p:spPr>
          <a:xfrm>
            <a:off x="1828800" y="1783080"/>
            <a:ext cx="91440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177800" marR="0" lvl="0" indent="-177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バージョン管理は、変更履歴を記録し安全に共同・個人作業を進めるための仕組み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Gitは分散型のバージョン管理システムで、ローカルだけでも作業が完結する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ワーキングツリー → インデックス → リポジトリ の流れと、add / commit の役割を理解する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ブランチ・マージ・リベースを使い分け、コンフリクトにも落ち着いて対応する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  <a:p>
            <a:pPr marL="177800" marR="0" lvl="0" indent="-177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HG丸ｺﾞｼｯｸM-PRO"/>
              <a:buChar char="•"/>
            </a:pPr>
            <a:r>
              <a:rPr sz="1600" b="0" i="0" u="none" cap="none">
                <a:solidFill>
                  <a:srgbClr val="24292E"/>
                </a:solidFill>
                <a:latin typeface="HG丸ｺﾞｼｯｸM-PRO"/>
                <a:ea typeface="HG丸ｺﾞｼｯｸM-PRO"/>
                <a:cs typeface="HG丸ｺﾞｼｯｸM-PRO"/>
              </a:rPr>
              <a:t>まずはローカル環境で、branch 作成〜add〜commit の一連の流れを実践してみましょう</a:t>
            </a:r>
            <a:endParaRPr sz="15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76" name="Google Shape;776;p38">
            <a:extLst>
              <a:ext uri="{FF2B5EF4-FFF2-40B4-BE49-F238E27FC236}">
                <a16:creationId xmlns="" xmlns:a16="http://schemas.microsoft.com/office/drawing/2014/main" id="{E3BBF4E5-0615-4E7A-9D9C-3DE7AD002FFE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Part 10 — まとめ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  <p:sp>
        <p:nvSpPr>
          <p:cNvPr id="777" name="Google Shape;777;p38">
            <a:extLst>
              <a:ext uri="{FF2B5EF4-FFF2-40B4-BE49-F238E27FC236}">
                <a16:creationId xmlns="" xmlns:a16="http://schemas.microsoft.com/office/drawing/2014/main" id="{236919D9-17DD-4DE3-89B6-40618791F09F}"/>
              </a:ext>
            </a:extLst>
          </p:cNvPr>
          <p:cNvSpPr>
            <a:spLocks noGrp="1"/>
          </p:cNvSpPr>
          <p:nvPr/>
        </p:nvSpPr>
        <p:spPr>
          <a:xfrm>
            <a:off x="11049000" y="6528816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HG丸ｺﾞｼｯｸM-PRO"/>
              <a:buNone/>
            </a:pPr>
            <a:r>
              <a:rPr sz="1600" b="0" i="0" u="none" cap="none">
                <a:solidFill>
                  <a:srgbClr val="8B949E"/>
                </a:solidFill>
                <a:latin typeface="HG丸ｺﾞｼｯｸM-PRO"/>
                <a:ea typeface="HG丸ｺﾞｼｯｸM-PRO"/>
                <a:cs typeface="HG丸ｺﾞｼｯｸM-PRO"/>
              </a:rPr>
              <a:t>38</a:t>
            </a:r>
            <a:endParaRPr sz="900" b="0" i="0" u="none" cap="none">
              <a:solidFill>
                <a:schemeClr val="dk1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7191181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">
            <a:extLst>
              <a:ext uri="{FF2B5EF4-FFF2-40B4-BE49-F238E27FC236}">
                <a16:creationId xmlns="" xmlns:a16="http://schemas.microsoft.com/office/drawing/2014/main" id="{EDE1FFB8-7F04-4AB7-A45C-5440433B23B4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>
                <a:solidFill>
                  <a:srgbClr val="F45136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650">
                <a:solidFill>
                  <a:srgbClr val="F45136"/>
                </a:solidFill>
                <a:latin typeface="HG丸ｺﾞｼｯｸM-PRO"/>
                <a:ea typeface="HG丸ｺﾞｼｯｸM-PRO"/>
                <a:cs typeface="HG丸ｺﾞｼｯｸM-PRO"/>
              </a:rPr>
              <a:t>著作権</a:t>
            </a:r>
          </a:p>
        </p:txBody>
      </p:sp>
      <p:sp>
        <p:nvSpPr>
          <p:cNvPr id="2" name="title">
            <a:extLst>
              <a:ext uri="{FF2B5EF4-FFF2-40B4-BE49-F238E27FC236}">
                <a16:creationId xmlns="" xmlns:a16="http://schemas.microsoft.com/office/drawing/2014/main" id="{FF2A0E28-0440-4265-BA41-1CB6C877F54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61912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315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>著作権・利用条件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="" xmlns:a16="http://schemas.microsoft.com/office/drawing/2014/main" id="{419FC17D-D733-407F-895A-F6B1558A0E37}"/>
              </a:ext>
            </a:extLst>
          </p:cNvPr>
          <p:cNvSpPr>
            <a:spLocks noGrp="1"/>
          </p:cNvSpPr>
          <p:nvPr/>
        </p:nvSpPr>
        <p:spPr>
          <a:xfrm>
            <a:off x="6572250" y="400050"/>
            <a:ext cx="5048250" cy="933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35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公開閲覧・非営利学習ライセンス Version 1.1</a:t>
            </a:r>
          </a:p>
          <a:p>
            <a:pPr algn="r">
              <a:defRPr sz="135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35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Copyright © 2026 Shinsuke Oouchi. All rights reserved.</a:t>
            </a:r>
          </a:p>
          <a:p>
            <a:pPr algn="r">
              <a:defRPr sz="135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35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制定：2026年8月30日／改定：2026年9月8日</a:t>
            </a:r>
          </a:p>
        </p:txBody>
      </p:sp>
      <p:sp>
        <p:nvSpPr>
          <p:cNvPr id="4" name="allowed-heading">
            <a:extLst>
              <a:ext uri="{FF2B5EF4-FFF2-40B4-BE49-F238E27FC236}">
                <a16:creationId xmlns="" xmlns:a16="http://schemas.microsoft.com/office/drawing/2014/main" id="{B60AC3C6-7890-4428-8A96-E9515924E32B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4857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F45136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800">
                <a:solidFill>
                  <a:srgbClr val="F45136"/>
                </a:solidFill>
                <a:latin typeface="HG丸ｺﾞｼｯｸM-PRO"/>
                <a:ea typeface="HG丸ｺﾞｼｯｸM-PRO"/>
                <a:cs typeface="HG丸ｺﾞｼｯｸM-PRO"/>
              </a:rPr>
              <a:t>許可される利用</a:t>
            </a:r>
          </a:p>
        </p:txBody>
      </p:sp>
      <p:sp>
        <p:nvSpPr>
          <p:cNvPr id="5" name="allowed-body">
            <a:extLst>
              <a:ext uri="{FF2B5EF4-FFF2-40B4-BE49-F238E27FC236}">
                <a16:creationId xmlns="" xmlns:a16="http://schemas.microsoft.com/office/drawing/2014/main" id="{60872972-1791-4DF1-89B0-24336B37B67B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5257800" cy="3009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・著作権者または許可を受けた公開者による</a:t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　本公開版のオンライン掲載と一般閲覧</a:t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/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・個人による私的かつ非営利の学習利用</a:t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　（公開リポジトリからの閲覧・保存を含む）</a:t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/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・ヒートウェーブ株式会社の授業に必要な範囲での</a:t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　教員による改変・追記、教員・受講者への複製・配布</a:t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/>
            </a:r>
          </a:p>
          <a:p>
            <a:pPr>
              <a:def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75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・当該授業内での投影・画面共有（本表示を保持）</a:t>
            </a:r>
          </a:p>
        </p:txBody>
      </p:sp>
      <p:sp>
        <p:nvSpPr>
          <p:cNvPr id="6" name="prohibited-background">
            <a:extLst>
              <a:ext uri="{FF2B5EF4-FFF2-40B4-BE49-F238E27FC236}">
                <a16:creationId xmlns="" xmlns:a16="http://schemas.microsoft.com/office/drawing/2014/main" id="{3C84D23F-3416-45B7-A6EC-6E83495CA9E6}"/>
              </a:ext>
            </a:extLst>
          </p:cNvPr>
          <p:cNvSpPr>
            <a:spLocks noGrp="1"/>
          </p:cNvSpPr>
          <p:nvPr/>
        </p:nvSpPr>
        <p:spPr>
          <a:xfrm>
            <a:off x="5905500" y="1619250"/>
            <a:ext cx="5734050" cy="3543300"/>
          </a:xfrm>
          <a:prstGeom prst="rect">
            <a:avLst/>
          </a:prstGeom>
          <a:solidFill>
            <a:srgbClr val="FCE9E5"/>
          </a:solidFill>
          <a:ln w="0">
            <a:noFill/>
          </a:ln>
        </p:spPr>
      </p:sp>
      <p:sp>
        <p:nvSpPr>
          <p:cNvPr id="7" name="prohibited-heading">
            <a:extLst>
              <a:ext uri="{FF2B5EF4-FFF2-40B4-BE49-F238E27FC236}">
                <a16:creationId xmlns="" xmlns:a16="http://schemas.microsoft.com/office/drawing/2014/main" id="{BC743EB2-912B-4260-B779-6BE9F11595C8}"/>
              </a:ext>
            </a:extLst>
          </p:cNvPr>
          <p:cNvSpPr>
            <a:spLocks noGrp="1"/>
          </p:cNvSpPr>
          <p:nvPr/>
        </p:nvSpPr>
        <p:spPr>
          <a:xfrm>
            <a:off x="6191250" y="1866900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F45136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800">
                <a:solidFill>
                  <a:srgbClr val="F45136"/>
                </a:solidFill>
                <a:latin typeface="HG丸ｺﾞｼｯｸM-PRO"/>
                <a:ea typeface="HG丸ｺﾞｼｯｸM-PRO"/>
                <a:cs typeface="HG丸ｺﾞｼｯｸM-PRO"/>
              </a:rPr>
              <a:t>禁止される利用</a:t>
            </a:r>
          </a:p>
        </p:txBody>
      </p:sp>
      <p:sp>
        <p:nvSpPr>
          <p:cNvPr id="8" name="prohibited-body">
            <a:extLst>
              <a:ext uri="{FF2B5EF4-FFF2-40B4-BE49-F238E27FC236}">
                <a16:creationId xmlns="" xmlns:a16="http://schemas.microsoft.com/office/drawing/2014/main" id="{8602FF87-4D2D-4355-BFD6-FF2E0D8D88B7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5048250" cy="2647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>・許可のない転載・再公開・公衆送信</a:t>
            </a:r>
          </a:p>
          <a:p>
            <a:pPr>
              <a:def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>　（SNS・動画・公開リポジトリ等への掲載を含む）</a:t>
            </a:r>
          </a:p>
          <a:p>
            <a:pPr>
              <a:def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/>
            </a:r>
          </a:p>
          <a:p>
            <a:pPr>
              <a:def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>・許可のない改変版の公開、授業参加者以外への再配布</a:t>
            </a:r>
          </a:p>
          <a:p>
            <a:pPr>
              <a:def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/>
            </a:r>
          </a:p>
          <a:p>
            <a:pPr>
              <a:def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>・販売・貸与・再許諾、営利・広告・宣伝目的の利用</a:t>
            </a:r>
          </a:p>
          <a:p>
            <a:pPr>
              <a:def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/>
            </a:r>
          </a:p>
          <a:p>
            <a:pPr>
              <a:def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20252A"/>
                </a:solidFill>
                <a:latin typeface="HG丸ｺﾞｼｯｸM-PRO"/>
                <a:ea typeface="HG丸ｺﾞｼｯｸM-PRO"/>
                <a:cs typeface="HG丸ｺﾞｼｯｸM-PRO"/>
              </a:rPr>
              <a:t>・著作権表示の削除・改変、第三者素材の抽出・再利用</a:t>
            </a:r>
          </a:p>
        </p:txBody>
      </p:sp>
      <p:sp>
        <p:nvSpPr>
          <p:cNvPr id="9" name="online-warning">
            <a:extLst>
              <a:ext uri="{FF2B5EF4-FFF2-40B4-BE49-F238E27FC236}">
                <a16:creationId xmlns="" xmlns:a16="http://schemas.microsoft.com/office/drawing/2014/main" id="{55D89D71-18FF-49EB-9656-C86C18B2FFCE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F45136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725" b="1">
                <a:solidFill>
                  <a:srgbClr val="F45136"/>
                </a:solidFill>
                <a:latin typeface="HG丸ｺﾞｼｯｸM-PRO"/>
                <a:ea typeface="HG丸ｺﾞｼｯｸM-PRO"/>
                <a:cs typeface="HG丸ｺﾞｼｯｸM-PRO"/>
              </a:rPr>
              <a:t>本公開版は著作権者自身による一般公開です。第三者による転載・再配布・改変版の公開には許可が必要です。</a:t>
            </a:r>
          </a:p>
        </p:txBody>
      </p:sp>
      <p:sp>
        <p:nvSpPr>
          <p:cNvPr id="10" name="legal-note">
            <a:extLst>
              <a:ext uri="{FF2B5EF4-FFF2-40B4-BE49-F238E27FC236}">
                <a16:creationId xmlns="" xmlns:a16="http://schemas.microsoft.com/office/drawing/2014/main" id="{8DD890CC-8299-45BC-8E08-348275587523}"/>
              </a:ext>
            </a:extLst>
          </p:cNvPr>
          <p:cNvSpPr>
            <a:spLocks noGrp="1"/>
          </p:cNvSpPr>
          <p:nvPr/>
        </p:nvSpPr>
        <p:spPr>
          <a:xfrm>
            <a:off x="552450" y="5762625"/>
            <a:ext cx="110871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2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第三者素材には各権利者の利用条件が適用されます。上記以外の利用には著作権者の事前の書面許可が必要です。</a:t>
            </a:r>
          </a:p>
          <a:p>
            <a:pPr>
              <a:defRPr sz="12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2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本資料は現状有姿で提供され、内容の正確性・完全性を保証しません。利用により生じた損害について著作権者は責任を負いません。</a:t>
            </a:r>
          </a:p>
          <a:p>
            <a:pPr>
              <a:defRPr sz="12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2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本利用条件は日本法に準拠します。公開の許可は、著作権の放棄や素材の自由利用を意味しません。</a:t>
            </a:r>
          </a:p>
        </p:txBody>
      </p:sp>
      <p:sp>
        <p:nvSpPr>
          <p:cNvPr id="11" name="footer">
            <a:extLst>
              <a:ext uri="{FF2B5EF4-FFF2-40B4-BE49-F238E27FC236}">
                <a16:creationId xmlns="" xmlns:a16="http://schemas.microsoft.com/office/drawing/2014/main" id="{E6F4B681-C6F9-4964-B6D7-9F566A1C7F37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著作権・利用条件</a:t>
            </a:r>
          </a:p>
        </p:txBody>
      </p:sp>
      <p:sp>
        <p:nvSpPr>
          <p:cNvPr id="12" name="page-number">
            <a:extLst>
              <a:ext uri="{FF2B5EF4-FFF2-40B4-BE49-F238E27FC236}">
                <a16:creationId xmlns="" xmlns:a16="http://schemas.microsoft.com/office/drawing/2014/main" id="{DE3D0C20-DC6E-4411-8A57-0DC334902118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7429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defRPr>
            </a:pPr>
            <a:r>
              <a:rPr sz="1500" dirty="0" smtClean="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3</a:t>
            </a:r>
            <a:r>
              <a:rPr lang="en-US" sz="1500" dirty="0" smtClean="0">
                <a:solidFill>
                  <a:srgbClr val="59616D"/>
                </a:solidFill>
                <a:latin typeface="HG丸ｺﾞｼｯｸM-PRO"/>
                <a:ea typeface="HG丸ｺﾞｼｯｸM-PRO"/>
                <a:cs typeface="HG丸ｺﾞｼｯｸM-PRO"/>
              </a:rPr>
              <a:t>9</a:t>
            </a:r>
            <a:endParaRPr sz="1500" dirty="0">
              <a:solidFill>
                <a:srgbClr val="59616D"/>
              </a:solidFill>
              <a:latin typeface="HG丸ｺﾞｼｯｸM-PRO"/>
              <a:ea typeface="HG丸ｺﾞｼｯｸM-PRO"/>
              <a:cs typeface="HG丸ｺﾞｼｯｸM-PRO"/>
            </a:endParaRPr>
          </a:p>
        </p:txBody>
      </p:sp>
    </p:spTree>
    <p:extLst>
      <p:ext uri="{BB962C8B-B14F-4D97-AF65-F5344CB8AC3E}">
        <p14:creationId xmlns:p14="http://schemas.microsoft.com/office/powerpoint/2010/main" val="387886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G丸ｺﾞｼｯｸM-PRO"/>
        <a:ea typeface=""/>
        <a:cs typeface=""/>
        <a:font script="Jpan" typeface="HG丸ｺﾞｼｯｸM-PR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G丸ｺﾞｼｯｸM-PRO"/>
        <a:ea typeface=""/>
        <a:cs typeface=""/>
        <a:font script="Jpan" typeface="HG丸ｺﾞｼｯｸM-PRO"/>
        <a:font script="Hang" typeface="맑은 고딕"/>
        <a:font script="Hans" typeface="宋体"/>
        <a:font script="Hant" typeface="新細明體"/>
        <a:font script="Arab" typeface="HG丸ｺﾞｼｯｸM-PRO"/>
        <a:font script="Hebr" typeface="HG丸ｺﾞｼｯｸM-PR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G丸ｺﾞｼｯｸM-PR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1696</Words>
  <Application>Microsoft Office PowerPoint</Application>
  <DocSecurity>2</DocSecurity>
  <PresentationFormat>ワイド画面</PresentationFormat>
  <Paragraphs>534</Paragraphs>
  <Slides>39</Slides>
  <Notes>0</Notes>
  <HiddenSlides>0</HiddenSlides>
  <MMClips>0</MMClips>
  <ScaleCrop>false</ScaleCrop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>
  <dc:title>Git Version Control - Public Edition</dc:title>
</cp:coreProperties>
</file>